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446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1446"/>
                </a:solidFill>
                <a:latin typeface="Calibri"/>
              </a:rPr>
              <a:t>Rider cancellation refund, by time before departure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Refund %</c:v>
                </c:pt>
              </c:strCache>
            </c:strRef>
          </c:tx>
          <c:spPr>
            <a:solidFill>
              <a:srgbClr val="0B7A75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3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24 h or more</c:v>
                  </c:pt>
                  <c:pt idx="1">
                    <c:v>12–24 h</c:v>
                  </c:pt>
                  <c:pt idx="2">
                    <c:v>6–12 h</c:v>
                  </c:pt>
                  <c:pt idx="3">
                    <c:v>Under 6 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50</c:v>
                </c:pt>
                <c:pt idx="2">
                  <c:v>25</c:v>
                </c:pt>
                <c:pt idx="3">
                  <c:v>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F23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446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1446"/>
                </a:solidFill>
                <a:latin typeface="Arial"/>
              </a:rPr>
              <a:t>Lines of code by component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Lines of code</c:v>
                </c:pt>
              </c:strCache>
            </c:strRef>
          </c:tx>
          <c:spPr>
            <a:solidFill>
              <a:srgbClr val="0B7A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3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Mobile app</c:v>
                  </c:pt>
                  <c:pt idx="1">
                    <c:v>Backend API</c:v>
                  </c:pt>
                  <c:pt idx="2">
                    <c:v>Admin web</c:v>
                  </c:pt>
                  <c:pt idx="3">
                    <c:v>ML service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26436</c:v>
                </c:pt>
                <c:pt idx="1">
                  <c:v>21475</c:v>
                </c:pt>
                <c:pt idx="2">
                  <c:v>3292</c:v>
                </c:pt>
                <c:pt idx="3">
                  <c:v>622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3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0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project. Poolora connects people travelling the same way so they can share a car, send a parcel with someone already going, or plan a group trip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motivation: seats go unused, commuting costs are high, and safety is the main reason people avoid sharing rides with strangers.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right: two clients, one backend with a real-time gateway, a Python ML service, and data stores. External services handle sign-in, payments and maps.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clear that the ML service uses weighted scoring and heuristics, not trained neural networks. That keeps it explainable and fast; training on real ride data is future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1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0B7A75">
              <a:alpha val="30000"/>
            </a:srgbClr>
          </a:solidFill>
          <a:ln w="12700">
            <a:solidFill>
              <a:srgbClr val="0B7A75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3566160"/>
            <a:ext cx="3840480" cy="3840480"/>
          </a:xfrm>
          <a:prstGeom prst="ellipse">
            <a:avLst/>
          </a:prstGeom>
          <a:solidFill>
            <a:srgbClr val="D9468F">
              <a:alpha val="18000"/>
            </a:srgbClr>
          </a:solidFill>
          <a:ln w="12700">
            <a:solidFill>
              <a:srgbClr val="D9468F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48640"/>
            <a:ext cx="3840480" cy="1207008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/home/ghost/Desktop/Projects/Poolora/branding/poolora-l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0080"/>
            <a:ext cx="3566160" cy="11155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240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Poolora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154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ride-sharing, parcel and trip-pooling platform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886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Computer Science and Engineering · Final Year Project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7548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Nkosinathi Michael Sibanda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 ·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commuting in India is expensive, crowded and often unsafe for people travelling alone.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48840"/>
            <a:ext cx="822960" cy="822960"/>
          </a:xfrm>
          <a:prstGeom prst="ellipse">
            <a:avLst/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3317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74520" y="21031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 seats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874520" y="256032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private cars on commute routes carry only the driver, while the same trip is made by many people separately.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72200" y="1828800"/>
            <a:ext cx="53949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2148840"/>
            <a:ext cx="822960" cy="822960"/>
          </a:xfrm>
          <a:prstGeom prst="ellipse">
            <a:avLst/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3317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98080" y="21031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daily cost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7498080" y="256032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Cabs and fuel are costly for daily commuters; drivers get nothing back for seats they are not using.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949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297680"/>
            <a:ext cx="822960" cy="822960"/>
          </a:xfrm>
          <a:prstGeom prst="ellipse">
            <a:avLst/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48056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874520" y="4251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worries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1874520" y="470916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a car with a stranger needs verified people, live tracking and a fast way to get help.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172200" y="3977640"/>
            <a:ext cx="53949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46520" y="4297680"/>
            <a:ext cx="822960" cy="822960"/>
          </a:xfrm>
          <a:prstGeom prst="ellipse">
            <a:avLst/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448056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98080" y="4251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and pollution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7498080" y="470916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cars for the same number of people means more congestion and emissions.</a:t>
            </a:r>
            <a:endParaRPr lang="en-US" sz="1400" dirty="0"/>
          </a:p>
        </p:txBody>
      </p:sp>
      <p:pic>
        <p:nvPicPr>
          <p:cNvPr id="24" name="Image 4" descr="/home/ghost/Desktop/Projects/Poolora/branding/poolora-ic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20272" y="6309360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4864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rgbClr val="D9468F"/>
          </a:solidFill>
          <a:ln w="12700">
            <a:solidFill>
              <a:srgbClr val="D9468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49047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drivers publish rides and riders find seats anywhere along the route, not just at the start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48640" cy="548640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26771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payment safely (card, UPI or wallet) with fair, automatic refunds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548640" cy="548640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04495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riders safe: verified drivers, live tracking, SOS, trip sharing and check-ins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548640" cy="548640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82219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fair prices from distance, vehicle and demand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4526280"/>
            <a:ext cx="548640" cy="548640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526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59943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administrators one dashboard for verification, disputes, SOS and reports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48640" y="5303520"/>
            <a:ext cx="548640" cy="548640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5303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537667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pooling to parcels and to group trips with shared expenses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8321040" y="1417320"/>
            <a:ext cx="3291840" cy="4434840"/>
          </a:xfrm>
          <a:prstGeom prst="roundRect">
            <a:avLst>
              <a:gd name="adj" fmla="val 3333"/>
            </a:avLst>
          </a:prstGeom>
          <a:solidFill>
            <a:srgbClr val="E3F2F0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22" name="Image 0" descr="/home/ghost/Desktop/Projects/Poolora/branding/poolora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1783080"/>
            <a:ext cx="1828800" cy="182880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8549640" y="384048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86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app for riders and drivers, one web dashboard for admins</a:t>
            </a:r>
            <a:endParaRPr lang="en-US" sz="1700" dirty="0"/>
          </a:p>
        </p:txBody>
      </p:sp>
      <p:pic>
        <p:nvPicPr>
          <p:cNvPr id="24" name="Image 1" descr="/home/ghost/Desktop/Projects/Poolora/branding/poolora-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6309360"/>
            <a:ext cx="347472" cy="347472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54864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systems vs Poolora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023360"/>
                <a:gridCol w="487375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4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cab / carpool apps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4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Poolora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44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 a ride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near the start point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86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anywhere along the driving route, in the right direction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fare or free-form price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86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Suggested price with a fair range (₹2–₹15 per km)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Refunds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or all-or-nothing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86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 tiers: 100% / 50% / 25% / 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SOS button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86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SOS, live link, route-deviation alerts, "Are you OK?" check-ins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Beyond rides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Rides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86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Parcels with delivery codes, group trips with expense splitting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tools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86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dashboard with audit log and two-admin blocks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/home/ghost/Desktop/Projects/Poolora/branding/poolora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309360"/>
            <a:ext cx="347472" cy="34747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291840" cy="960120"/>
          </a:xfrm>
          <a:prstGeom prst="roundRect">
            <a:avLst>
              <a:gd name="adj" fmla="val 11429"/>
            </a:avLst>
          </a:prstGeom>
          <a:solidFill>
            <a:srgbClr val="1B1446"/>
          </a:solidFill>
          <a:ln w="12700">
            <a:solidFill>
              <a:srgbClr val="1B144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18488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49961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187452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· riders &amp; drivers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2743200"/>
            <a:ext cx="3291840" cy="960120"/>
          </a:xfrm>
          <a:prstGeom prst="roundRect">
            <a:avLst>
              <a:gd name="adj" fmla="val 11429"/>
            </a:avLst>
          </a:prstGeom>
          <a:solidFill>
            <a:srgbClr val="1B1446"/>
          </a:solidFill>
          <a:ln w="12700">
            <a:solidFill>
              <a:srgbClr val="1B1446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90088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287121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324612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web app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0" y="1371600"/>
            <a:ext cx="3108960" cy="960120"/>
          </a:xfrm>
          <a:prstGeom prst="roundRect">
            <a:avLst>
              <a:gd name="adj" fmla="val 11429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618488"/>
            <a:ext cx="457200" cy="4572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349240" y="1499616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API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5349240" y="187452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Express · TypeScript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572000" y="2743200"/>
            <a:ext cx="3108960" cy="960120"/>
          </a:xfrm>
          <a:prstGeom prst="roundRect">
            <a:avLst>
              <a:gd name="adj" fmla="val 11429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990088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349240" y="2871216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gateway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5349240" y="324612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· live GPS, chat, SOS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4572000" y="4114800"/>
            <a:ext cx="3108960" cy="960120"/>
          </a:xfrm>
          <a:prstGeom prst="roundRect">
            <a:avLst>
              <a:gd name="adj" fmla="val 11429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4361688"/>
            <a:ext cx="457200" cy="4572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349240" y="4242816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service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5349240" y="461772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8412480" y="1371600"/>
            <a:ext cx="3200400" cy="960120"/>
          </a:xfrm>
          <a:prstGeom prst="roundRect">
            <a:avLst>
              <a:gd name="adj" fmla="val 11429"/>
            </a:avLst>
          </a:prstGeom>
          <a:solidFill>
            <a:srgbClr val="D9468F"/>
          </a:solidFill>
          <a:ln w="12700">
            <a:solidFill>
              <a:srgbClr val="D9468F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1618488"/>
            <a:ext cx="457200" cy="45720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9189720" y="149961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9189720" y="18745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rides, bookings, geo index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8412480" y="2743200"/>
            <a:ext cx="3200400" cy="960120"/>
          </a:xfrm>
          <a:prstGeom prst="roundRect">
            <a:avLst>
              <a:gd name="adj" fmla="val 11429"/>
            </a:avLst>
          </a:prstGeom>
          <a:solidFill>
            <a:srgbClr val="D9468F"/>
          </a:solidFill>
          <a:ln w="12700">
            <a:solidFill>
              <a:srgbClr val="D9468F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5360" y="2990088"/>
            <a:ext cx="457200" cy="45720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9189720" y="287121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+ Kafka</a:t>
            </a:r>
            <a:endParaRPr lang="en-US" sz="1500" dirty="0"/>
          </a:p>
        </p:txBody>
      </p:sp>
      <p:sp>
        <p:nvSpPr>
          <p:cNvPr id="30" name="Text 21"/>
          <p:cNvSpPr txBox="1"/>
          <p:nvPr/>
        </p:nvSpPr>
        <p:spPr>
          <a:xfrm>
            <a:off x="9189720" y="32461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Cache, locks, events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8412480" y="4114800"/>
            <a:ext cx="3200400" cy="960120"/>
          </a:xfrm>
          <a:prstGeom prst="roundRect">
            <a:avLst>
              <a:gd name="adj" fmla="val 11429"/>
            </a:avLst>
          </a:prstGeom>
          <a:solidFill>
            <a:srgbClr val="6B6490"/>
          </a:solidFill>
          <a:ln w="12700">
            <a:solidFill>
              <a:srgbClr val="6B6490"/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5360" y="4361688"/>
            <a:ext cx="457200" cy="457200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9189720" y="424281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services</a:t>
            </a:r>
            <a:endParaRPr lang="en-US" sz="1500" dirty="0"/>
          </a:p>
        </p:txBody>
      </p:sp>
      <p:sp>
        <p:nvSpPr>
          <p:cNvPr id="34" name="Text 24"/>
          <p:cNvSpPr txBox="1"/>
          <p:nvPr/>
        </p:nvSpPr>
        <p:spPr>
          <a:xfrm>
            <a:off x="9189720" y="46177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· Razorpay · OpenStreetMap</a:t>
            </a:r>
            <a:endParaRPr lang="en-US" sz="1200" dirty="0"/>
          </a:p>
        </p:txBody>
      </p:sp>
      <p:sp>
        <p:nvSpPr>
          <p:cNvPr id="35" name="Shape 25"/>
          <p:cNvSpPr/>
          <p:nvPr/>
        </p:nvSpPr>
        <p:spPr>
          <a:xfrm>
            <a:off x="3840480" y="1828800"/>
            <a:ext cx="731520" cy="0"/>
          </a:xfrm>
          <a:prstGeom prst="line">
            <a:avLst/>
          </a:prstGeom>
          <a:noFill/>
          <a:ln w="1905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36" name="Shape 26"/>
          <p:cNvSpPr/>
          <p:nvPr/>
        </p:nvSpPr>
        <p:spPr>
          <a:xfrm>
            <a:off x="3840480" y="3200400"/>
            <a:ext cx="731520" cy="-1188720"/>
          </a:xfrm>
          <a:prstGeom prst="line">
            <a:avLst/>
          </a:prstGeom>
          <a:noFill/>
          <a:ln w="1905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37" name="Shape 27"/>
          <p:cNvSpPr/>
          <p:nvPr/>
        </p:nvSpPr>
        <p:spPr>
          <a:xfrm>
            <a:off x="3840480" y="2103120"/>
            <a:ext cx="731520" cy="1005840"/>
          </a:xfrm>
          <a:prstGeom prst="line">
            <a:avLst/>
          </a:prstGeom>
          <a:noFill/>
          <a:ln w="1905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38" name="Shape 28"/>
          <p:cNvSpPr/>
          <p:nvPr/>
        </p:nvSpPr>
        <p:spPr>
          <a:xfrm>
            <a:off x="7680960" y="1828800"/>
            <a:ext cx="731520" cy="0"/>
          </a:xfrm>
          <a:prstGeom prst="line">
            <a:avLst/>
          </a:prstGeom>
          <a:noFill/>
          <a:ln w="1905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39" name="Shape 29"/>
          <p:cNvSpPr/>
          <p:nvPr/>
        </p:nvSpPr>
        <p:spPr>
          <a:xfrm>
            <a:off x="7680960" y="2011680"/>
            <a:ext cx="731520" cy="1097280"/>
          </a:xfrm>
          <a:prstGeom prst="line">
            <a:avLst/>
          </a:prstGeom>
          <a:noFill/>
          <a:ln w="1905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40" name="Shape 30"/>
          <p:cNvSpPr/>
          <p:nvPr/>
        </p:nvSpPr>
        <p:spPr>
          <a:xfrm>
            <a:off x="7680960" y="2194560"/>
            <a:ext cx="731520" cy="2286000"/>
          </a:xfrm>
          <a:prstGeom prst="line">
            <a:avLst/>
          </a:prstGeom>
          <a:noFill/>
          <a:ln w="1905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41" name="Shape 31"/>
          <p:cNvSpPr/>
          <p:nvPr/>
        </p:nvSpPr>
        <p:spPr>
          <a:xfrm>
            <a:off x="4343400" y="2011680"/>
            <a:ext cx="0" cy="2606040"/>
          </a:xfrm>
          <a:prstGeom prst="line">
            <a:avLst/>
          </a:prstGeom>
          <a:noFill/>
          <a:ln w="19050">
            <a:solidFill>
              <a:srgbClr val="5B6475"/>
            </a:solidFill>
            <a:prstDash val="solid"/>
          </a:ln>
        </p:spPr>
      </p:sp>
      <p:sp>
        <p:nvSpPr>
          <p:cNvPr id="42" name="Shape 32"/>
          <p:cNvSpPr/>
          <p:nvPr/>
        </p:nvSpPr>
        <p:spPr>
          <a:xfrm>
            <a:off x="4343400" y="2011680"/>
            <a:ext cx="228600" cy="0"/>
          </a:xfrm>
          <a:prstGeom prst="line">
            <a:avLst/>
          </a:prstGeom>
          <a:noFill/>
          <a:ln w="19050">
            <a:solidFill>
              <a:srgbClr val="5B6475"/>
            </a:solidFill>
            <a:prstDash val="solid"/>
          </a:ln>
        </p:spPr>
      </p:sp>
      <p:sp>
        <p:nvSpPr>
          <p:cNvPr id="43" name="Shape 33"/>
          <p:cNvSpPr/>
          <p:nvPr/>
        </p:nvSpPr>
        <p:spPr>
          <a:xfrm>
            <a:off x="4343400" y="4617720"/>
            <a:ext cx="228600" cy="0"/>
          </a:xfrm>
          <a:prstGeom prst="line">
            <a:avLst/>
          </a:prstGeom>
          <a:noFill/>
          <a:ln w="1905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44" name="Text 34"/>
          <p:cNvSpPr txBox="1"/>
          <p:nvPr/>
        </p:nvSpPr>
        <p:spPr>
          <a:xfrm>
            <a:off x="548640" y="5349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talk to the API over HTTPS (REST, JSON) and to the gateway over WebSockets. The API owns all business rules and calls the ML service over HTTP.</a:t>
            </a:r>
            <a:endParaRPr lang="en-US" sz="1400" dirty="0"/>
          </a:p>
        </p:txBody>
      </p:sp>
      <p:pic>
        <p:nvPicPr>
          <p:cNvPr id="45" name="Image 8" descr="/home/ghost/Desktop/Projects/Poolora/branding/poolora-ico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20272" y="6309360"/>
            <a:ext cx="347472" cy="347472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54864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624328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5544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89888" y="152704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 + Expo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749808" y="216712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(Android / iOS)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355848" y="1325880"/>
            <a:ext cx="2624328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016" y="1554480"/>
            <a:ext cx="502920" cy="5029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197096" y="152704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3557016" y="216712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language across app, API, admin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163056" y="1325880"/>
            <a:ext cx="2624328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155448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004304" y="152704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Express 5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6364224" y="216712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API, 183 endpoints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8970264" y="1325880"/>
            <a:ext cx="2624328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1432" y="1554480"/>
            <a:ext cx="502920" cy="5029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811512" y="152704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9171432" y="216712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location, chat, SOS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548640" y="2898648"/>
            <a:ext cx="2624328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3127248"/>
            <a:ext cx="502920" cy="5029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89888" y="3099816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+ Mongoose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749808" y="373989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with 2dsphere geo indexes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3355848" y="2898648"/>
            <a:ext cx="2624328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7016" y="3127248"/>
            <a:ext cx="502920" cy="50292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4197096" y="3099816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1350" dirty="0"/>
          </a:p>
        </p:txBody>
      </p:sp>
      <p:sp>
        <p:nvSpPr>
          <p:cNvPr id="26" name="Text 18"/>
          <p:cNvSpPr txBox="1"/>
          <p:nvPr/>
        </p:nvSpPr>
        <p:spPr>
          <a:xfrm>
            <a:off x="3557016" y="373989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Cache, rate limits, job locks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6163056" y="2898648"/>
            <a:ext cx="2624328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4224" y="3127248"/>
            <a:ext cx="502920" cy="50292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7004304" y="3099816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Kafka</a:t>
            </a:r>
            <a:endParaRPr lang="en-US" sz="1350" dirty="0"/>
          </a:p>
        </p:txBody>
      </p:sp>
      <p:sp>
        <p:nvSpPr>
          <p:cNvPr id="30" name="Text 21"/>
          <p:cNvSpPr txBox="1"/>
          <p:nvPr/>
        </p:nvSpPr>
        <p:spPr>
          <a:xfrm>
            <a:off x="6364224" y="373989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streaming (in-process fallback)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8970264" y="2898648"/>
            <a:ext cx="2624328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71432" y="3127248"/>
            <a:ext cx="502920" cy="502920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9811512" y="3099816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FastAPI</a:t>
            </a:r>
            <a:endParaRPr lang="en-US" sz="1350" dirty="0"/>
          </a:p>
        </p:txBody>
      </p:sp>
      <p:sp>
        <p:nvSpPr>
          <p:cNvPr id="34" name="Text 24"/>
          <p:cNvSpPr txBox="1"/>
          <p:nvPr/>
        </p:nvSpPr>
        <p:spPr>
          <a:xfrm>
            <a:off x="9171432" y="373989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Demand, fraud, route optimisation</a:t>
            </a:r>
            <a:endParaRPr lang="en-US" sz="1200" dirty="0"/>
          </a:p>
        </p:txBody>
      </p:sp>
      <p:sp>
        <p:nvSpPr>
          <p:cNvPr id="35" name="Shape 25"/>
          <p:cNvSpPr/>
          <p:nvPr/>
        </p:nvSpPr>
        <p:spPr>
          <a:xfrm>
            <a:off x="548640" y="4471416"/>
            <a:ext cx="2624328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808" y="4700016"/>
            <a:ext cx="502920" cy="502920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1389888" y="4672584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</a:t>
            </a:r>
            <a:endParaRPr lang="en-US" sz="1350" dirty="0"/>
          </a:p>
        </p:txBody>
      </p:sp>
      <p:sp>
        <p:nvSpPr>
          <p:cNvPr id="38" name="Text 27"/>
          <p:cNvSpPr txBox="1"/>
          <p:nvPr/>
        </p:nvSpPr>
        <p:spPr>
          <a:xfrm>
            <a:off x="749808" y="531266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OTP / Google sign-in, push</a:t>
            </a:r>
            <a:endParaRPr lang="en-US" sz="1200" dirty="0"/>
          </a:p>
        </p:txBody>
      </p:sp>
      <p:sp>
        <p:nvSpPr>
          <p:cNvPr id="39" name="Shape 28"/>
          <p:cNvSpPr/>
          <p:nvPr/>
        </p:nvSpPr>
        <p:spPr>
          <a:xfrm>
            <a:off x="3355848" y="4471416"/>
            <a:ext cx="2624328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57016" y="4700016"/>
            <a:ext cx="502920" cy="502920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4197096" y="4672584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Razorpay</a:t>
            </a:r>
            <a:endParaRPr lang="en-US" sz="1350" dirty="0"/>
          </a:p>
        </p:txBody>
      </p:sp>
      <p:sp>
        <p:nvSpPr>
          <p:cNvPr id="42" name="Text 30"/>
          <p:cNvSpPr txBox="1"/>
          <p:nvPr/>
        </p:nvSpPr>
        <p:spPr>
          <a:xfrm>
            <a:off x="3557016" y="531266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and UPI payments, refunds</a:t>
            </a:r>
            <a:endParaRPr lang="en-US" sz="1200" dirty="0"/>
          </a:p>
        </p:txBody>
      </p:sp>
      <p:sp>
        <p:nvSpPr>
          <p:cNvPr id="43" name="Shape 31"/>
          <p:cNvSpPr/>
          <p:nvPr/>
        </p:nvSpPr>
        <p:spPr>
          <a:xfrm>
            <a:off x="6163056" y="4471416"/>
            <a:ext cx="2624328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4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64224" y="4700016"/>
            <a:ext cx="502920" cy="502920"/>
          </a:xfrm>
          <a:prstGeom prst="rect">
            <a:avLst/>
          </a:prstGeom>
        </p:spPr>
      </p:pic>
      <p:sp>
        <p:nvSpPr>
          <p:cNvPr id="45" name="Text 32"/>
          <p:cNvSpPr txBox="1"/>
          <p:nvPr/>
        </p:nvSpPr>
        <p:spPr>
          <a:xfrm>
            <a:off x="7004304" y="4672584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OpenStreetMap</a:t>
            </a:r>
            <a:endParaRPr lang="en-US" sz="1350" dirty="0"/>
          </a:p>
        </p:txBody>
      </p:sp>
      <p:sp>
        <p:nvSpPr>
          <p:cNvPr id="46" name="Text 33"/>
          <p:cNvSpPr txBox="1"/>
          <p:nvPr/>
        </p:nvSpPr>
        <p:spPr>
          <a:xfrm>
            <a:off x="6364224" y="531266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MapLibre tiles, OSRM routes, Photon search</a:t>
            </a:r>
            <a:endParaRPr lang="en-US" sz="1200" dirty="0"/>
          </a:p>
        </p:txBody>
      </p:sp>
      <p:sp>
        <p:nvSpPr>
          <p:cNvPr id="47" name="Shape 34"/>
          <p:cNvSpPr/>
          <p:nvPr/>
        </p:nvSpPr>
        <p:spPr>
          <a:xfrm>
            <a:off x="8970264" y="4471416"/>
            <a:ext cx="2624328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4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71432" y="4700016"/>
            <a:ext cx="502920" cy="502920"/>
          </a:xfrm>
          <a:prstGeom prst="rect">
            <a:avLst/>
          </a:prstGeom>
        </p:spPr>
      </p:pic>
      <p:sp>
        <p:nvSpPr>
          <p:cNvPr id="49" name="Text 35"/>
          <p:cNvSpPr txBox="1"/>
          <p:nvPr/>
        </p:nvSpPr>
        <p:spPr>
          <a:xfrm>
            <a:off x="9811512" y="4672584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+ Kubernetes</a:t>
            </a:r>
            <a:endParaRPr lang="en-US" sz="1350" dirty="0"/>
          </a:p>
        </p:txBody>
      </p:sp>
      <p:sp>
        <p:nvSpPr>
          <p:cNvPr id="50" name="Text 36"/>
          <p:cNvSpPr txBox="1"/>
          <p:nvPr/>
        </p:nvSpPr>
        <p:spPr>
          <a:xfrm>
            <a:off x="9171432" y="531266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Containers, autoscaling</a:t>
            </a:r>
            <a:endParaRPr lang="en-US" sz="1200" dirty="0"/>
          </a:p>
        </p:txBody>
      </p:sp>
      <p:pic>
        <p:nvPicPr>
          <p:cNvPr id="51" name="Image 12" descr="/home/ghost/Desktop/Projects/Poolora/branding/poolora-icon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320272" y="6309360"/>
            <a:ext cx="347472" cy="347472"/>
          </a:xfrm>
          <a:prstGeom prst="rect">
            <a:avLst/>
          </a:prstGeom>
        </p:spPr>
      </p:pic>
      <p:sp>
        <p:nvSpPr>
          <p:cNvPr id="52" name="Text 37"/>
          <p:cNvSpPr txBox="1"/>
          <p:nvPr/>
        </p:nvSpPr>
        <p:spPr>
          <a:xfrm>
            <a:off x="54864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31520" cy="731520"/>
          </a:xfrm>
          <a:prstGeom prst="ellipse">
            <a:avLst/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536192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132588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Rider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69164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along the route, book seats, pay, track the car live, rate the trip, receipts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172200" y="1371600"/>
            <a:ext cx="731520" cy="731520"/>
          </a:xfrm>
          <a:prstGeom prst="ellipse">
            <a:avLst/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1536192"/>
            <a:ext cx="402336" cy="4023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086600" y="132588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7086600" y="169164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(KYC), publish rides with stops and return trips, accept requests, pick up and drop each rider, earnings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2587752"/>
            <a:ext cx="731520" cy="731520"/>
          </a:xfrm>
          <a:prstGeom prst="ellipse">
            <a:avLst/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752344"/>
            <a:ext cx="402336" cy="4023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63040" y="254203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1463040" y="2907792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SOS, trip-share link, route-deviation alerts, check-ins, verified emergency contacts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172200" y="2587752"/>
            <a:ext cx="731520" cy="731520"/>
          </a:xfrm>
          <a:prstGeom prst="ellipse">
            <a:avLst/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2752344"/>
            <a:ext cx="402336" cy="40233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086600" y="254203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7086600" y="2907792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card/UPI, in-app wallet and coins, tiered refunds, driver settlement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548640" y="3803904"/>
            <a:ext cx="731520" cy="731520"/>
          </a:xfrm>
          <a:prstGeom prst="ellipse">
            <a:avLst/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968496"/>
            <a:ext cx="402336" cy="40233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463040" y="375818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Administration</a:t>
            </a:r>
            <a:endParaRPr lang="en-US" sz="1700" dirty="0"/>
          </a:p>
        </p:txBody>
      </p:sp>
      <p:sp>
        <p:nvSpPr>
          <p:cNvPr id="22" name="Text 15"/>
          <p:cNvSpPr txBox="1"/>
          <p:nvPr/>
        </p:nvSpPr>
        <p:spPr>
          <a:xfrm>
            <a:off x="1463040" y="4123944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applications, SOS desk, disputes, users, fraud flags, reviews, reports, settings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6172200" y="3803904"/>
            <a:ext cx="731520" cy="731520"/>
          </a:xfrm>
          <a:prstGeom prst="ellipse">
            <a:avLst/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6792" y="3968496"/>
            <a:ext cx="402336" cy="402336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7086600" y="375818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Parcels</a:t>
            </a:r>
            <a:endParaRPr lang="en-US" sz="1700" dirty="0"/>
          </a:p>
        </p:txBody>
      </p:sp>
      <p:sp>
        <p:nvSpPr>
          <p:cNvPr id="26" name="Text 18"/>
          <p:cNvSpPr txBox="1"/>
          <p:nvPr/>
        </p:nvSpPr>
        <p:spPr>
          <a:xfrm>
            <a:off x="7086600" y="4123944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parcel with a driver on the route; delivery confirmed with a code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548640" y="5020056"/>
            <a:ext cx="731520" cy="731520"/>
          </a:xfrm>
          <a:prstGeom prst="ellipse">
            <a:avLst/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5184648"/>
            <a:ext cx="402336" cy="402336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1463040" y="497433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trips</a:t>
            </a:r>
            <a:endParaRPr lang="en-US" sz="1700" dirty="0"/>
          </a:p>
        </p:txBody>
      </p:sp>
      <p:sp>
        <p:nvSpPr>
          <p:cNvPr id="30" name="Text 21"/>
          <p:cNvSpPr txBox="1"/>
          <p:nvPr/>
        </p:nvSpPr>
        <p:spPr>
          <a:xfrm>
            <a:off x="1463040" y="5340096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 trip, find partners, vote on activities, split and settle expenses</a:t>
            </a:r>
            <a:endParaRPr lang="en-US" sz="1300" dirty="0"/>
          </a:p>
        </p:txBody>
      </p:sp>
      <p:sp>
        <p:nvSpPr>
          <p:cNvPr id="31" name="Shape 22"/>
          <p:cNvSpPr/>
          <p:nvPr/>
        </p:nvSpPr>
        <p:spPr>
          <a:xfrm>
            <a:off x="6172200" y="5020056"/>
            <a:ext cx="731520" cy="731520"/>
          </a:xfrm>
          <a:prstGeom prst="ellipse">
            <a:avLst/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6792" y="5184648"/>
            <a:ext cx="402336" cy="402336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7086600" y="497433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1700" dirty="0"/>
          </a:p>
        </p:txBody>
      </p:sp>
      <p:sp>
        <p:nvSpPr>
          <p:cNvPr id="34" name="Text 24"/>
          <p:cNvSpPr txBox="1"/>
          <p:nvPr/>
        </p:nvSpPr>
        <p:spPr>
          <a:xfrm>
            <a:off x="7086600" y="5340096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with moderation, in-app help centre and support requests</a:t>
            </a:r>
            <a:endParaRPr lang="en-US" sz="1300" dirty="0"/>
          </a:p>
        </p:txBody>
      </p:sp>
      <p:pic>
        <p:nvPicPr>
          <p:cNvPr id="35" name="Image 8" descr="/home/ghost/Desktop/Projects/Poolora/branding/poolora-ico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20272" y="6309360"/>
            <a:ext cx="347472" cy="347472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54864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shared ride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2194560"/>
            <a:ext cx="1783080" cy="868680"/>
          </a:xfrm>
          <a:prstGeom prst="chevron">
            <a:avLst/>
          </a:prstGeom>
          <a:solidFill>
            <a:srgbClr val="0860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19456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32918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posts route, time, seats and price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04872" y="2194560"/>
            <a:ext cx="1783080" cy="868680"/>
          </a:xfrm>
          <a:prstGeom prst="chevron">
            <a:avLst/>
          </a:prstGeom>
          <a:solidFill>
            <a:srgbClr val="0B7A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79192" y="219456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450592" y="32918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finds rides passing their pickup and drop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61104" y="2194560"/>
            <a:ext cx="1783080" cy="868680"/>
          </a:xfrm>
          <a:prstGeom prst="chevron">
            <a:avLst/>
          </a:prstGeom>
          <a:solidFill>
            <a:srgbClr val="0860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35424" y="219456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&amp; pay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306824" y="32918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request paid by card, UPI or wallet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17336" y="2194560"/>
            <a:ext cx="1783080" cy="868680"/>
          </a:xfrm>
          <a:prstGeom prst="chevron">
            <a:avLst/>
          </a:prstGeom>
          <a:solidFill>
            <a:srgbClr val="0B7A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91656" y="219456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163056" y="32918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accepts; seats reserved atomically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73568" y="2194560"/>
            <a:ext cx="1783080" cy="868680"/>
          </a:xfrm>
          <a:prstGeom prst="chevron">
            <a:avLst/>
          </a:prstGeom>
          <a:solidFill>
            <a:srgbClr val="0860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47888" y="219456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019288" y="32918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GPS every 5 s, per-rider pickup and drop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829800" y="2194560"/>
            <a:ext cx="1783080" cy="868680"/>
          </a:xfrm>
          <a:prstGeom prst="chevron">
            <a:avLst/>
          </a:prstGeom>
          <a:solidFill>
            <a:srgbClr val="0B7A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104120" y="219456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 &amp; rate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875520" y="32918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settled, receipt, ratings within 7 days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343400"/>
            <a:ext cx="11064240" cy="1600200"/>
          </a:xfrm>
          <a:prstGeom prst="roundRect">
            <a:avLst>
              <a:gd name="adj" fmla="val 6857"/>
            </a:avLst>
          </a:prstGeom>
          <a:solidFill>
            <a:srgbClr val="E3F2F0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22960" y="4526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86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rules (background jobs, every minute)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9377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Unpaid requests cancelled after 15 minutes; unanswered requests expire after 6 hours with a full refund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Rides nobody booked are cancelled 1 hour before departure; a Redis lock keeps one server doing the sweep</a:t>
            </a:r>
            <a:endParaRPr lang="en-US" sz="1400" dirty="0"/>
          </a:p>
        </p:txBody>
      </p:sp>
      <p:pic>
        <p:nvPicPr>
          <p:cNvPr id="24" name="Image 0" descr="/home/ghost/Desktop/Projects/Poolora/branding/poolora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309360"/>
            <a:ext cx="347472" cy="347472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54864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Algorithm: matching riders along a route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0350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ride is published, its driving route (from OSRM) is stored as a GeoJSON LineString with a 2dsphere index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runs $geoNear on the route near the rider's pickup, and requires the route to pass within the radius of the drop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candidate is projected onto the route: the pickup must come before the drop along the line (right direction)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are ranked by a weighted match score: distance from the route, time difference, price and driver rating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fare is charged for the rider's own part of the route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949440" y="1371600"/>
            <a:ext cx="4663440" cy="4480560"/>
          </a:xfrm>
          <a:prstGeom prst="roundRect">
            <a:avLst>
              <a:gd name="adj" fmla="val 2449"/>
            </a:avLst>
          </a:prstGeom>
          <a:solidFill>
            <a:srgbClr val="F4F7F8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 flipV="1">
            <a:off x="7406640" y="4206240"/>
            <a:ext cx="1005840" cy="914400"/>
          </a:xfrm>
          <a:prstGeom prst="line">
            <a:avLst/>
          </a:prstGeom>
          <a:noFill/>
          <a:ln w="50800">
            <a:solidFill>
              <a:srgbClr val="0B7A7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8412480" y="3931920"/>
            <a:ext cx="1097280" cy="274320"/>
          </a:xfrm>
          <a:prstGeom prst="line">
            <a:avLst/>
          </a:prstGeom>
          <a:noFill/>
          <a:ln w="50800">
            <a:solidFill>
              <a:srgbClr val="0B7A7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9509760" y="2926080"/>
            <a:ext cx="731520" cy="1005840"/>
          </a:xfrm>
          <a:prstGeom prst="line">
            <a:avLst/>
          </a:prstGeom>
          <a:noFill/>
          <a:ln w="50800">
            <a:solidFill>
              <a:srgbClr val="0B7A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241280" y="1920240"/>
            <a:ext cx="914400" cy="1005840"/>
          </a:xfrm>
          <a:prstGeom prst="line">
            <a:avLst/>
          </a:prstGeom>
          <a:noFill/>
          <a:ln w="50800">
            <a:solidFill>
              <a:srgbClr val="0B7A7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78624" y="4992624"/>
            <a:ext cx="256032" cy="256032"/>
          </a:xfrm>
          <a:prstGeom prst="ellipse">
            <a:avLst/>
          </a:prstGeom>
          <a:solidFill>
            <a:srgbClr val="1B144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35240" y="4937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start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027664" y="1792224"/>
            <a:ext cx="256032" cy="256032"/>
          </a:xfrm>
          <a:prstGeom prst="ellipse">
            <a:avLst/>
          </a:prstGeom>
          <a:solidFill>
            <a:srgbClr val="1B144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921240" y="1737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end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366760" y="3246120"/>
            <a:ext cx="1097280" cy="1097280"/>
          </a:xfrm>
          <a:prstGeom prst="ellipse">
            <a:avLst/>
          </a:prstGeom>
          <a:solidFill>
            <a:srgbClr val="D9468F">
              <a:alpha val="15000"/>
            </a:srgbClr>
          </a:solidFill>
          <a:ln w="12700">
            <a:solidFill>
              <a:srgbClr val="D9468F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8787384" y="3666744"/>
            <a:ext cx="256032" cy="256032"/>
          </a:xfrm>
          <a:prstGeom prst="ellipse">
            <a:avLst/>
          </a:prstGeom>
          <a:solidFill>
            <a:srgbClr val="D946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0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4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pickup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92640" y="2148840"/>
            <a:ext cx="1097280" cy="1097280"/>
          </a:xfrm>
          <a:prstGeom prst="ellipse">
            <a:avLst/>
          </a:prstGeom>
          <a:solidFill>
            <a:srgbClr val="D9468F">
              <a:alpha val="15000"/>
            </a:srgbClr>
          </a:solidFill>
          <a:ln w="12700">
            <a:solidFill>
              <a:srgbClr val="D9468F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10113264" y="2569464"/>
            <a:ext cx="256032" cy="256032"/>
          </a:xfrm>
          <a:prstGeom prst="ellipse">
            <a:avLst/>
          </a:prstGeom>
          <a:solidFill>
            <a:srgbClr val="D946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0" y="2514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4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drop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178040" y="53492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circles: search radius around the rider's points</a:t>
            </a:r>
            <a:endParaRPr lang="en-US" sz="1100" dirty="0"/>
          </a:p>
        </p:txBody>
      </p:sp>
      <p:pic>
        <p:nvPicPr>
          <p:cNvPr id="20" name="Image 0" descr="/home/ghost/Desktop/Projects/Poolora/branding/poolora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309360"/>
            <a:ext cx="347472" cy="347472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54864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and the ML service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8640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seat price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4937760" cy="731520"/>
          </a:xfrm>
          <a:prstGeom prst="roundRect">
            <a:avLst>
              <a:gd name="adj" fmla="val 12500"/>
            </a:avLst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860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 = distance × rate(vehicle) × peak × surge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per km: ₹2.5 bike up to ₹5 SUV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commute hours (7–10 am, 5–8 pm): +10%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 from demand forecast: +20% to +50%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may choose within ±30%, never outside ₹2–₹15 per km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371600"/>
            <a:ext cx="53035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1645920"/>
            <a:ext cx="731520" cy="731520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6832" y="1810512"/>
            <a:ext cx="402336" cy="40233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406640" y="1508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forecast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406640" y="18745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model of hour, weekday, history, weather and holidays; gives demand level and surge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309360" y="2907792"/>
            <a:ext cx="53035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92240" y="3182112"/>
            <a:ext cx="731520" cy="731520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3346704"/>
            <a:ext cx="402336" cy="40233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406640" y="30449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scoring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7406640" y="3410712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on cancellations, payment deviation, booking velocity and account age; high risk flagged, critical suspended for admin review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309360" y="4443984"/>
            <a:ext cx="53035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92240" y="4718304"/>
            <a:ext cx="731520" cy="731520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4882896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406640" y="458114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Pickup order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7406640" y="4946904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Nearest-neighbour heuristic for the travelling-salesman problem, O(n²), to order riders' pickups</a:t>
            </a:r>
            <a:endParaRPr lang="en-US" sz="1250" dirty="0"/>
          </a:p>
        </p:txBody>
      </p:sp>
      <p:pic>
        <p:nvPicPr>
          <p:cNvPr id="23" name="Image 3" descr="/home/ghost/Desktop/Projects/Poolora/branding/poolora-ic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0272" y="6309360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4864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by design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2A2360"/>
          </a:solidFill>
          <a:ln w="12700">
            <a:solidFill>
              <a:srgbClr val="3A327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D9468F"/>
          </a:solidFill>
          <a:ln w="12700">
            <a:solidFill>
              <a:srgbClr val="D9468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901952"/>
            <a:ext cx="402336" cy="4023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874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060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the admin SOS desk instantly and texts emergency contacts a live-location link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297680" y="146304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2A2360"/>
          </a:solidFill>
          <a:ln w="12700">
            <a:solidFill>
              <a:srgbClr val="3A327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0" y="1737360"/>
            <a:ext cx="731520" cy="731520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190195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0" y="1874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 sharing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26060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 link with the car's position and ETA; expires an hour after the trip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046720" y="146304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2A2360"/>
          </a:solidFill>
          <a:ln w="12700">
            <a:solidFill>
              <a:srgbClr val="3A327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321040" y="1737360"/>
            <a:ext cx="731520" cy="731520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1901952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235440" y="1874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deviation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26060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when the car is more than 500 m off the planned route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370332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2A2360"/>
          </a:solidFill>
          <a:ln w="12700">
            <a:solidFill>
              <a:srgbClr val="3A3278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22960" y="3977640"/>
            <a:ext cx="731520" cy="731520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142232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737360" y="4114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Check-ins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48463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"Are you OK?" every 30 minutes; two missed prompts raise an SOS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4297680" y="370332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2A2360"/>
          </a:solidFill>
          <a:ln w="12700">
            <a:solidFill>
              <a:srgbClr val="3A3278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572000" y="3977640"/>
            <a:ext cx="731520" cy="731520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4142232"/>
            <a:ext cx="402336" cy="40233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486400" y="4114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contacts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4572000" y="48463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3, confirmed by an SMS link; the user picks who is alerted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8046720" y="370332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2A2360"/>
          </a:solidFill>
          <a:ln w="12700">
            <a:solidFill>
              <a:srgbClr val="3A3278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8321040" y="3977640"/>
            <a:ext cx="731520" cy="731520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5632" y="4142232"/>
            <a:ext cx="402336" cy="40233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235440" y="4114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people</a:t>
            </a:r>
            <a:endParaRPr lang="en-US" sz="1700" dirty="0"/>
          </a:p>
        </p:txBody>
      </p:sp>
      <p:sp>
        <p:nvSpPr>
          <p:cNvPr id="32" name="Text 24"/>
          <p:cNvSpPr txBox="1"/>
          <p:nvPr/>
        </p:nvSpPr>
        <p:spPr>
          <a:xfrm>
            <a:off x="8321040" y="48463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licence, RC and insurance checked; blocks need two admins</a:t>
            </a:r>
            <a:endParaRPr lang="en-US" sz="1300" dirty="0"/>
          </a:p>
        </p:txBody>
      </p:sp>
      <p:pic>
        <p:nvPicPr>
          <p:cNvPr id="33" name="Image 6" descr="/home/ghost/Desktop/Projects/Poolora/branding/poolora-ic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20272" y="6309360"/>
            <a:ext cx="347472" cy="347472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54864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 and refunds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8521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order per booking; the signed webhook (HMAC) records the payment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driver's Accept confirms the seat, so money is never taken for a seat that does not exist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payments are atomic: the balance only goes down if enough money is there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earnings = fare − 15% platform fee, settled when each rider is dropped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refund is idempotent, so a retried request never refunds twice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675120" y="1371600"/>
          <a:ext cx="49377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675120" y="5623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Tiers are admin-editable; a driver cancelling always refunds in full.</a:t>
            </a:r>
            <a:endParaRPr lang="en-US" sz="1100" dirty="0"/>
          </a:p>
        </p:txBody>
      </p:sp>
      <p:pic>
        <p:nvPicPr>
          <p:cNvPr id="6" name="Image 0" descr="/home/ghost/Desktop/Projects/Poolora/branding/poolora-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6309360"/>
            <a:ext cx="347472" cy="3474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 (web)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single-page app; every change needs a written reason and is saved in an audit log.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24328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116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9842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256032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figures and anomaly alerts, refreshed every 30 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355848" y="1783080"/>
            <a:ext cx="2624328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016" y="201168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041648" y="19842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 desk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3557016" y="256032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map, one-tap calls, timeline, police record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163056" y="1783080"/>
            <a:ext cx="2624328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201168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848856" y="19842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applications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6364224" y="256032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checklist, approve, reject, ask again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970264" y="1783080"/>
            <a:ext cx="2624328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1432" y="201168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656064" y="19842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Disputes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9171432" y="256032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file with chat and payments; refunds and warnings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3794760"/>
            <a:ext cx="2624328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402336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34440" y="39959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749808" y="45720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 7/15/30 days; permanent block needs a second admin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3355848" y="3794760"/>
            <a:ext cx="2624328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7016" y="4023360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4041648" y="39959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flags</a:t>
            </a:r>
            <a:endParaRPr lang="en-US" sz="1400" dirty="0"/>
          </a:p>
        </p:txBody>
      </p:sp>
      <p:sp>
        <p:nvSpPr>
          <p:cNvPr id="27" name="Text 19"/>
          <p:cNvSpPr txBox="1"/>
          <p:nvPr/>
        </p:nvSpPr>
        <p:spPr>
          <a:xfrm>
            <a:off x="3557016" y="45720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false positives or confirm, within 2 hours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6163056" y="3794760"/>
            <a:ext cx="2624328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4224" y="4023360"/>
            <a:ext cx="365760" cy="36576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6848856" y="39959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&amp; support</a:t>
            </a:r>
            <a:endParaRPr lang="en-US" sz="1400" dirty="0"/>
          </a:p>
        </p:txBody>
      </p:sp>
      <p:sp>
        <p:nvSpPr>
          <p:cNvPr id="31" name="Text 22"/>
          <p:cNvSpPr txBox="1"/>
          <p:nvPr/>
        </p:nvSpPr>
        <p:spPr>
          <a:xfrm>
            <a:off x="6364224" y="45720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reviews, answer support requests</a:t>
            </a:r>
            <a:endParaRPr lang="en-US" sz="1250" dirty="0"/>
          </a:p>
        </p:txBody>
      </p:sp>
      <p:sp>
        <p:nvSpPr>
          <p:cNvPr id="32" name="Shape 23"/>
          <p:cNvSpPr/>
          <p:nvPr/>
        </p:nvSpPr>
        <p:spPr>
          <a:xfrm>
            <a:off x="8970264" y="3794760"/>
            <a:ext cx="2624328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71432" y="4023360"/>
            <a:ext cx="365760" cy="365760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9656064" y="39959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&amp; settings</a:t>
            </a:r>
            <a:endParaRPr lang="en-US" sz="1400" dirty="0"/>
          </a:p>
        </p:txBody>
      </p:sp>
      <p:sp>
        <p:nvSpPr>
          <p:cNvPr id="35" name="Text 25"/>
          <p:cNvSpPr txBox="1"/>
          <p:nvPr/>
        </p:nvSpPr>
        <p:spPr>
          <a:xfrm>
            <a:off x="9171432" y="45720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reports; commission, refunds, limits; 24 h revert</a:t>
            </a:r>
            <a:endParaRPr lang="en-US" sz="1250" dirty="0"/>
          </a:p>
        </p:txBody>
      </p:sp>
      <p:pic>
        <p:nvPicPr>
          <p:cNvPr id="36" name="Image 8" descr="/home/ghost/Desktop/Projects/Poolora/branding/poolora-ico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20272" y="6309360"/>
            <a:ext cx="347472" cy="347472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54864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rides: parcels and group trips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00200"/>
            <a:ext cx="822960" cy="822960"/>
          </a:xfrm>
          <a:prstGeom prst="ellipse">
            <a:avLst/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830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16916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Parcel pooling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69748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driver already travelling your route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 ₹50 + ₹5/km + weight surcharge, shown before paying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by wallet or card; full refund until pickup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recipient gets a 6-digit code; the driver needs it to hand over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earns 70% of the parcel fee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17920" y="1371600"/>
            <a:ext cx="539496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92240" y="1600200"/>
            <a:ext cx="822960" cy="822960"/>
          </a:xfrm>
          <a:prstGeom prst="ellipse">
            <a:avLst/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7830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98080" y="16916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trip pooling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537960" y="269748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 trip: dates, stops, budget, interests, 2–8 people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partners ranked by compatibility (interests 50%, dates 30%, budget 20%)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on activities; a majority "yes" adds the cost to expenses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expenses to the paisa; fewest payments to settle up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back in one tap with UPI links</a:t>
            </a:r>
            <a:endParaRPr lang="en-US" sz="1400" dirty="0"/>
          </a:p>
        </p:txBody>
      </p:sp>
      <p:pic>
        <p:nvPicPr>
          <p:cNvPr id="13" name="Image 2" descr="/home/ghost/Desktop/Projects/Poolora/branding/poolora-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6309360"/>
            <a:ext cx="347472" cy="34747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4864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design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document store, 23 collections. Places are GeoJSON points with 2dsphere indexes.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24328" cy="4023360"/>
          </a:xfrm>
          <a:prstGeom prst="roundRect">
            <a:avLst>
              <a:gd name="adj" fmla="val 4181"/>
            </a:avLst>
          </a:prstGeom>
          <a:solidFill>
            <a:srgbClr val="E3F2F0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2011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86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60320"/>
            <a:ext cx="2240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(profile, KYC, vehicles, contacts)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(route line, stops)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(pickup, drop, fare)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Rating, Message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Notification, OtpChallenge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55848" y="1828800"/>
            <a:ext cx="2624328" cy="4023360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84448" y="2011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86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584448" y="2560320"/>
            <a:ext cx="2240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WalletTransaction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CoinLedger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63056" y="1828800"/>
            <a:ext cx="2624328" cy="4023360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91656" y="2011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86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&amp; admin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391656" y="2560320"/>
            <a:ext cx="2240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EmergencyRecord, EmergencyToken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TripShare, Dispute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AdminAuditLog, AdminNote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SupportTicket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PlatformSettings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70264" y="1828800"/>
            <a:ext cx="2624328" cy="4023360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198864" y="2011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86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&amp; search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198864" y="2560320"/>
            <a:ext cx="2240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ParcelPooling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(members, votes)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TripExpense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RideAlert</a:t>
            </a:r>
            <a:endParaRPr lang="en-US" sz="1300" dirty="0"/>
          </a:p>
        </p:txBody>
      </p:sp>
      <p:pic>
        <p:nvPicPr>
          <p:cNvPr id="16" name="Image 0" descr="/home/ghost/Desktop/Projects/Poolora/branding/poolora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309360"/>
            <a:ext cx="347472" cy="347472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4864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and results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2624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D94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297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40280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tests passing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355848" y="1325880"/>
            <a:ext cx="2624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0B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3355848" y="2240280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tests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163056" y="1325880"/>
            <a:ext cx="2624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0B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183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6163056" y="2240280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970264" y="1325880"/>
            <a:ext cx="2624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0B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~51k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8970264" y="2240280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TypeScript + Python</a:t>
            </a:r>
            <a:endParaRPr lang="en-US" sz="14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48640" y="2880360"/>
          <a:ext cx="57607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6675120" y="2880360"/>
            <a:ext cx="4937760" cy="3200400"/>
          </a:xfrm>
          <a:prstGeom prst="roundRect">
            <a:avLst>
              <a:gd name="adj" fmla="val 3429"/>
            </a:avLst>
          </a:prstGeom>
          <a:solidFill>
            <a:srgbClr val="F4F7F8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90372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was tested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903720" y="347472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unit and integration tests on a real in-memory MongoDB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flows tested end to end: payments, refunds, settlement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for the admin web; TypeScript and ESLint in CI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simulator: a bot driver or rider for a full trip on one phone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testing on an Android phone (Samsung Galaxy A04s)</a:t>
            </a:r>
            <a:endParaRPr lang="en-US" sz="1300" dirty="0"/>
          </a:p>
        </p:txBody>
      </p:sp>
      <p:pic>
        <p:nvPicPr>
          <p:cNvPr id="15" name="Image 0" descr="/home/ghost/Desktop/Projects/Poolora/branding/poolora-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6309360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4864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7665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64792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3736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1737360" y="1984248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service ships as a container image; Docker Compose runs the whole stack locally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926080"/>
            <a:ext cx="67665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273552"/>
            <a:ext cx="640080" cy="6400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37360" y="31089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1737360" y="3493008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and ML deployments with a horizontal pod autoscaler; MongoDB, Kafka (3 brokers, KRaft) as StatefulSets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48640" y="4434840"/>
            <a:ext cx="67665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782312"/>
            <a:ext cx="640080" cy="6400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737360" y="46177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1737360" y="5001768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with TLS, scheduled database backups, health checks and Prometheus metrics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7680960" y="1417320"/>
            <a:ext cx="3931920" cy="4343400"/>
          </a:xfrm>
          <a:prstGeom prst="roundRect">
            <a:avLst>
              <a:gd name="adj" fmla="val 2791"/>
            </a:avLst>
          </a:prstGeom>
          <a:solidFill>
            <a:srgbClr val="E3F2F0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1"/>
          <p:cNvSpPr txBox="1"/>
          <p:nvPr/>
        </p:nvSpPr>
        <p:spPr>
          <a:xfrm>
            <a:off x="7955280" y="16459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86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to scale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7955280" y="2194560"/>
            <a:ext cx="3474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API servers behind a load balancer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Redis adapter shares live events across servers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locks so only one server runs each background job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events fall back to in-process handling if Kafka is down</a:t>
            </a:r>
            <a:endParaRPr lang="en-US" sz="1400" dirty="0"/>
          </a:p>
        </p:txBody>
      </p:sp>
      <p:pic>
        <p:nvPicPr>
          <p:cNvPr id="18" name="Image 3" descr="/home/ghost/Desktop/Projects/Poolora/branding/poolora-ic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0272" y="6309360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4864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and what I learned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17320" y="15087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Overbooking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7452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payments confirmed seats without the driver. Fixed by reserving seats atomically only on Accept.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172200" y="132588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00200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040880" y="15087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missed riders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040880" y="187452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Rides were matched only at their start. Fixed by indexing the whole route as a geo line.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288036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15468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17320" y="3063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correctness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417320" y="342900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refunds, retries and splits. Solved with idempotency keys and working in whole paise.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172200" y="288036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15468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040880" y="3063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 cost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7040880" y="342900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needed a paid key. Moved to a free OpenStreetMap stack with Google as an option.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548640" y="443484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709160"/>
            <a:ext cx="457200" cy="4572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417320" y="4617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at scale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1417320" y="498348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GPS across many servers. Solved with the Socket.IO Redis adapter.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6172200" y="443484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4709160"/>
            <a:ext cx="457200" cy="45720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7040880" y="4617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decisions</a:t>
            </a:r>
            <a:endParaRPr lang="en-US" sz="1600" dirty="0"/>
          </a:p>
        </p:txBody>
      </p:sp>
      <p:sp>
        <p:nvSpPr>
          <p:cNvPr id="26" name="Text 18"/>
          <p:cNvSpPr txBox="1"/>
          <p:nvPr/>
        </p:nvSpPr>
        <p:spPr>
          <a:xfrm>
            <a:off x="7040880" y="498348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fraud check could block users alone. Now it suspends and an admin decides.</a:t>
            </a:r>
            <a:endParaRPr lang="en-US" sz="1300" dirty="0"/>
          </a:p>
        </p:txBody>
      </p:sp>
      <p:pic>
        <p:nvPicPr>
          <p:cNvPr id="27" name="Image 6" descr="/home/ghost/Desktop/Projects/Poolora/branding/poolora-ic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20272" y="6309360"/>
            <a:ext cx="347472" cy="347472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54864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44752"/>
            <a:ext cx="411480" cy="411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13716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ML models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120640" y="137160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demand, matching and fraud from real ride data</a:t>
            </a:r>
            <a:endParaRPr lang="en-US" sz="1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03704"/>
            <a:ext cx="411480" cy="4114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88720" y="213055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 calls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5120640" y="2130552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riders and drivers through a proxy number</a:t>
            </a:r>
            <a:endParaRPr lang="en-US" sz="15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62656"/>
            <a:ext cx="411480" cy="41148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188720" y="288950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document checks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5120640" y="2889504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and government APIs for licence and RC</a:t>
            </a:r>
            <a:endParaRPr lang="en-US" sz="15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721608"/>
            <a:ext cx="411480" cy="41148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188720" y="364845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Parcel photo proof and insurance</a:t>
            </a:r>
            <a:endParaRPr lang="en-US" sz="1600" dirty="0"/>
          </a:p>
        </p:txBody>
      </p:sp>
      <p:sp>
        <p:nvSpPr>
          <p:cNvPr id="14" name="Text 8"/>
          <p:cNvSpPr txBox="1"/>
          <p:nvPr/>
        </p:nvSpPr>
        <p:spPr>
          <a:xfrm>
            <a:off x="5120640" y="3648456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at pickup and delivery; claims</a:t>
            </a:r>
            <a:endParaRPr lang="en-US" sz="15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480560"/>
            <a:ext cx="411480" cy="41148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188720" y="440740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reports</a:t>
            </a:r>
            <a:endParaRPr lang="en-US" sz="1600" dirty="0"/>
          </a:p>
        </p:txBody>
      </p:sp>
      <p:sp>
        <p:nvSpPr>
          <p:cNvPr id="17" name="Text 10"/>
          <p:cNvSpPr txBox="1"/>
          <p:nvPr/>
        </p:nvSpPr>
        <p:spPr>
          <a:xfrm>
            <a:off x="5120640" y="4407408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Emailed PDF and Excel reports for admins</a:t>
            </a:r>
            <a:endParaRPr lang="en-US" sz="15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239512"/>
            <a:ext cx="411480" cy="41148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188720" y="51663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 vehicles</a:t>
            </a:r>
            <a:endParaRPr lang="en-US" sz="1600" dirty="0"/>
          </a:p>
        </p:txBody>
      </p:sp>
      <p:sp>
        <p:nvSpPr>
          <p:cNvPr id="20" name="Text 12"/>
          <p:cNvSpPr txBox="1"/>
          <p:nvPr/>
        </p:nvSpPr>
        <p:spPr>
          <a:xfrm>
            <a:off x="5120640" y="516636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EV-only rides and carbon savings per trip</a:t>
            </a:r>
            <a:endParaRPr lang="en-US" sz="1500" dirty="0"/>
          </a:p>
        </p:txBody>
      </p:sp>
      <p:pic>
        <p:nvPicPr>
          <p:cNvPr id="21" name="Image 6" descr="/home/ghost/Desktop/Projects/Poolora/branding/poolora-ic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20272" y="6309360"/>
            <a:ext cx="347472" cy="347472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54864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1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097280"/>
            <a:ext cx="5303520" cy="5303520"/>
          </a:xfrm>
          <a:prstGeom prst="ellipse">
            <a:avLst/>
          </a:prstGeom>
          <a:solidFill>
            <a:srgbClr val="0B7A75">
              <a:alpha val="30000"/>
            </a:srgbClr>
          </a:solidFill>
          <a:ln w="12700">
            <a:solidFill>
              <a:srgbClr val="0B7A75">
                <a:alpha val="3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7589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Poolora is a complete, working platform: mobile app, API, real-time gateway, ML service and admin dashboard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Route-based matching finds riders anywhere along a trip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Safety, fair pricing and correct money handling are built in, not added on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with over 400 automated tests and manual testing on a real phone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6634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4406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138160" y="4206240"/>
            <a:ext cx="3474720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/home/ghost/Desktop/Projects/Poolora/branding/poolora-l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4279392"/>
            <a:ext cx="3200400" cy="1005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Poolora: Smart Ride-Sharing and Pooling Platform</dc:title>
  <dc:subject>PptxGenJS Presentation</dc:subject>
  <dc:creator>Nkosinathi Michael Sibanda</dc:creator>
  <cp:lastModifiedBy>Nkosinathi Michael Sibanda</cp:lastModifiedBy>
  <cp:revision>1</cp:revision>
  <dcterms:created xsi:type="dcterms:W3CDTF">2026-09-24T06:23:33Z</dcterms:created>
  <dcterms:modified xsi:type="dcterms:W3CDTF">2026-09-24T06:23:33Z</dcterms:modified>
</cp:coreProperties>
</file>