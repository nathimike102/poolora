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Poolora lets people travelling the same way share a car, send a parcel with someone already going, or plan a group trip. It is being launched first in Zimbabwe, starting with Harare.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Harare commuters have cheap but crowded buses and kombis, or taxi apps that cost several times more. Fuel is over two dollars a litre, and most private cars on commute routes carry only the driver. Figures are from September 2026; sources are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goals the project set out to meet; each is covered by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Poolora differs from what Harare commuters use now. Taxi apps are on-demand and mostly cash; kombis are cheap but informal. Poolora is scheduled seat booking with upfront mobile-money payment and safety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animation shows the idea: three solo trips become one shared car. Poolora pools three things: seats in cars already making a trip, parcel space, and group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ride in five steps. Payment is taken when the rider books; the driver accepts, and the driver is paid when the rider is dropped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rider home screen on a Harare map, with the five vehicle classes. Searching Borrowdale lists every ride passing that way: car, minivan, auto and bike, with price, time and seats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Ride details show the driver, rating, vehicle and route. Booking takes a message for the driver and the payment method. Payment goes through Paynow: EcoCash and OneMoney push a PIN prompt to the phone, InnBucks gives a code, cards open Paynow's secure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simulated ride in Harare: the app shows the car approaching, then "Driver has arrived". The SOS screen alerts the safety team and emergency contacts; 999 is one tap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Drivers see today's earnings and upcoming rides. Posting Harare to Bulawayo suggests US$26.50 a seat off-peak (US$29 in commute hours) from the route distance and vehicle; the driver can choose within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Parcels are priced like a motorbike courier in town (about US$5.50 for 10 km) and near Zimpost between cities (about US$16 for 5 kg Harare to Bulawayo), with photo proof and a delivery code. Group trips match partners by interests, dates and budget. The wallet takes refunds and earnings and withdraws to mobile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clients talk to one backend over HTTPS and WebSockets. The backend owns the business rules, calls the ML service over HTTP, and uses MongoDB, Redis and Kafka. Paynow, OpenStreetMap services, Firebase, Twilio and Claude are the external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across the app, API and admin; Python for the ML service. Everything runs locally with Docker Compose and deploys to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is along the route, not just near the start. The route line is indexed; the rider must be picked up before the drop along the line; results are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Seat prices come from the route distance and a per-kilometre rate for the vehicle, about a car's running cost shared between riders, plus 10% in commute hours and a surge only when the demand forecast is high. A 15 km commute costs about a dollar, like a kombi; Harare to Bulawayo sits between the ordinary bus and the luxury coach.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Refunds follow simple rules: before the driver accepts, everything comes back; 30 minutes after acceptance it is still free if the ride is an hour or more away; then 100% from 24 hours, 50% from 2 hours, nothing after. Driver cancellations and changed times always refund in full. Paynow cannot refund, so money comes back to the wallet and can be withdrawn to mobile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what sets Poolora apart, and it covers the driver as much as the rider. SOS reaches the safety desk at once and the family ten seconds later. Every phone on a ride is traced, and a GPS tracker in the car keeps it traceable even if every phone is switched off. A pickup code means nobody gets into the wrong car. Women-only rides are for women whose ID our team has checked. All of it is covered by tests against a real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second by second when someone raises an SOS, whether rider or driver. The safety desk knows at once; the family ten seconds later, so an accidental press can be cancelled. Every phone on the ride and the car's own tracker keep reporting with the screen off. If a phone goes off, its last battery level tells the team whether it ran out or was switched off. Nobody can leave an SOS waiting: every admin is paged again every five minutes until someone takes it. And the team can identify everyone: both people, the car, the other riders, and the mobile money numbers they used, which are registered to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country-specific lives in one market registry: time zone, phone format, currency, emergency numbers, map bounds and now the public holidays. Zimbabwe is the first entry; another country is a new entry plus its payment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dashboard is how the team runs the service: live figures, SOS incidents, driver applications, disputes, payouts, and settings such as the refund tiers, each change logged and critical ones needing a second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document store. Places are GeoJSON with 2dsphere indexes; the ride stores its route line for along-the-route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read from the test runs when the deck is built. The emulator testing on 29 and 30 September found defects that unit tests missed, including one that made posting any ride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for every service; Kubernetes manifests with autoscaling, backups and monitoring; the two web apps are static sites on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parts, and what they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done and what is left before real users. The legal and payment items are paperwork, not code. The e-hailing regulations are being written during a five-month transition from 8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 working pooling platform, localised for Zimbabwe, with safety, payments and operations in place.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market figures came from. Prices change often; these were checked in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13-1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gif"/><Relationship Id="rId2" Type="http://schemas.openxmlformats.org/officeDocument/2006/relationships/image" Target="../media/image-17-4.png"/><Relationship Id="rId3" Type="http://schemas.openxmlformats.org/officeDocument/2006/relationships/image" Target="../media/image-5-3.png"/><Relationship Id="rId4" Type="http://schemas.openxmlformats.org/officeDocument/2006/relationships/image" Target="../media/image-12-3.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12-9.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10-4.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10-4.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5.png"/><Relationship Id="rId9" Type="http://schemas.openxmlformats.org/officeDocument/2006/relationships/image" Target="../media/image-12-9.png"/><Relationship Id="rId10" Type="http://schemas.openxmlformats.org/officeDocument/2006/relationships/image" Target="../media/image-10-4.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0-4.png"/><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0-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0-4.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8-2.png"/><Relationship Id="rId3" Type="http://schemas.openxmlformats.org/officeDocument/2006/relationships/image" Target="../media/image-17-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0-4.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image" Target="../media/image-12-9.png"/><Relationship Id="rId3" Type="http://schemas.openxmlformats.org/officeDocument/2006/relationships/image" Target="../media/image-12-1.png"/><Relationship Id="rId4" Type="http://schemas.openxmlformats.org/officeDocument/2006/relationships/image" Target="../media/image-19-4.png"/><Relationship Id="rId5" Type="http://schemas.openxmlformats.org/officeDocument/2006/relationships/image" Target="../media/image-17-6.png"/><Relationship Id="rId6" Type="http://schemas.openxmlformats.org/officeDocument/2006/relationships/image" Target="../media/image-17-1.png"/><Relationship Id="rId7" Type="http://schemas.openxmlformats.org/officeDocument/2006/relationships/image" Target="../media/image-17-4.png"/><Relationship Id="rId8" Type="http://schemas.openxmlformats.org/officeDocument/2006/relationships/image" Target="../media/image-10-4.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10-4.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3-14.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1.png"/><Relationship Id="rId6" Type="http://schemas.openxmlformats.org/officeDocument/2006/relationships/image" Target="../media/image-16-1.png"/><Relationship Id="rId7" Type="http://schemas.openxmlformats.org/officeDocument/2006/relationships/image" Target="../media/image-25-10.png"/><Relationship Id="rId8" Type="http://schemas.openxmlformats.org/officeDocument/2006/relationships/image" Target="../media/image-25-10.png"/><Relationship Id="rId9" Type="http://schemas.openxmlformats.org/officeDocument/2006/relationships/image" Target="../media/image-25-10.png"/><Relationship Id="rId10" Type="http://schemas.openxmlformats.org/officeDocument/2006/relationships/image" Target="../media/image-25-10.png"/><Relationship Id="rId11" Type="http://schemas.openxmlformats.org/officeDocument/2006/relationships/image" Target="../media/image-25-10.png"/><Relationship Id="rId12" Type="http://schemas.openxmlformats.org/officeDocument/2006/relationships/image" Target="../media/image-25-10.png"/><Relationship Id="rId13" Type="http://schemas.openxmlformats.org/officeDocument/2006/relationships/image" Target="../media/image-10-4.png"/><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image" Target="../media/image-10-4.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A2C"/>
        </a:solidFill>
      </p:bgPr>
    </p:bg>
    <p:spTree>
      <p:nvGrpSpPr>
        <p:cNvPr id="1" name=""/>
        <p:cNvGrpSpPr/>
        <p:nvPr/>
      </p:nvGrpSpPr>
      <p:grpSpPr>
        <a:xfrm>
          <a:off x="0" y="0"/>
          <a:ext cx="0" cy="0"/>
          <a:chOff x="0" y="0"/>
          <a:chExt cx="0" cy="0"/>
        </a:xfrm>
      </p:grpSpPr>
      <p:pic>
        <p:nvPicPr>
          <p:cNvPr id="3" name="Hero clip" descr="/home/ghost/Desktop/Projects/Poolora/Doc/presentation/media/hero.gif">    </p:cNvPr>
          <p:cNvPicPr>
            <a:picLocks noChangeAspect="1"/>
          </p:cNvPicPr>
          <p:nvPr/>
        </p:nvPicPr>
        <p:blipFill>
          <a:blip r:embed="rId1"/>
          <a:stretch>
            <a:fillRect/>
          </a:stretch>
        </p:blipFill>
        <p:spPr>
          <a:xfrm>
            <a:off x="5074920" y="822960"/>
            <a:ext cx="6949440" cy="3909060"/>
          </a:xfrm>
          <a:prstGeom prst="rect">
            <a:avLst/>
          </a:prstGeom>
        </p:spPr>
      </p:pic>
      <p:sp>
        <p:nvSpPr>
          <p:cNvPr id="4" name="Logo panel"/>
          <p:cNvSpPr/>
          <p:nvPr/>
        </p:nvSpPr>
        <p:spPr>
          <a:xfrm>
            <a:off x="548640" y="640080"/>
            <a:ext cx="3383280" cy="1078992"/>
          </a:xfrm>
          <a:prstGeom prst="roundRect">
            <a:avLst>
              <a:gd name="adj" fmla="val 12712"/>
            </a:avLst>
          </a:prstGeom>
          <a:solidFill>
            <a:srgbClr val="FFFFFF"/>
          </a:solidFill>
          <a:ln w="12700">
            <a:solidFill>
              <a:srgbClr val="FFFFFF"/>
            </a:solidFill>
            <a:prstDash val="solid"/>
          </a:ln>
        </p:spPr>
      </p:sp>
      <p:pic>
        <p:nvPicPr>
          <p:cNvPr id="5" name="Logo" descr="/home/ghost/Desktop/Projects/Poolora/branding/poolora-lockup.png">    </p:cNvPr>
          <p:cNvPicPr>
            <a:picLocks noChangeAspect="1"/>
          </p:cNvPicPr>
          <p:nvPr/>
        </p:nvPicPr>
        <p:blipFill>
          <a:blip r:embed="rId2"/>
          <a:stretch>
            <a:fillRect/>
          </a:stretch>
        </p:blipFill>
        <p:spPr>
          <a:xfrm>
            <a:off x="658368" y="713232"/>
            <a:ext cx="3154680" cy="987552"/>
          </a:xfrm>
          <a:prstGeom prst="rect">
            <a:avLst/>
          </a:prstGeom>
        </p:spPr>
      </p:pic>
      <p:sp>
        <p:nvSpPr>
          <p:cNvPr id="6" name="Name"/>
          <p:cNvSpPr/>
          <p:nvPr/>
        </p:nvSpPr>
        <p:spPr>
          <a:xfrm>
            <a:off x="548640" y="2148840"/>
            <a:ext cx="4572000" cy="91440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Poolora</a:t>
            </a:r>
            <a:endParaRPr lang="en-US" sz="5400" dirty="0"/>
          </a:p>
        </p:txBody>
      </p:sp>
      <p:sp>
        <p:nvSpPr>
          <p:cNvPr id="7" name="Tagline"/>
          <p:cNvSpPr/>
          <p:nvPr/>
        </p:nvSpPr>
        <p:spPr>
          <a:xfrm>
            <a:off x="548640" y="3063240"/>
            <a:ext cx="4754880" cy="822960"/>
          </a:xfrm>
          <a:prstGeom prst="rect">
            <a:avLst/>
          </a:prstGeom>
          <a:noFill/>
          <a:ln/>
        </p:spPr>
        <p:txBody>
          <a:bodyPr wrap="square" lIns="0" tIns="0" rIns="0" bIns="0" rtlCol="0" anchor="t"/>
          <a:lstStyle/>
          <a:p>
            <a:pPr indent="0" marL="0">
              <a:buNone/>
            </a:pPr>
            <a:r>
              <a:rPr lang="en-US" sz="2200" dirty="0">
                <a:solidFill>
                  <a:srgbClr val="CFE9E6"/>
                </a:solidFill>
                <a:latin typeface="Calibri" pitchFamily="34" charset="0"/>
                <a:ea typeface="Calibri" pitchFamily="34" charset="-122"/>
                <a:cs typeface="Calibri" pitchFamily="34" charset="-120"/>
              </a:rPr>
              <a:t>Smart ride-sharing, parcel and trip pooling</a:t>
            </a:r>
            <a:endParaRPr lang="en-US" sz="2200" dirty="0"/>
          </a:p>
        </p:txBody>
      </p:sp>
      <p:sp>
        <p:nvSpPr>
          <p:cNvPr id="8" name="Market line"/>
          <p:cNvSpPr/>
          <p:nvPr/>
        </p:nvSpPr>
        <p:spPr>
          <a:xfrm>
            <a:off x="548640" y="3886200"/>
            <a:ext cx="4754880" cy="365760"/>
          </a:xfrm>
          <a:prstGeom prst="rect">
            <a:avLst/>
          </a:prstGeom>
          <a:noFill/>
          <a:ln/>
        </p:spPr>
        <p:txBody>
          <a:bodyPr wrap="square" lIns="0" tIns="0" rIns="0" bIns="0" rtlCol="0" anchor="t"/>
          <a:lstStyle/>
          <a:p>
            <a:pPr indent="0" marL="0">
              <a:buNone/>
            </a:pPr>
            <a:r>
              <a:rPr lang="en-US" sz="1600" dirty="0">
                <a:solidFill>
                  <a:srgbClr val="B9B4D9"/>
                </a:solidFill>
                <a:latin typeface="Calibri" pitchFamily="34" charset="0"/>
                <a:ea typeface="Calibri" pitchFamily="34" charset="-122"/>
                <a:cs typeface="Calibri" pitchFamily="34" charset="-120"/>
              </a:rPr>
              <a:t>Launching first in Zimbabwe · Harare</a:t>
            </a:r>
            <a:endParaRPr lang="en-US" sz="1600" dirty="0"/>
          </a:p>
        </p:txBody>
      </p:sp>
      <p:sp>
        <p:nvSpPr>
          <p:cNvPr id="9" name="Credits"/>
          <p:cNvSpPr/>
          <p:nvPr/>
        </p:nvSpPr>
        <p:spPr>
          <a:xfrm>
            <a:off x="548640" y="4617720"/>
            <a:ext cx="4937760" cy="1371600"/>
          </a:xfrm>
          <a:prstGeom prst="rect">
            <a:avLst/>
          </a:prstGeom>
          <a:noFill/>
          <a:ln/>
        </p:spPr>
        <p:txBody>
          <a:bodyPr wrap="square" lIns="0" tIns="0" rIns="0" bIns="0" rtlCol="0" anchor="t"/>
          <a:lstStyle/>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B.Tech Computer Science and Engineering · Final Year Project</a:t>
            </a:r>
            <a:endParaRPr lang="en-US" sz="1400" dirty="0"/>
          </a:p>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Presented by: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Nkosinathi Michael Sibanda</a:t>
            </a:r>
            <a:endParaRPr lang="en-US" sz="1400" dirty="0"/>
          </a:p>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Project guide: </a:t>
            </a:r>
            <a:pPr indent="0" marL="0">
              <a:spcAft>
                <a:spcPts val="400"/>
              </a:spcAft>
              <a:buNone/>
            </a:pPr>
            <a:r>
              <a:rPr lang="en-US" sz="1400" dirty="0">
                <a:solidFill>
                  <a:srgbClr val="FFFFFF"/>
                </a:solidFill>
                <a:latin typeface="Calibri" pitchFamily="34" charset="0"/>
                <a:ea typeface="Calibri" pitchFamily="34" charset="-122"/>
                <a:cs typeface="Calibri" pitchFamily="34" charset="-120"/>
              </a:rPr>
              <a:t>________________</a:t>
            </a:r>
            <a:endParaRPr lang="en-US" sz="1400" dirty="0"/>
          </a:p>
          <a:p>
            <a:pPr indent="0" marL="0">
              <a:spcAft>
                <a:spcPts val="400"/>
              </a:spcAft>
              <a:buNone/>
            </a:pPr>
            <a:r>
              <a:rPr lang="en-US" sz="1400" dirty="0">
                <a:solidFill>
                  <a:srgbClr val="FFFFFF"/>
                </a:solidFill>
                <a:latin typeface="Calibri" pitchFamily="34" charset="0"/>
                <a:ea typeface="Calibri" pitchFamily="34" charset="-122"/>
                <a:cs typeface="Calibri" pitchFamily="34" charset="-120"/>
              </a:rPr>
              <a:t>Department of Computer Science and Engineering · 2026</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900"/>
                                        <p:tgtEl>
                                          <p:spTgt spid="3"/>
                                        </p:tgtEl>
                                      </p:cBhvr>
                                    </p:animEffect>
                                  </p:childTnLst>
                                </p:cTn>
                              </p:par>
                              <p:par>
                                <p:cTn id="6" presetID="10" presetClass="entr" presetSubtype="0" fill="hold" grpId="0" nodeType="withEffect">
                                  <p:stCondLst>
                                    <p:cond delay="20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42" presetClass="entr" presetSubtype="0" fill="hold" grpId="0" nodeType="withEffect">
                                  <p:stCondLst>
                                    <p:cond delay="4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6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7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ppt_y+.1"/>
                                          </p:val>
                                        </p:tav>
                                        <p:tav tm="100000">
                                          <p:val>
                                            <p:strVal val="#ppt_y"/>
                                          </p:val>
                                        </p:tav>
                                      </p:tavLst>
                                    </p:anim>
                                  </p:childTnLst>
                                </p:cTn>
                              </p:par>
                              <p:par>
                                <p:cTn id="27" presetID="10" presetClass="entr" presetSubtype="0" fill="hold" grpId="0" nodeType="withEffect">
                                  <p:stCondLst>
                                    <p:cond delay="95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3" name="Title 1"/>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Getting around Harare today</a:t>
            </a:r>
            <a:endParaRPr lang="en-US" sz="3000" dirty="0"/>
          </a:p>
        </p:txBody>
      </p:sp>
      <p:sp>
        <p:nvSpPr>
          <p:cNvPr id="4" name="Subtitle 2"/>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Cheap options are crowded or unsafe; safe options are expensive; private cars run half empty.</a:t>
            </a:r>
            <a:endParaRPr lang="en-US" sz="1600" dirty="0"/>
          </a:p>
        </p:txBody>
      </p:sp>
      <p:sp>
        <p:nvSpPr>
          <p:cNvPr id="5" name="Card 3"/>
          <p:cNvSpPr/>
          <p:nvPr/>
        </p:nvSpPr>
        <p:spPr>
          <a:xfrm>
            <a:off x="548640" y="1783080"/>
            <a:ext cx="5394960" cy="1901952"/>
          </a:xfrm>
          <a:prstGeom prst="roundRect">
            <a:avLst>
              <a:gd name="adj" fmla="val 576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6" name="Icon 4"/>
          <p:cNvSpPr/>
          <p:nvPr/>
        </p:nvSpPr>
        <p:spPr>
          <a:xfrm>
            <a:off x="822960" y="2103120"/>
            <a:ext cx="777240" cy="777240"/>
          </a:xfrm>
          <a:prstGeom prst="ellipse">
            <a:avLst/>
          </a:prstGeom>
          <a:solidFill>
            <a:srgbClr val="E3F2F0"/>
          </a:solidFill>
          <a:ln w="12700">
            <a:solidFill>
              <a:srgbClr val="E3F2F0"/>
            </a:solidFill>
            <a:prstDash val="solid"/>
          </a:ln>
        </p:spPr>
      </p:sp>
      <p:pic>
        <p:nvPicPr>
          <p:cNvPr id="7" name="Icon 4 glyph" descr="preencoded.png">    </p:cNvPr>
          <p:cNvPicPr>
            <a:picLocks noChangeAspect="1"/>
          </p:cNvPicPr>
          <p:nvPr/>
        </p:nvPicPr>
        <p:blipFill>
          <a:blip r:embed="rId1"/>
          <a:stretch>
            <a:fillRect/>
          </a:stretch>
        </p:blipFill>
        <p:spPr>
          <a:xfrm>
            <a:off x="993953" y="2274113"/>
            <a:ext cx="435254" cy="435254"/>
          </a:xfrm>
          <a:prstGeom prst="rect">
            <a:avLst/>
          </a:prstGeom>
        </p:spPr>
      </p:pic>
      <p:sp>
        <p:nvSpPr>
          <p:cNvPr id="8" name="Text 5"/>
          <p:cNvSpPr/>
          <p:nvPr/>
        </p:nvSpPr>
        <p:spPr>
          <a:xfrm>
            <a:off x="1783080" y="2075688"/>
            <a:ext cx="3931920" cy="411480"/>
          </a:xfrm>
          <a:prstGeom prst="rect">
            <a:avLst/>
          </a:prstGeom>
          <a:noFill/>
          <a:ln/>
        </p:spPr>
        <p:txBody>
          <a:bodyPr wrap="square" lIns="0" tIns="0" rIns="0" bIns="0" rtlCol="0" anchor="t"/>
          <a:lstStyle/>
          <a:p>
            <a:pPr indent="0" marL="0">
              <a:buNone/>
            </a:pPr>
            <a:r>
              <a:rPr lang="en-US" sz="1800" b="1" dirty="0">
                <a:solidFill>
                  <a:srgbClr val="1B1446"/>
                </a:solidFill>
                <a:latin typeface="Arial" pitchFamily="34" charset="0"/>
                <a:ea typeface="Arial" pitchFamily="34" charset="-122"/>
                <a:cs typeface="Arial" pitchFamily="34" charset="-120"/>
              </a:rPr>
              <a:t>Crowded public transport</a:t>
            </a:r>
            <a:endParaRPr lang="en-US" sz="1800" dirty="0"/>
          </a:p>
        </p:txBody>
      </p:sp>
      <p:sp>
        <p:nvSpPr>
          <p:cNvPr id="9" name="Text 6"/>
          <p:cNvSpPr/>
          <p:nvPr/>
        </p:nvSpPr>
        <p:spPr>
          <a:xfrm>
            <a:off x="1783080" y="2532888"/>
            <a:ext cx="3931920" cy="105156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ZUPCO charges US$0.50 up to 20 km but cannot meet demand, so private kombis and unlicensed "mushikashika" fill the gap.</a:t>
            </a:r>
            <a:endParaRPr lang="en-US" sz="1400" dirty="0"/>
          </a:p>
        </p:txBody>
      </p:sp>
      <p:sp>
        <p:nvSpPr>
          <p:cNvPr id="10" name="Card 7"/>
          <p:cNvSpPr/>
          <p:nvPr/>
        </p:nvSpPr>
        <p:spPr>
          <a:xfrm>
            <a:off x="6172200" y="1783080"/>
            <a:ext cx="5394960" cy="1901952"/>
          </a:xfrm>
          <a:prstGeom prst="roundRect">
            <a:avLst>
              <a:gd name="adj" fmla="val 576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1" name="Icon 8"/>
          <p:cNvSpPr/>
          <p:nvPr/>
        </p:nvSpPr>
        <p:spPr>
          <a:xfrm>
            <a:off x="6446520" y="2103120"/>
            <a:ext cx="777240" cy="777240"/>
          </a:xfrm>
          <a:prstGeom prst="ellipse">
            <a:avLst/>
          </a:prstGeom>
          <a:solidFill>
            <a:srgbClr val="E3F2F0"/>
          </a:solidFill>
          <a:ln w="12700">
            <a:solidFill>
              <a:srgbClr val="E3F2F0"/>
            </a:solidFill>
            <a:prstDash val="solid"/>
          </a:ln>
        </p:spPr>
      </p:sp>
      <p:pic>
        <p:nvPicPr>
          <p:cNvPr id="12" name="Icon 8 glyph" descr="preencoded.png">    </p:cNvPr>
          <p:cNvPicPr>
            <a:picLocks noChangeAspect="1"/>
          </p:cNvPicPr>
          <p:nvPr/>
        </p:nvPicPr>
        <p:blipFill>
          <a:blip r:embed="rId2"/>
          <a:stretch>
            <a:fillRect/>
          </a:stretch>
        </p:blipFill>
        <p:spPr>
          <a:xfrm>
            <a:off x="6617513" y="2274113"/>
            <a:ext cx="435254" cy="435254"/>
          </a:xfrm>
          <a:prstGeom prst="rect">
            <a:avLst/>
          </a:prstGeom>
        </p:spPr>
      </p:pic>
      <p:sp>
        <p:nvSpPr>
          <p:cNvPr id="13" name="Text 9"/>
          <p:cNvSpPr/>
          <p:nvPr/>
        </p:nvSpPr>
        <p:spPr>
          <a:xfrm>
            <a:off x="7406640" y="2075688"/>
            <a:ext cx="3931920" cy="411480"/>
          </a:xfrm>
          <a:prstGeom prst="rect">
            <a:avLst/>
          </a:prstGeom>
          <a:noFill/>
          <a:ln/>
        </p:spPr>
        <p:txBody>
          <a:bodyPr wrap="square" lIns="0" tIns="0" rIns="0" bIns="0" rtlCol="0" anchor="t"/>
          <a:lstStyle/>
          <a:p>
            <a:pPr indent="0" marL="0">
              <a:buNone/>
            </a:pPr>
            <a:r>
              <a:rPr lang="en-US" sz="1800" b="1" dirty="0">
                <a:solidFill>
                  <a:srgbClr val="1B1446"/>
                </a:solidFill>
                <a:latin typeface="Arial" pitchFamily="34" charset="0"/>
                <a:ea typeface="Arial" pitchFamily="34" charset="-122"/>
                <a:cs typeface="Arial" pitchFamily="34" charset="-120"/>
              </a:rPr>
              <a:t>Taxi apps cost more</a:t>
            </a:r>
            <a:endParaRPr lang="en-US" sz="1800" dirty="0"/>
          </a:p>
        </p:txBody>
      </p:sp>
      <p:sp>
        <p:nvSpPr>
          <p:cNvPr id="14" name="Text 10"/>
          <p:cNvSpPr/>
          <p:nvPr/>
        </p:nvSpPr>
        <p:spPr>
          <a:xfrm>
            <a:off x="7406640" y="2532888"/>
            <a:ext cx="3931920" cy="105156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inDrive, Vaya and others charge about US$2–4 for 5 km, several times a kombi fare, and drivers are raising prices.</a:t>
            </a:r>
            <a:endParaRPr lang="en-US" sz="1400" dirty="0"/>
          </a:p>
        </p:txBody>
      </p:sp>
      <p:sp>
        <p:nvSpPr>
          <p:cNvPr id="15" name="Card 11"/>
          <p:cNvSpPr/>
          <p:nvPr/>
        </p:nvSpPr>
        <p:spPr>
          <a:xfrm>
            <a:off x="548640" y="3931920"/>
            <a:ext cx="5394960" cy="1901952"/>
          </a:xfrm>
          <a:prstGeom prst="roundRect">
            <a:avLst>
              <a:gd name="adj" fmla="val 576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6" name="Icon 12"/>
          <p:cNvSpPr/>
          <p:nvPr/>
        </p:nvSpPr>
        <p:spPr>
          <a:xfrm>
            <a:off x="822960" y="4251960"/>
            <a:ext cx="777240" cy="777240"/>
          </a:xfrm>
          <a:prstGeom prst="ellipse">
            <a:avLst/>
          </a:prstGeom>
          <a:solidFill>
            <a:srgbClr val="E3F2F0"/>
          </a:solidFill>
          <a:ln w="12700">
            <a:solidFill>
              <a:srgbClr val="E3F2F0"/>
            </a:solidFill>
            <a:prstDash val="solid"/>
          </a:ln>
        </p:spPr>
      </p:sp>
      <p:pic>
        <p:nvPicPr>
          <p:cNvPr id="17" name="Icon 12 glyph" descr="preencoded.png">    </p:cNvPr>
          <p:cNvPicPr>
            <a:picLocks noChangeAspect="1"/>
          </p:cNvPicPr>
          <p:nvPr/>
        </p:nvPicPr>
        <p:blipFill>
          <a:blip r:embed="rId3"/>
          <a:stretch>
            <a:fillRect/>
          </a:stretch>
        </p:blipFill>
        <p:spPr>
          <a:xfrm>
            <a:off x="993953" y="4422953"/>
            <a:ext cx="435254" cy="435254"/>
          </a:xfrm>
          <a:prstGeom prst="rect">
            <a:avLst/>
          </a:prstGeom>
        </p:spPr>
      </p:pic>
      <p:sp>
        <p:nvSpPr>
          <p:cNvPr id="18" name="Text 13"/>
          <p:cNvSpPr/>
          <p:nvPr/>
        </p:nvSpPr>
        <p:spPr>
          <a:xfrm>
            <a:off x="1783080" y="4224528"/>
            <a:ext cx="3931920" cy="411480"/>
          </a:xfrm>
          <a:prstGeom prst="rect">
            <a:avLst/>
          </a:prstGeom>
          <a:noFill/>
          <a:ln/>
        </p:spPr>
        <p:txBody>
          <a:bodyPr wrap="square" lIns="0" tIns="0" rIns="0" bIns="0" rtlCol="0" anchor="t"/>
          <a:lstStyle/>
          <a:p>
            <a:pPr indent="0" marL="0">
              <a:buNone/>
            </a:pPr>
            <a:r>
              <a:rPr lang="en-US" sz="1800" b="1" dirty="0">
                <a:solidFill>
                  <a:srgbClr val="1B1446"/>
                </a:solidFill>
                <a:latin typeface="Arial" pitchFamily="34" charset="0"/>
                <a:ea typeface="Arial" pitchFamily="34" charset="-122"/>
                <a:cs typeface="Arial" pitchFamily="34" charset="-120"/>
              </a:rPr>
              <a:t>Empty seats</a:t>
            </a:r>
            <a:endParaRPr lang="en-US" sz="1800" dirty="0"/>
          </a:p>
        </p:txBody>
      </p:sp>
      <p:sp>
        <p:nvSpPr>
          <p:cNvPr id="19" name="Text 14"/>
          <p:cNvSpPr/>
          <p:nvPr/>
        </p:nvSpPr>
        <p:spPr>
          <a:xfrm>
            <a:off x="1783080" y="4681728"/>
            <a:ext cx="3931920" cy="105156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Petrol is about US$2.06 a litre, yet most cars on commute routes carry one person. The seats beside them go unused.</a:t>
            </a:r>
            <a:endParaRPr lang="en-US" sz="1400" dirty="0"/>
          </a:p>
        </p:txBody>
      </p:sp>
      <p:sp>
        <p:nvSpPr>
          <p:cNvPr id="20" name="Card 15"/>
          <p:cNvSpPr/>
          <p:nvPr/>
        </p:nvSpPr>
        <p:spPr>
          <a:xfrm>
            <a:off x="6172200" y="3931920"/>
            <a:ext cx="5394960" cy="1901952"/>
          </a:xfrm>
          <a:prstGeom prst="roundRect">
            <a:avLst>
              <a:gd name="adj" fmla="val 576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21" name="Icon 16"/>
          <p:cNvSpPr/>
          <p:nvPr/>
        </p:nvSpPr>
        <p:spPr>
          <a:xfrm>
            <a:off x="6446520" y="4251960"/>
            <a:ext cx="777240" cy="777240"/>
          </a:xfrm>
          <a:prstGeom prst="ellipse">
            <a:avLst/>
          </a:prstGeom>
          <a:solidFill>
            <a:srgbClr val="E3F2F0"/>
          </a:solidFill>
          <a:ln w="12700">
            <a:solidFill>
              <a:srgbClr val="E3F2F0"/>
            </a:solidFill>
            <a:prstDash val="solid"/>
          </a:ln>
        </p:spPr>
      </p:sp>
      <p:pic>
        <p:nvPicPr>
          <p:cNvPr id="22" name="Icon 16 glyph" descr="preencoded.png">    </p:cNvPr>
          <p:cNvPicPr>
            <a:picLocks noChangeAspect="1"/>
          </p:cNvPicPr>
          <p:nvPr/>
        </p:nvPicPr>
        <p:blipFill>
          <a:blip r:embed="rId4"/>
          <a:stretch>
            <a:fillRect/>
          </a:stretch>
        </p:blipFill>
        <p:spPr>
          <a:xfrm>
            <a:off x="6617513" y="4422953"/>
            <a:ext cx="435254" cy="435254"/>
          </a:xfrm>
          <a:prstGeom prst="rect">
            <a:avLst/>
          </a:prstGeom>
        </p:spPr>
      </p:pic>
      <p:sp>
        <p:nvSpPr>
          <p:cNvPr id="23" name="Text 17"/>
          <p:cNvSpPr/>
          <p:nvPr/>
        </p:nvSpPr>
        <p:spPr>
          <a:xfrm>
            <a:off x="7406640" y="4224528"/>
            <a:ext cx="3931920" cy="411480"/>
          </a:xfrm>
          <a:prstGeom prst="rect">
            <a:avLst/>
          </a:prstGeom>
          <a:noFill/>
          <a:ln/>
        </p:spPr>
        <p:txBody>
          <a:bodyPr wrap="square" lIns="0" tIns="0" rIns="0" bIns="0" rtlCol="0" anchor="t"/>
          <a:lstStyle/>
          <a:p>
            <a:pPr indent="0" marL="0">
              <a:buNone/>
            </a:pPr>
            <a:r>
              <a:rPr lang="en-US" sz="1800" b="1" dirty="0">
                <a:solidFill>
                  <a:srgbClr val="1B1446"/>
                </a:solidFill>
                <a:latin typeface="Arial" pitchFamily="34" charset="0"/>
                <a:ea typeface="Arial" pitchFamily="34" charset="-122"/>
                <a:cs typeface="Arial" pitchFamily="34" charset="-120"/>
              </a:rPr>
              <a:t>Safety and trust</a:t>
            </a:r>
            <a:endParaRPr lang="en-US" sz="1800" dirty="0"/>
          </a:p>
        </p:txBody>
      </p:sp>
      <p:sp>
        <p:nvSpPr>
          <p:cNvPr id="24" name="Text 18"/>
          <p:cNvSpPr/>
          <p:nvPr/>
        </p:nvSpPr>
        <p:spPr>
          <a:xfrm>
            <a:off x="7406640" y="4681728"/>
            <a:ext cx="3931920" cy="105156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Informal lifts have no verified drivers, no record of the trip and no quick way to get help.</a:t>
            </a:r>
            <a:endParaRPr lang="en-US" sz="1400" dirty="0"/>
          </a:p>
        </p:txBody>
      </p:sp>
      <p:pic>
        <p:nvPicPr>
          <p:cNvPr id="25" name="Mark 19" descr="/home/ghost/Desktop/Projects/Poolora/branding/poolora-icon.png">    </p:cNvPr>
          <p:cNvPicPr>
            <a:picLocks noChangeAspect="1"/>
          </p:cNvPicPr>
          <p:nvPr/>
        </p:nvPicPr>
        <p:blipFill>
          <a:blip r:embed="rId5"/>
          <a:stretch>
            <a:fillRect/>
          </a:stretch>
        </p:blipFill>
        <p:spPr>
          <a:xfrm>
            <a:off x="11368735" y="6355080"/>
            <a:ext cx="310896" cy="310896"/>
          </a:xfrm>
          <a:prstGeom prst="rect">
            <a:avLst/>
          </a:prstGeom>
        </p:spPr>
      </p:pic>
      <p:sp>
        <p:nvSpPr>
          <p:cNvPr id="26" name="Text 1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a:t>
            </a:r>
            <a:endParaRPr lang="en-US" sz="1100" dirty="0"/>
          </a:p>
        </p:txBody>
      </p:sp>
      <p:sp>
        <p:nvSpPr>
          <p:cNvPr id="27" name="Text 1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10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5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15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1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15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15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3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3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30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45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45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p:tgtEl>
                                          <p:spTgt spid="21"/>
                                        </p:tgtEl>
                                        <p:attrNameLst>
                                          <p:attrName>ppt_x</p:attrName>
                                        </p:attrNameLst>
                                      </p:cBhvr>
                                      <p:tavLst>
                                        <p:tav tm="0">
                                          <p:val>
                                            <p:strVal val="#ppt_x"/>
                                          </p:val>
                                        </p:tav>
                                        <p:tav tm="100000">
                                          <p:val>
                                            <p:strVal val="#ppt_x"/>
                                          </p:val>
                                        </p:tav>
                                      </p:tavLst>
                                    </p:anim>
                                    <p:anim calcmode="lin" valueType="num">
                                      <p:cBhvr additive="base">
                                        <p:cTn id="87" dur="500" fill="hold"/>
                                        <p:tgtEl>
                                          <p:spTgt spid="2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45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45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additive="base">
                                        <p:cTn id="96" dur="500" fill="hold"/>
                                        <p:tgtEl>
                                          <p:spTgt spid="23"/>
                                        </p:tgtEl>
                                        <p:attrNameLst>
                                          <p:attrName>ppt_x</p:attrName>
                                        </p:attrNameLst>
                                      </p:cBhvr>
                                      <p:tavLst>
                                        <p:tav tm="0">
                                          <p:val>
                                            <p:strVal val="#ppt_x"/>
                                          </p:val>
                                        </p:tav>
                                        <p:tav tm="100000">
                                          <p:val>
                                            <p:strVal val="#ppt_x"/>
                                          </p:val>
                                        </p:tav>
                                      </p:tavLst>
                                    </p:anim>
                                    <p:anim calcmode="lin" valueType="num">
                                      <p:cBhvr additive="base">
                                        <p:cTn id="97" dur="5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45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500"/>
                                        <p:tgtEl>
                                          <p:spTgt spid="26"/>
                                        </p:tgtEl>
                                      </p:cBhvr>
                                    </p:animEffect>
                                    <p:anim calcmode="lin" valueType="num">
                                      <p:cBhvr additive="base">
                                        <p:cTn id="101" dur="500" fill="hold"/>
                                        <p:tgtEl>
                                          <p:spTgt spid="26"/>
                                        </p:tgtEl>
                                        <p:attrNameLst>
                                          <p:attrName>ppt_x</p:attrName>
                                        </p:attrNameLst>
                                      </p:cBhvr>
                                      <p:tavLst>
                                        <p:tav tm="0">
                                          <p:val>
                                            <p:strVal val="#ppt_x"/>
                                          </p:val>
                                        </p:tav>
                                        <p:tav tm="100000">
                                          <p:val>
                                            <p:strVal val="#ppt_x"/>
                                          </p:val>
                                        </p:tav>
                                      </p:tavLst>
                                    </p:anim>
                                    <p:anim calcmode="lin" valueType="num">
                                      <p:cBhvr additive="base">
                                        <p:cTn id="102"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3" name="Title 20"/>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Objectives</a:t>
            </a:r>
            <a:endParaRPr lang="en-US" sz="3000" dirty="0"/>
          </a:p>
        </p:txBody>
      </p:sp>
      <p:sp>
        <p:nvSpPr>
          <p:cNvPr id="4" name="Obj num 21"/>
          <p:cNvSpPr/>
          <p:nvPr/>
        </p:nvSpPr>
        <p:spPr>
          <a:xfrm>
            <a:off x="731520" y="1325880"/>
            <a:ext cx="475488" cy="475488"/>
          </a:xfrm>
          <a:prstGeom prst="ellipse">
            <a:avLst/>
          </a:prstGeom>
          <a:solidFill>
            <a:srgbClr val="0B7A75"/>
          </a:solidFill>
          <a:ln w="12700">
            <a:solidFill>
              <a:srgbClr val="FFFFFF"/>
            </a:solidFill>
            <a:prstDash val="solid"/>
          </a:ln>
        </p:spPr>
      </p:sp>
      <p:sp>
        <p:nvSpPr>
          <p:cNvPr id="5" name="Text 22"/>
          <p:cNvSpPr/>
          <p:nvPr/>
        </p:nvSpPr>
        <p:spPr>
          <a:xfrm>
            <a:off x="731520" y="13258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23"/>
          <p:cNvSpPr/>
          <p:nvPr/>
        </p:nvSpPr>
        <p:spPr>
          <a:xfrm>
            <a:off x="1417320" y="1371600"/>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Let drivers publish scheduled rides and riders book seats anywhere along the route, in the right direction</a:t>
            </a:r>
            <a:endParaRPr lang="en-US" sz="1700" dirty="0"/>
          </a:p>
        </p:txBody>
      </p:sp>
      <p:sp>
        <p:nvSpPr>
          <p:cNvPr id="7" name="Obj num 24"/>
          <p:cNvSpPr/>
          <p:nvPr/>
        </p:nvSpPr>
        <p:spPr>
          <a:xfrm>
            <a:off x="731520" y="1993392"/>
            <a:ext cx="475488" cy="475488"/>
          </a:xfrm>
          <a:prstGeom prst="ellipse">
            <a:avLst/>
          </a:prstGeom>
          <a:solidFill>
            <a:srgbClr val="0B7A75"/>
          </a:solidFill>
          <a:ln w="12700">
            <a:solidFill>
              <a:srgbClr val="FFFFFF"/>
            </a:solidFill>
            <a:prstDash val="solid"/>
          </a:ln>
        </p:spPr>
      </p:sp>
      <p:sp>
        <p:nvSpPr>
          <p:cNvPr id="8" name="Text 25"/>
          <p:cNvSpPr/>
          <p:nvPr/>
        </p:nvSpPr>
        <p:spPr>
          <a:xfrm>
            <a:off x="731520" y="19933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26"/>
          <p:cNvSpPr/>
          <p:nvPr/>
        </p:nvSpPr>
        <p:spPr>
          <a:xfrm>
            <a:off x="1417320" y="2039112"/>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Take payment safely by EcoCash, OneMoney, InnBucks, card or wallet, with fair, automatic refunds</a:t>
            </a:r>
            <a:endParaRPr lang="en-US" sz="1700" dirty="0"/>
          </a:p>
        </p:txBody>
      </p:sp>
      <p:sp>
        <p:nvSpPr>
          <p:cNvPr id="10" name="Obj num 27"/>
          <p:cNvSpPr/>
          <p:nvPr/>
        </p:nvSpPr>
        <p:spPr>
          <a:xfrm>
            <a:off x="731520" y="2660904"/>
            <a:ext cx="475488" cy="475488"/>
          </a:xfrm>
          <a:prstGeom prst="ellipse">
            <a:avLst/>
          </a:prstGeom>
          <a:solidFill>
            <a:srgbClr val="0B7A75"/>
          </a:solidFill>
          <a:ln w="12700">
            <a:solidFill>
              <a:srgbClr val="FFFFFF"/>
            </a:solidFill>
            <a:prstDash val="solid"/>
          </a:ln>
        </p:spPr>
      </p:sp>
      <p:sp>
        <p:nvSpPr>
          <p:cNvPr id="11" name="Text 28"/>
          <p:cNvSpPr/>
          <p:nvPr/>
        </p:nvSpPr>
        <p:spPr>
          <a:xfrm>
            <a:off x="731520" y="26609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29"/>
          <p:cNvSpPr/>
          <p:nvPr/>
        </p:nvSpPr>
        <p:spPr>
          <a:xfrm>
            <a:off x="1417320" y="2706624"/>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Keep riders safe: verified drivers, live tracking, SOS, trip sharing and check-ins</a:t>
            </a:r>
            <a:endParaRPr lang="en-US" sz="1700" dirty="0"/>
          </a:p>
        </p:txBody>
      </p:sp>
      <p:sp>
        <p:nvSpPr>
          <p:cNvPr id="13" name="Obj num 30"/>
          <p:cNvSpPr/>
          <p:nvPr/>
        </p:nvSpPr>
        <p:spPr>
          <a:xfrm>
            <a:off x="731520" y="3328416"/>
            <a:ext cx="475488" cy="475488"/>
          </a:xfrm>
          <a:prstGeom prst="ellipse">
            <a:avLst/>
          </a:prstGeom>
          <a:solidFill>
            <a:srgbClr val="0B7A75"/>
          </a:solidFill>
          <a:ln w="12700">
            <a:solidFill>
              <a:srgbClr val="FFFFFF"/>
            </a:solidFill>
            <a:prstDash val="solid"/>
          </a:ln>
        </p:spPr>
      </p:sp>
      <p:sp>
        <p:nvSpPr>
          <p:cNvPr id="14" name="Text 31"/>
          <p:cNvSpPr/>
          <p:nvPr/>
        </p:nvSpPr>
        <p:spPr>
          <a:xfrm>
            <a:off x="731520" y="332841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32"/>
          <p:cNvSpPr/>
          <p:nvPr/>
        </p:nvSpPr>
        <p:spPr>
          <a:xfrm>
            <a:off x="1417320" y="3374136"/>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Suggest fair seat prices from distance, vehicle, commute hours, holidays and demand</a:t>
            </a:r>
            <a:endParaRPr lang="en-US" sz="1700" dirty="0"/>
          </a:p>
        </p:txBody>
      </p:sp>
      <p:sp>
        <p:nvSpPr>
          <p:cNvPr id="16" name="Obj num 33"/>
          <p:cNvSpPr/>
          <p:nvPr/>
        </p:nvSpPr>
        <p:spPr>
          <a:xfrm>
            <a:off x="731520" y="3995928"/>
            <a:ext cx="475488" cy="475488"/>
          </a:xfrm>
          <a:prstGeom prst="ellipse">
            <a:avLst/>
          </a:prstGeom>
          <a:solidFill>
            <a:srgbClr val="0B7A75"/>
          </a:solidFill>
          <a:ln w="12700">
            <a:solidFill>
              <a:srgbClr val="FFFFFF"/>
            </a:solidFill>
            <a:prstDash val="solid"/>
          </a:ln>
        </p:spPr>
      </p:sp>
      <p:sp>
        <p:nvSpPr>
          <p:cNvPr id="17" name="Text 34"/>
          <p:cNvSpPr/>
          <p:nvPr/>
        </p:nvSpPr>
        <p:spPr>
          <a:xfrm>
            <a:off x="731520" y="3995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35"/>
          <p:cNvSpPr/>
          <p:nvPr/>
        </p:nvSpPr>
        <p:spPr>
          <a:xfrm>
            <a:off x="1417320" y="4041648"/>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Give administrators one dashboard for verification, disputes, SOS, payouts and reports</a:t>
            </a:r>
            <a:endParaRPr lang="en-US" sz="1700" dirty="0"/>
          </a:p>
        </p:txBody>
      </p:sp>
      <p:sp>
        <p:nvSpPr>
          <p:cNvPr id="19" name="Obj num 36"/>
          <p:cNvSpPr/>
          <p:nvPr/>
        </p:nvSpPr>
        <p:spPr>
          <a:xfrm>
            <a:off x="731520" y="4663440"/>
            <a:ext cx="475488" cy="475488"/>
          </a:xfrm>
          <a:prstGeom prst="ellipse">
            <a:avLst/>
          </a:prstGeom>
          <a:solidFill>
            <a:srgbClr val="0B7A75"/>
          </a:solidFill>
          <a:ln w="12700">
            <a:solidFill>
              <a:srgbClr val="FFFFFF"/>
            </a:solidFill>
            <a:prstDash val="solid"/>
          </a:ln>
        </p:spPr>
      </p:sp>
      <p:sp>
        <p:nvSpPr>
          <p:cNvPr id="20" name="Text 37"/>
          <p:cNvSpPr/>
          <p:nvPr/>
        </p:nvSpPr>
        <p:spPr>
          <a:xfrm>
            <a:off x="731520" y="46634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38"/>
          <p:cNvSpPr/>
          <p:nvPr/>
        </p:nvSpPr>
        <p:spPr>
          <a:xfrm>
            <a:off x="1417320" y="4709160"/>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Extend pooling to parcels and to group trips with shared expenses</a:t>
            </a:r>
            <a:endParaRPr lang="en-US" sz="1700" dirty="0"/>
          </a:p>
        </p:txBody>
      </p:sp>
      <p:sp>
        <p:nvSpPr>
          <p:cNvPr id="22" name="Obj num 39"/>
          <p:cNvSpPr/>
          <p:nvPr/>
        </p:nvSpPr>
        <p:spPr>
          <a:xfrm>
            <a:off x="731520" y="5330952"/>
            <a:ext cx="475488" cy="475488"/>
          </a:xfrm>
          <a:prstGeom prst="ellipse">
            <a:avLst/>
          </a:prstGeom>
          <a:solidFill>
            <a:srgbClr val="D9468F"/>
          </a:solidFill>
          <a:ln w="12700">
            <a:solidFill>
              <a:srgbClr val="FFFFFF"/>
            </a:solidFill>
            <a:prstDash val="solid"/>
          </a:ln>
        </p:spPr>
      </p:sp>
      <p:sp>
        <p:nvSpPr>
          <p:cNvPr id="23" name="Text 40"/>
          <p:cNvSpPr/>
          <p:nvPr/>
        </p:nvSpPr>
        <p:spPr>
          <a:xfrm>
            <a:off x="731520" y="533095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4" name="Text 41"/>
          <p:cNvSpPr/>
          <p:nvPr/>
        </p:nvSpPr>
        <p:spPr>
          <a:xfrm>
            <a:off x="1417320" y="5376672"/>
            <a:ext cx="9875520" cy="457200"/>
          </a:xfrm>
          <a:prstGeom prst="rect">
            <a:avLst/>
          </a:prstGeom>
          <a:noFill/>
          <a:ln/>
        </p:spPr>
        <p:txBody>
          <a:bodyPr wrap="square" lIns="0" tIns="0" rIns="0" bIns="0" rtlCol="0" anchor="ctr"/>
          <a:lstStyle/>
          <a:p>
            <a:pPr indent="0" marL="0">
              <a:buNone/>
            </a:pPr>
            <a:r>
              <a:rPr lang="en-US" sz="1700" dirty="0">
                <a:solidFill>
                  <a:srgbClr val="1F2330"/>
                </a:solidFill>
                <a:latin typeface="Calibri" pitchFamily="34" charset="0"/>
                <a:ea typeface="Calibri" pitchFamily="34" charset="-122"/>
                <a:cs typeface="Calibri" pitchFamily="34" charset="-120"/>
              </a:rPr>
              <a:t>Build for one market first (Zimbabwe) so that a new country is configuration, not a rewrite</a:t>
            </a:r>
            <a:endParaRPr lang="en-US" sz="1700" dirty="0"/>
          </a:p>
        </p:txBody>
      </p:sp>
      <p:pic>
        <p:nvPicPr>
          <p:cNvPr id="25" name="Mark 42"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26" name="Text 22"/>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3</a:t>
            </a:r>
            <a:endParaRPr lang="en-US" sz="1100" dirty="0"/>
          </a:p>
        </p:txBody>
      </p:sp>
      <p:sp>
        <p:nvSpPr>
          <p:cNvPr id="27" name="Text 23"/>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8" fill="hold">
                      <p:stCondLst>
                        <p:cond delay="indefinite"/>
                        <p:cond evt="onBegin" delay="0">
                          <p:tn val="2"/>
                        </p:cond>
                      </p:stCondLst>
                      <p:childTnLst>
                        <p:par>
                          <p:cTn id="109"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anim calcmode="lin" valueType="num">
                                      <p:cBhvr additive="base">
                                        <p:cTn id="16" dur="500" fill="hold"/>
                                        <p:tgtEl>
                                          <p:spTgt spid="27"/>
                                        </p:tgtEl>
                                        <p:attrNameLst>
                                          <p:attrName>ppt_x</p:attrName>
                                        </p:attrNameLst>
                                      </p:cBhvr>
                                      <p:tavLst>
                                        <p:tav tm="0">
                                          <p:val>
                                            <p:strVal val="#ppt_x"/>
                                          </p:val>
                                        </p:tav>
                                        <p:tav tm="100000">
                                          <p:val>
                                            <p:strVal val="#ppt_x"/>
                                          </p:val>
                                        </p:tav>
                                      </p:tavLst>
                                    </p:anim>
                                    <p:anim calcmode="lin" valueType="num">
                                      <p:cBhvr additive="base">
                                        <p:cTn id="17" dur="500" fill="hold"/>
                                        <p:tgtEl>
                                          <p:spTgt spid="2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11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11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1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2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22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22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33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3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3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44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44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44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55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55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additive="base">
                                        <p:cTn id="86" dur="500" fill="hold"/>
                                        <p:tgtEl>
                                          <p:spTgt spid="20"/>
                                        </p:tgtEl>
                                        <p:attrNameLst>
                                          <p:attrName>ppt_x</p:attrName>
                                        </p:attrNameLst>
                                      </p:cBhvr>
                                      <p:tavLst>
                                        <p:tav tm="0">
                                          <p:val>
                                            <p:strVal val="#ppt_x"/>
                                          </p:val>
                                        </p:tav>
                                        <p:tav tm="100000">
                                          <p:val>
                                            <p:strVal val="#ppt_x"/>
                                          </p:val>
                                        </p:tav>
                                      </p:tavLst>
                                    </p:anim>
                                    <p:anim calcmode="lin" valueType="num">
                                      <p:cBhvr additive="base">
                                        <p:cTn id="87"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55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additive="base">
                                        <p:cTn id="91" dur="500" fill="hold"/>
                                        <p:tgtEl>
                                          <p:spTgt spid="21"/>
                                        </p:tgtEl>
                                        <p:attrNameLst>
                                          <p:attrName>ppt_x</p:attrName>
                                        </p:attrNameLst>
                                      </p:cBhvr>
                                      <p:tavLst>
                                        <p:tav tm="0">
                                          <p:val>
                                            <p:strVal val="#ppt_x"/>
                                          </p:val>
                                        </p:tav>
                                        <p:tav tm="100000">
                                          <p:val>
                                            <p:strVal val="#ppt_x"/>
                                          </p:val>
                                        </p:tav>
                                      </p:tavLst>
                                    </p:anim>
                                    <p:anim calcmode="lin" valueType="num">
                                      <p:cBhvr additive="base">
                                        <p:cTn id="92"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66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00"/>
                                        <p:tgtEl>
                                          <p:spTgt spid="22"/>
                                        </p:tgtEl>
                                      </p:cBhvr>
                                    </p:animEffect>
                                    <p:anim calcmode="lin" valueType="num">
                                      <p:cBhvr additive="base">
                                        <p:cTn id="96" dur="500" fill="hold"/>
                                        <p:tgtEl>
                                          <p:spTgt spid="22"/>
                                        </p:tgtEl>
                                        <p:attrNameLst>
                                          <p:attrName>ppt_x</p:attrName>
                                        </p:attrNameLst>
                                      </p:cBhvr>
                                      <p:tavLst>
                                        <p:tav tm="0">
                                          <p:val>
                                            <p:strVal val="#ppt_x"/>
                                          </p:val>
                                        </p:tav>
                                        <p:tav tm="100000">
                                          <p:val>
                                            <p:strVal val="#ppt_x"/>
                                          </p:val>
                                        </p:tav>
                                      </p:tavLst>
                                    </p:anim>
                                    <p:anim calcmode="lin" valueType="num">
                                      <p:cBhvr additive="base">
                                        <p:cTn id="97"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66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anim calcmode="lin" valueType="num">
                                      <p:cBhvr additive="base">
                                        <p:cTn id="101" dur="500" fill="hold"/>
                                        <p:tgtEl>
                                          <p:spTgt spid="23"/>
                                        </p:tgtEl>
                                        <p:attrNameLst>
                                          <p:attrName>ppt_x</p:attrName>
                                        </p:attrNameLst>
                                      </p:cBhvr>
                                      <p:tavLst>
                                        <p:tav tm="0">
                                          <p:val>
                                            <p:strVal val="#ppt_x"/>
                                          </p:val>
                                        </p:tav>
                                        <p:tav tm="100000">
                                          <p:val>
                                            <p:strVal val="#ppt_x"/>
                                          </p:val>
                                        </p:tav>
                                      </p:tavLst>
                                    </p:anim>
                                    <p:anim calcmode="lin" valueType="num">
                                      <p:cBhvr additive="base">
                                        <p:cTn id="102"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66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00"/>
                                        <p:tgtEl>
                                          <p:spTgt spid="24"/>
                                        </p:tgtEl>
                                      </p:cBhvr>
                                    </p:animEffect>
                                    <p:anim calcmode="lin" valueType="num">
                                      <p:cBhvr additive="base">
                                        <p:cTn id="106" dur="500" fill="hold"/>
                                        <p:tgtEl>
                                          <p:spTgt spid="24"/>
                                        </p:tgtEl>
                                        <p:attrNameLst>
                                          <p:attrName>ppt_x</p:attrName>
                                        </p:attrNameLst>
                                      </p:cBhvr>
                                      <p:tavLst>
                                        <p:tav tm="0">
                                          <p:val>
                                            <p:strVal val="#ppt_x"/>
                                          </p:val>
                                        </p:tav>
                                        <p:tav tm="100000">
                                          <p:val>
                                            <p:strVal val="#ppt_x"/>
                                          </p:val>
                                        </p:tav>
                                      </p:tavLst>
                                    </p:anim>
                                    <p:anim calcmode="lin" valueType="num">
                                      <p:cBhvr additive="base">
                                        <p:cTn id="107" dur="5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6" grpId="0" animBg="1"/>
      <p:bldP spid="27"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3" name="Title 43"/>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Existing options vs Poolora</a:t>
            </a:r>
            <a:endParaRPr lang="en-US" sz="3000" dirty="0"/>
          </a:p>
        </p:txBody>
      </p:sp>
      <p:graphicFrame>
        <p:nvGraphicFramePr>
          <p:cNvPr id="5" name="Compare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737360"/>
                <a:gridCol w="2651760"/>
                <a:gridCol w="2971800"/>
                <a:gridCol w="3730752"/>
              </a:tblGrid>
              <a:tr h="566928">
                <a:tc>
                  <a:txBody>
                    <a:bodyPr/>
                    <a:lstStyle/>
                    <a:p>
                      <a:pPr indent="0" marL="0">
                        <a:buNone/>
                      </a:pP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B144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Kombi / ZUPCO</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B144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Taxi apps (inDrive, Vaya)</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B144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Poolora</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0B7A75"/>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Price, 15 km</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US$0.50–1 (ZUPCO US$0.50)</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US$2–4 for 5 km</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US$1 a seat (car)</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Booking</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Queue at the rank</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On demand, fare negotiated</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Scheduled seat, paid upfront</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Matching</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Fixed routes</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Pickup near the driver</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Anywhere along the driver's route, right direction</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Payment</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Cash</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Mostly cash</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EcoCash, OneMoney, InnBucks, card, wallet</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Cancelling</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Free; frequent cancellers blocked</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100% back from 24 h, free for 30 min after acceptance</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Safety</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Ratings</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0F2F6"/>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Verified drivers, SOS, live share, check-ins</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r h="566928">
                <a:tc>
                  <a:txBody>
                    <a:bodyPr/>
                    <a:lstStyle/>
                    <a:p>
                      <a:pPr indent="0" marL="0">
                        <a:buNone/>
                      </a:pPr>
                      <a:r>
                        <a:rPr lang="en-US" sz="1300" b="1" dirty="0">
                          <a:solidFill>
                            <a:srgbClr val="1F2330"/>
                          </a:solidFill>
                          <a:latin typeface="Calibri" pitchFamily="34" charset="0"/>
                          <a:ea typeface="Calibri" pitchFamily="34" charset="-122"/>
                          <a:cs typeface="Calibri" pitchFamily="34" charset="-120"/>
                        </a:rPr>
                        <a:t>Also</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1F2330"/>
                          </a:solidFill>
                          <a:latin typeface="Calibri" pitchFamily="34" charset="0"/>
                          <a:ea typeface="Calibri" pitchFamily="34" charset="-122"/>
                          <a:cs typeface="Calibri" pitchFamily="34" charset="-120"/>
                        </a:rPr>
                        <a:t>Some deliveries</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300" dirty="0">
                          <a:solidFill>
                            <a:srgbClr val="08605C"/>
                          </a:solidFill>
                          <a:latin typeface="Calibri" pitchFamily="34" charset="0"/>
                          <a:ea typeface="Calibri" pitchFamily="34" charset="-122"/>
                          <a:cs typeface="Calibri" pitchFamily="34" charset="-120"/>
                        </a:rPr>
                        <a:t>Parcels with delivery codes, group trips</a:t>
                      </a:r>
                      <a:endParaRPr lang="en-US" sz="1300" dirty="0">
                        <a:latin typeface="Calibri" charset="0"/>
                        <a:ea typeface="Calibri" charset="0"/>
                        <a:cs typeface="Calibri" charset="0"/>
                      </a:endParaRPr>
                    </a:p>
                  </a:txBody>
                  <a:tcPr marL="76200" marR="76200" marT="76200" marB="762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AF6F4"/>
                    </a:solidFill>
                  </a:tcPr>
                </a:tc>
              </a:tr>
            </a:tbl>
          </a:graphicData>
        </a:graphic>
      </p:graphicFrame>
      <p:pic>
        <p:nvPicPr>
          <p:cNvPr id="5" name="Mark 44"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6" name="Text 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4</a:t>
            </a:r>
            <a:endParaRPr lang="en-US" sz="1100" dirty="0"/>
          </a:p>
        </p:txBody>
      </p:sp>
      <p:sp>
        <p:nvSpPr>
          <p:cNvPr id="7" name="Text 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A2C"/>
        </a:solidFill>
      </p:bgPr>
    </p:bg>
    <p:spTree>
      <p:nvGrpSpPr>
        <p:cNvPr id="1" name=""/>
        <p:cNvGrpSpPr/>
        <p:nvPr/>
      </p:nvGrpSpPr>
      <p:grpSpPr>
        <a:xfrm>
          <a:off x="0" y="0"/>
          <a:ext cx="0" cy="0"/>
          <a:chOff x="0" y="0"/>
          <a:chExt cx="0" cy="0"/>
        </a:xfrm>
      </p:grpSpPr>
      <p:sp>
        <p:nvSpPr>
          <p:cNvPr id="3" name="Title 45"/>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One platform, three kinds of pooling</a:t>
            </a:r>
            <a:endParaRPr lang="en-US" sz="3000" dirty="0"/>
          </a:p>
        </p:txBody>
      </p:sp>
      <p:sp>
        <p:nvSpPr>
          <p:cNvPr id="4" name="Subtitle 46"/>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B9B4D9"/>
                </a:solidFill>
                <a:latin typeface="Calibri" pitchFamily="34" charset="0"/>
                <a:ea typeface="Calibri" pitchFamily="34" charset="-122"/>
                <a:cs typeface="Calibri" pitchFamily="34" charset="-120"/>
              </a:rPr>
              <a:t>Drivers who are making the trip anyway sell their empty seats and boot space.</a:t>
            </a:r>
            <a:endParaRPr lang="en-US" sz="1600" dirty="0"/>
          </a:p>
        </p:txBody>
      </p:sp>
      <p:pic>
        <p:nvPicPr>
          <p:cNvPr id="5" name="Pool clip" descr="/home/ghost/Desktop/Projects/Poolora/Doc/presentation/media/pool.gif">    </p:cNvPr>
          <p:cNvPicPr>
            <a:picLocks noChangeAspect="1"/>
          </p:cNvPicPr>
          <p:nvPr/>
        </p:nvPicPr>
        <p:blipFill>
          <a:blip r:embed="rId1"/>
          <a:stretch>
            <a:fillRect/>
          </a:stretch>
        </p:blipFill>
        <p:spPr>
          <a:xfrm>
            <a:off x="548640" y="1645920"/>
            <a:ext cx="6583680" cy="3703320"/>
          </a:xfrm>
          <a:prstGeom prst="rect">
            <a:avLst/>
          </a:prstGeom>
        </p:spPr>
      </p:pic>
      <p:sp>
        <p:nvSpPr>
          <p:cNvPr id="6" name="Icon 47"/>
          <p:cNvSpPr/>
          <p:nvPr/>
        </p:nvSpPr>
        <p:spPr>
          <a:xfrm>
            <a:off x="7498080" y="1783080"/>
            <a:ext cx="731520" cy="731520"/>
          </a:xfrm>
          <a:prstGeom prst="ellipse">
            <a:avLst/>
          </a:prstGeom>
          <a:solidFill>
            <a:srgbClr val="0B7A75"/>
          </a:solidFill>
          <a:ln w="12700">
            <a:solidFill>
              <a:srgbClr val="0B7A75"/>
            </a:solidFill>
            <a:prstDash val="solid"/>
          </a:ln>
        </p:spPr>
      </p:sp>
      <p:pic>
        <p:nvPicPr>
          <p:cNvPr id="7" name="Icon 47 glyph" descr="preencoded.png">    </p:cNvPr>
          <p:cNvPicPr>
            <a:picLocks noChangeAspect="1"/>
          </p:cNvPicPr>
          <p:nvPr/>
        </p:nvPicPr>
        <p:blipFill>
          <a:blip r:embed="rId2"/>
          <a:stretch>
            <a:fillRect/>
          </a:stretch>
        </p:blipFill>
        <p:spPr>
          <a:xfrm>
            <a:off x="7659014" y="1944014"/>
            <a:ext cx="409651" cy="409651"/>
          </a:xfrm>
          <a:prstGeom prst="rect">
            <a:avLst/>
          </a:prstGeom>
        </p:spPr>
      </p:pic>
      <p:sp>
        <p:nvSpPr>
          <p:cNvPr id="8" name="Text 48"/>
          <p:cNvSpPr/>
          <p:nvPr/>
        </p:nvSpPr>
        <p:spPr>
          <a:xfrm>
            <a:off x="8412480" y="1691640"/>
            <a:ext cx="329184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Ride pooling</a:t>
            </a:r>
            <a:endParaRPr lang="en-US" sz="1900" dirty="0"/>
          </a:p>
        </p:txBody>
      </p:sp>
      <p:sp>
        <p:nvSpPr>
          <p:cNvPr id="9" name="Text 49"/>
          <p:cNvSpPr/>
          <p:nvPr/>
        </p:nvSpPr>
        <p:spPr>
          <a:xfrm>
            <a:off x="8412480" y="2103120"/>
            <a:ext cx="3291840" cy="868680"/>
          </a:xfrm>
          <a:prstGeom prst="rect">
            <a:avLst/>
          </a:prstGeom>
          <a:noFill/>
          <a:ln/>
        </p:spPr>
        <p:txBody>
          <a:bodyPr wrap="square" lIns="0" tIns="0" rIns="0" bIns="0" rtlCol="0" anchor="t"/>
          <a:lstStyle/>
          <a:p>
            <a:pPr indent="0" marL="0">
              <a:buNone/>
            </a:pPr>
            <a:r>
              <a:rPr lang="en-US" sz="1350" dirty="0">
                <a:solidFill>
                  <a:srgbClr val="B9B4D9"/>
                </a:solidFill>
                <a:latin typeface="Calibri" pitchFamily="34" charset="0"/>
                <a:ea typeface="Calibri" pitchFamily="34" charset="-122"/>
                <a:cs typeface="Calibri" pitchFamily="34" charset="-120"/>
              </a:rPr>
              <a:t>Book a seat in a car, SUV, minivan, auto or on a bike going your way. US$1 for a 15 km commute.</a:t>
            </a:r>
            <a:endParaRPr lang="en-US" sz="1350" dirty="0"/>
          </a:p>
        </p:txBody>
      </p:sp>
      <p:sp>
        <p:nvSpPr>
          <p:cNvPr id="10" name="Icon 50"/>
          <p:cNvSpPr/>
          <p:nvPr/>
        </p:nvSpPr>
        <p:spPr>
          <a:xfrm>
            <a:off x="7498080" y="3154680"/>
            <a:ext cx="731520" cy="731520"/>
          </a:xfrm>
          <a:prstGeom prst="ellipse">
            <a:avLst/>
          </a:prstGeom>
          <a:solidFill>
            <a:srgbClr val="D9468F"/>
          </a:solidFill>
          <a:ln w="12700">
            <a:solidFill>
              <a:srgbClr val="D9468F"/>
            </a:solidFill>
            <a:prstDash val="solid"/>
          </a:ln>
        </p:spPr>
      </p:sp>
      <p:pic>
        <p:nvPicPr>
          <p:cNvPr id="11" name="Icon 50 glyph" descr="preencoded.png">    </p:cNvPr>
          <p:cNvPicPr>
            <a:picLocks noChangeAspect="1"/>
          </p:cNvPicPr>
          <p:nvPr/>
        </p:nvPicPr>
        <p:blipFill>
          <a:blip r:embed="rId3"/>
          <a:stretch>
            <a:fillRect/>
          </a:stretch>
        </p:blipFill>
        <p:spPr>
          <a:xfrm>
            <a:off x="7659014" y="3315614"/>
            <a:ext cx="409651" cy="409651"/>
          </a:xfrm>
          <a:prstGeom prst="rect">
            <a:avLst/>
          </a:prstGeom>
        </p:spPr>
      </p:pic>
      <p:sp>
        <p:nvSpPr>
          <p:cNvPr id="12" name="Text 51"/>
          <p:cNvSpPr/>
          <p:nvPr/>
        </p:nvSpPr>
        <p:spPr>
          <a:xfrm>
            <a:off x="8412480" y="3063240"/>
            <a:ext cx="329184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Parcel pooling</a:t>
            </a:r>
            <a:endParaRPr lang="en-US" sz="1900" dirty="0"/>
          </a:p>
        </p:txBody>
      </p:sp>
      <p:sp>
        <p:nvSpPr>
          <p:cNvPr id="13" name="Text 52"/>
          <p:cNvSpPr/>
          <p:nvPr/>
        </p:nvSpPr>
        <p:spPr>
          <a:xfrm>
            <a:off x="8412480" y="3474720"/>
            <a:ext cx="3291840" cy="868680"/>
          </a:xfrm>
          <a:prstGeom prst="rect">
            <a:avLst/>
          </a:prstGeom>
          <a:noFill/>
          <a:ln/>
        </p:spPr>
        <p:txBody>
          <a:bodyPr wrap="square" lIns="0" tIns="0" rIns="0" bIns="0" rtlCol="0" anchor="t"/>
          <a:lstStyle/>
          <a:p>
            <a:pPr indent="0" marL="0">
              <a:buNone/>
            </a:pPr>
            <a:r>
              <a:rPr lang="en-US" sz="1350" dirty="0">
                <a:solidFill>
                  <a:srgbClr val="B9B4D9"/>
                </a:solidFill>
                <a:latin typeface="Calibri" pitchFamily="34" charset="0"/>
                <a:ea typeface="Calibri" pitchFamily="34" charset="-122"/>
                <a:cs typeface="Calibri" pitchFamily="34" charset="-120"/>
              </a:rPr>
              <a:t>Send a parcel with a driver already on the route; the recipient hands over a delivery code.</a:t>
            </a:r>
            <a:endParaRPr lang="en-US" sz="1350" dirty="0"/>
          </a:p>
        </p:txBody>
      </p:sp>
      <p:sp>
        <p:nvSpPr>
          <p:cNvPr id="14" name="Icon 53"/>
          <p:cNvSpPr/>
          <p:nvPr/>
        </p:nvSpPr>
        <p:spPr>
          <a:xfrm>
            <a:off x="7498080" y="4526280"/>
            <a:ext cx="731520" cy="731520"/>
          </a:xfrm>
          <a:prstGeom prst="ellipse">
            <a:avLst/>
          </a:prstGeom>
          <a:solidFill>
            <a:srgbClr val="0B7A75"/>
          </a:solidFill>
          <a:ln w="12700">
            <a:solidFill>
              <a:srgbClr val="0B7A75"/>
            </a:solidFill>
            <a:prstDash val="solid"/>
          </a:ln>
        </p:spPr>
      </p:sp>
      <p:pic>
        <p:nvPicPr>
          <p:cNvPr id="15" name="Icon 53 glyph" descr="preencoded.png">    </p:cNvPr>
          <p:cNvPicPr>
            <a:picLocks noChangeAspect="1"/>
          </p:cNvPicPr>
          <p:nvPr/>
        </p:nvPicPr>
        <p:blipFill>
          <a:blip r:embed="rId4"/>
          <a:stretch>
            <a:fillRect/>
          </a:stretch>
        </p:blipFill>
        <p:spPr>
          <a:xfrm>
            <a:off x="7659014" y="4687214"/>
            <a:ext cx="409651" cy="409651"/>
          </a:xfrm>
          <a:prstGeom prst="rect">
            <a:avLst/>
          </a:prstGeom>
        </p:spPr>
      </p:pic>
      <p:sp>
        <p:nvSpPr>
          <p:cNvPr id="16" name="Text 54"/>
          <p:cNvSpPr/>
          <p:nvPr/>
        </p:nvSpPr>
        <p:spPr>
          <a:xfrm>
            <a:off x="8412480" y="4434840"/>
            <a:ext cx="3291840" cy="41148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Trip pooling</a:t>
            </a:r>
            <a:endParaRPr lang="en-US" sz="1900" dirty="0"/>
          </a:p>
        </p:txBody>
      </p:sp>
      <p:sp>
        <p:nvSpPr>
          <p:cNvPr id="17" name="Text 55"/>
          <p:cNvSpPr/>
          <p:nvPr/>
        </p:nvSpPr>
        <p:spPr>
          <a:xfrm>
            <a:off x="8412480" y="4846320"/>
            <a:ext cx="3291840" cy="868680"/>
          </a:xfrm>
          <a:prstGeom prst="rect">
            <a:avLst/>
          </a:prstGeom>
          <a:noFill/>
          <a:ln/>
        </p:spPr>
        <p:txBody>
          <a:bodyPr wrap="square" lIns="0" tIns="0" rIns="0" bIns="0" rtlCol="0" anchor="t"/>
          <a:lstStyle/>
          <a:p>
            <a:pPr indent="0" marL="0">
              <a:buNone/>
            </a:pPr>
            <a:r>
              <a:rPr lang="en-US" sz="1350" dirty="0">
                <a:solidFill>
                  <a:srgbClr val="B9B4D9"/>
                </a:solidFill>
                <a:latin typeface="Calibri" pitchFamily="34" charset="0"/>
                <a:ea typeface="Calibri" pitchFamily="34" charset="-122"/>
                <a:cs typeface="Calibri" pitchFamily="34" charset="-120"/>
              </a:rPr>
              <a:t>Plan a group trip, find partners, vote on activities and split costs to the cent.</a:t>
            </a:r>
            <a:endParaRPr lang="en-US" sz="1350" dirty="0"/>
          </a:p>
        </p:txBody>
      </p:sp>
      <p:pic>
        <p:nvPicPr>
          <p:cNvPr id="18" name="Mark 56" descr="/home/ghost/Desktop/Projects/Poolora/branding/poolora-icon.png">    </p:cNvPr>
          <p:cNvPicPr>
            <a:picLocks noChangeAspect="1"/>
          </p:cNvPicPr>
          <p:nvPr/>
        </p:nvPicPr>
        <p:blipFill>
          <a:blip r:embed="rId5"/>
          <a:stretch>
            <a:fillRect/>
          </a:stretch>
        </p:blipFill>
        <p:spPr>
          <a:xfrm>
            <a:off x="11368735" y="6355080"/>
            <a:ext cx="310896" cy="310896"/>
          </a:xfrm>
          <a:prstGeom prst="rect">
            <a:avLst/>
          </a:prstGeom>
        </p:spPr>
      </p:pic>
      <p:sp>
        <p:nvSpPr>
          <p:cNvPr id="19" name="Text 1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5</a:t>
            </a:r>
            <a:endParaRPr lang="en-US" sz="1100" dirty="0"/>
          </a:p>
        </p:txBody>
      </p:sp>
      <p:sp>
        <p:nvSpPr>
          <p:cNvPr id="20" name="Text 1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6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800"/>
                                        <p:tgtEl>
                                          <p:spTgt spid="5"/>
                                        </p:tgtEl>
                                      </p:cBhvr>
                                    </p:animEffect>
                                  </p:childTnLst>
                                </p:cTn>
                              </p:par>
                              <p:par>
                                <p:cTn id="6" presetID="42" presetClass="entr" presetSubtype="0" fill="hold" grpId="0" nodeType="withEffect">
                                  <p:stCondLst>
                                    <p:cond delay="5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anim calcmode="lin" valueType="num">
                                      <p:cBhvr additive="base">
                                        <p:cTn id="9" dur="500" fill="hold"/>
                                        <p:tgtEl>
                                          <p:spTgt spid="6"/>
                                        </p:tgtEl>
                                        <p:attrNameLst>
                                          <p:attrName>ppt_x</p:attrName>
                                        </p:attrNameLst>
                                      </p:cBhvr>
                                      <p:tavLst>
                                        <p:tav tm="0">
                                          <p:val>
                                            <p:strVal val="#ppt_x"/>
                                          </p:val>
                                        </p:tav>
                                        <p:tav tm="100000">
                                          <p:val>
                                            <p:strVal val="#ppt_x"/>
                                          </p:val>
                                        </p:tav>
                                      </p:tavLst>
                                    </p:anim>
                                    <p:anim calcmode="lin" valueType="num">
                                      <p:cBhvr additive="base">
                                        <p:cTn id="10" dur="500" fill="hold"/>
                                        <p:tgtEl>
                                          <p:spTgt spid="6"/>
                                        </p:tgtEl>
                                        <p:attrNameLst>
                                          <p:attrName>ppt_y</p:attrName>
                                        </p:attrNameLst>
                                      </p:cBhvr>
                                      <p:tavLst>
                                        <p:tav tm="0">
                                          <p:val>
                                            <p:strVal val="#ppt_y+.1"/>
                                          </p:val>
                                        </p:tav>
                                        <p:tav tm="100000">
                                          <p:val>
                                            <p:strVal val="#ppt_y"/>
                                          </p:val>
                                        </p:tav>
                                      </p:tavLst>
                                    </p:anim>
                                  </p:childTnLst>
                                </p:cTn>
                              </p:par>
                              <p:par>
                                <p:cTn id="11" presetID="42" presetClass="entr" presetSubtype="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5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7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7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7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7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90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90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90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90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3" name="Title 57"/>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How a shared ride works</a:t>
            </a:r>
            <a:endParaRPr lang="en-US" sz="3000" dirty="0"/>
          </a:p>
        </p:txBody>
      </p:sp>
      <p:sp>
        <p:nvSpPr>
          <p:cNvPr id="4" name="Subtitle 58"/>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From posting a ride to rating it, in five steps.</a:t>
            </a:r>
            <a:endParaRPr lang="en-US" sz="1600" dirty="0"/>
          </a:p>
        </p:txBody>
      </p:sp>
      <p:sp>
        <p:nvSpPr>
          <p:cNvPr id="5" name="Icon 59"/>
          <p:cNvSpPr/>
          <p:nvPr/>
        </p:nvSpPr>
        <p:spPr>
          <a:xfrm>
            <a:off x="1207008" y="1783080"/>
            <a:ext cx="868680" cy="868680"/>
          </a:xfrm>
          <a:prstGeom prst="ellipse">
            <a:avLst/>
          </a:prstGeom>
          <a:solidFill>
            <a:srgbClr val="0B7A75"/>
          </a:solidFill>
          <a:ln w="12700">
            <a:solidFill>
              <a:srgbClr val="0B7A75"/>
            </a:solidFill>
            <a:prstDash val="solid"/>
          </a:ln>
        </p:spPr>
      </p:sp>
      <p:pic>
        <p:nvPicPr>
          <p:cNvPr id="6" name="Icon 59 glyph" descr="preencoded.png">    </p:cNvPr>
          <p:cNvPicPr>
            <a:picLocks noChangeAspect="1"/>
          </p:cNvPicPr>
          <p:nvPr/>
        </p:nvPicPr>
        <p:blipFill>
          <a:blip r:embed="rId1"/>
          <a:stretch>
            <a:fillRect/>
          </a:stretch>
        </p:blipFill>
        <p:spPr>
          <a:xfrm>
            <a:off x="1398118" y="1974190"/>
            <a:ext cx="486461" cy="486461"/>
          </a:xfrm>
          <a:prstGeom prst="rect">
            <a:avLst/>
          </a:prstGeom>
        </p:spPr>
      </p:pic>
      <p:sp>
        <p:nvSpPr>
          <p:cNvPr id="7" name="Arrow 60"/>
          <p:cNvSpPr/>
          <p:nvPr/>
        </p:nvSpPr>
        <p:spPr>
          <a:xfrm>
            <a:off x="2331720" y="2057400"/>
            <a:ext cx="411480" cy="320040"/>
          </a:xfrm>
          <a:prstGeom prst="rightArrow">
            <a:avLst/>
          </a:prstGeom>
          <a:solidFill>
            <a:srgbClr val="D5DBE3"/>
          </a:solidFill>
          <a:ln w="12700">
            <a:solidFill>
              <a:srgbClr val="D5DBE3"/>
            </a:solidFill>
            <a:prstDash val="solid"/>
          </a:ln>
        </p:spPr>
      </p:sp>
      <p:sp>
        <p:nvSpPr>
          <p:cNvPr id="8" name="Card 61"/>
          <p:cNvSpPr/>
          <p:nvPr/>
        </p:nvSpPr>
        <p:spPr>
          <a:xfrm>
            <a:off x="548640" y="2926080"/>
            <a:ext cx="2103120" cy="265176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9" name="Text 62"/>
          <p:cNvSpPr/>
          <p:nvPr/>
        </p:nvSpPr>
        <p:spPr>
          <a:xfrm>
            <a:off x="731520" y="3063240"/>
            <a:ext cx="457200" cy="365760"/>
          </a:xfrm>
          <a:prstGeom prst="rect">
            <a:avLst/>
          </a:prstGeom>
          <a:noFill/>
          <a:ln/>
        </p:spPr>
        <p:txBody>
          <a:bodyPr wrap="square" lIns="0" tIns="0" rIns="0" bIns="0" rtlCol="0" anchor="t"/>
          <a:lstStyle/>
          <a:p>
            <a:pPr indent="0" marL="0">
              <a:buNone/>
            </a:pPr>
            <a:r>
              <a:rPr lang="en-US" sz="2000" b="1" dirty="0">
                <a:solidFill>
                  <a:srgbClr val="0B7A75"/>
                </a:solidFill>
                <a:latin typeface="Arial" pitchFamily="34" charset="0"/>
                <a:ea typeface="Arial" pitchFamily="34" charset="-122"/>
                <a:cs typeface="Arial" pitchFamily="34" charset="-120"/>
              </a:rPr>
              <a:t>1</a:t>
            </a:r>
            <a:endParaRPr lang="en-US" sz="2000" dirty="0"/>
          </a:p>
        </p:txBody>
      </p:sp>
      <p:sp>
        <p:nvSpPr>
          <p:cNvPr id="10" name="Text 63"/>
          <p:cNvSpPr/>
          <p:nvPr/>
        </p:nvSpPr>
        <p:spPr>
          <a:xfrm>
            <a:off x="731520" y="3474720"/>
            <a:ext cx="1783080" cy="41148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Driver posts</a:t>
            </a:r>
            <a:endParaRPr lang="en-US" sz="1600" dirty="0"/>
          </a:p>
        </p:txBody>
      </p:sp>
      <p:sp>
        <p:nvSpPr>
          <p:cNvPr id="11" name="Text 64"/>
          <p:cNvSpPr/>
          <p:nvPr/>
        </p:nvSpPr>
        <p:spPr>
          <a:xfrm>
            <a:off x="731520" y="3931920"/>
            <a:ext cx="1783080" cy="155448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Route, time (at least 2 h ahead), up to 3 stops, seats and a price within the suggested range</a:t>
            </a:r>
            <a:endParaRPr lang="en-US" sz="1250" dirty="0"/>
          </a:p>
        </p:txBody>
      </p:sp>
      <p:sp>
        <p:nvSpPr>
          <p:cNvPr id="12" name="Icon 65"/>
          <p:cNvSpPr/>
          <p:nvPr/>
        </p:nvSpPr>
        <p:spPr>
          <a:xfrm>
            <a:off x="3493008" y="1783080"/>
            <a:ext cx="868680" cy="868680"/>
          </a:xfrm>
          <a:prstGeom prst="ellipse">
            <a:avLst/>
          </a:prstGeom>
          <a:solidFill>
            <a:srgbClr val="D9468F"/>
          </a:solidFill>
          <a:ln w="12700">
            <a:solidFill>
              <a:srgbClr val="D9468F"/>
            </a:solidFill>
            <a:prstDash val="solid"/>
          </a:ln>
        </p:spPr>
      </p:sp>
      <p:pic>
        <p:nvPicPr>
          <p:cNvPr id="13" name="Icon 65 glyph" descr="preencoded.png">    </p:cNvPr>
          <p:cNvPicPr>
            <a:picLocks noChangeAspect="1"/>
          </p:cNvPicPr>
          <p:nvPr/>
        </p:nvPicPr>
        <p:blipFill>
          <a:blip r:embed="rId2"/>
          <a:stretch>
            <a:fillRect/>
          </a:stretch>
        </p:blipFill>
        <p:spPr>
          <a:xfrm>
            <a:off x="3684118" y="1974190"/>
            <a:ext cx="486461" cy="486461"/>
          </a:xfrm>
          <a:prstGeom prst="rect">
            <a:avLst/>
          </a:prstGeom>
        </p:spPr>
      </p:pic>
      <p:sp>
        <p:nvSpPr>
          <p:cNvPr id="14" name="Arrow 66"/>
          <p:cNvSpPr/>
          <p:nvPr/>
        </p:nvSpPr>
        <p:spPr>
          <a:xfrm>
            <a:off x="4617720" y="2057400"/>
            <a:ext cx="411480" cy="320040"/>
          </a:xfrm>
          <a:prstGeom prst="rightArrow">
            <a:avLst/>
          </a:prstGeom>
          <a:solidFill>
            <a:srgbClr val="D5DBE3"/>
          </a:solidFill>
          <a:ln w="12700">
            <a:solidFill>
              <a:srgbClr val="D5DBE3"/>
            </a:solidFill>
            <a:prstDash val="solid"/>
          </a:ln>
        </p:spPr>
      </p:sp>
      <p:sp>
        <p:nvSpPr>
          <p:cNvPr id="15" name="Card 67"/>
          <p:cNvSpPr/>
          <p:nvPr/>
        </p:nvSpPr>
        <p:spPr>
          <a:xfrm>
            <a:off x="2834640" y="2926080"/>
            <a:ext cx="2103120" cy="265176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6" name="Text 68"/>
          <p:cNvSpPr/>
          <p:nvPr/>
        </p:nvSpPr>
        <p:spPr>
          <a:xfrm>
            <a:off x="3017520" y="3063240"/>
            <a:ext cx="457200" cy="365760"/>
          </a:xfrm>
          <a:prstGeom prst="rect">
            <a:avLst/>
          </a:prstGeom>
          <a:noFill/>
          <a:ln/>
        </p:spPr>
        <p:txBody>
          <a:bodyPr wrap="square" lIns="0" tIns="0" rIns="0" bIns="0" rtlCol="0" anchor="t"/>
          <a:lstStyle/>
          <a:p>
            <a:pPr indent="0" marL="0">
              <a:buNone/>
            </a:pPr>
            <a:r>
              <a:rPr lang="en-US" sz="2000" b="1" dirty="0">
                <a:solidFill>
                  <a:srgbClr val="D9468F"/>
                </a:solidFill>
                <a:latin typeface="Arial" pitchFamily="34" charset="0"/>
                <a:ea typeface="Arial" pitchFamily="34" charset="-122"/>
                <a:cs typeface="Arial" pitchFamily="34" charset="-120"/>
              </a:rPr>
              <a:t>2</a:t>
            </a:r>
            <a:endParaRPr lang="en-US" sz="2000" dirty="0"/>
          </a:p>
        </p:txBody>
      </p:sp>
      <p:sp>
        <p:nvSpPr>
          <p:cNvPr id="17" name="Text 69"/>
          <p:cNvSpPr/>
          <p:nvPr/>
        </p:nvSpPr>
        <p:spPr>
          <a:xfrm>
            <a:off x="3017520" y="3474720"/>
            <a:ext cx="1783080" cy="41148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Rider searches</a:t>
            </a:r>
            <a:endParaRPr lang="en-US" sz="1600" dirty="0"/>
          </a:p>
        </p:txBody>
      </p:sp>
      <p:sp>
        <p:nvSpPr>
          <p:cNvPr id="18" name="Text 70"/>
          <p:cNvSpPr/>
          <p:nvPr/>
        </p:nvSpPr>
        <p:spPr>
          <a:xfrm>
            <a:off x="3017520" y="3931920"/>
            <a:ext cx="1783080" cy="155448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Matched anywhere along the route, ranked by distance, time, rating and reliability</a:t>
            </a:r>
            <a:endParaRPr lang="en-US" sz="1250" dirty="0"/>
          </a:p>
        </p:txBody>
      </p:sp>
      <p:sp>
        <p:nvSpPr>
          <p:cNvPr id="19" name="Icon 71"/>
          <p:cNvSpPr/>
          <p:nvPr/>
        </p:nvSpPr>
        <p:spPr>
          <a:xfrm>
            <a:off x="5779008" y="1783080"/>
            <a:ext cx="868680" cy="868680"/>
          </a:xfrm>
          <a:prstGeom prst="ellipse">
            <a:avLst/>
          </a:prstGeom>
          <a:solidFill>
            <a:srgbClr val="0B7A75"/>
          </a:solidFill>
          <a:ln w="12700">
            <a:solidFill>
              <a:srgbClr val="0B7A75"/>
            </a:solidFill>
            <a:prstDash val="solid"/>
          </a:ln>
        </p:spPr>
      </p:sp>
      <p:pic>
        <p:nvPicPr>
          <p:cNvPr id="20" name="Icon 71 glyph" descr="preencoded.png">    </p:cNvPr>
          <p:cNvPicPr>
            <a:picLocks noChangeAspect="1"/>
          </p:cNvPicPr>
          <p:nvPr/>
        </p:nvPicPr>
        <p:blipFill>
          <a:blip r:embed="rId3"/>
          <a:stretch>
            <a:fillRect/>
          </a:stretch>
        </p:blipFill>
        <p:spPr>
          <a:xfrm>
            <a:off x="5970118" y="1974190"/>
            <a:ext cx="486461" cy="486461"/>
          </a:xfrm>
          <a:prstGeom prst="rect">
            <a:avLst/>
          </a:prstGeom>
        </p:spPr>
      </p:pic>
      <p:sp>
        <p:nvSpPr>
          <p:cNvPr id="21" name="Arrow 72"/>
          <p:cNvSpPr/>
          <p:nvPr/>
        </p:nvSpPr>
        <p:spPr>
          <a:xfrm>
            <a:off x="6903720" y="2057400"/>
            <a:ext cx="411480" cy="320040"/>
          </a:xfrm>
          <a:prstGeom prst="rightArrow">
            <a:avLst/>
          </a:prstGeom>
          <a:solidFill>
            <a:srgbClr val="D5DBE3"/>
          </a:solidFill>
          <a:ln w="12700">
            <a:solidFill>
              <a:srgbClr val="D5DBE3"/>
            </a:solidFill>
            <a:prstDash val="solid"/>
          </a:ln>
        </p:spPr>
      </p:sp>
      <p:sp>
        <p:nvSpPr>
          <p:cNvPr id="22" name="Card 73"/>
          <p:cNvSpPr/>
          <p:nvPr/>
        </p:nvSpPr>
        <p:spPr>
          <a:xfrm>
            <a:off x="5120640" y="2926080"/>
            <a:ext cx="2103120" cy="265176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23" name="Text 74"/>
          <p:cNvSpPr/>
          <p:nvPr/>
        </p:nvSpPr>
        <p:spPr>
          <a:xfrm>
            <a:off x="5303520" y="3063240"/>
            <a:ext cx="457200" cy="365760"/>
          </a:xfrm>
          <a:prstGeom prst="rect">
            <a:avLst/>
          </a:prstGeom>
          <a:noFill/>
          <a:ln/>
        </p:spPr>
        <p:txBody>
          <a:bodyPr wrap="square" lIns="0" tIns="0" rIns="0" bIns="0" rtlCol="0" anchor="t"/>
          <a:lstStyle/>
          <a:p>
            <a:pPr indent="0" marL="0">
              <a:buNone/>
            </a:pPr>
            <a:r>
              <a:rPr lang="en-US" sz="2000" b="1" dirty="0">
                <a:solidFill>
                  <a:srgbClr val="0B7A75"/>
                </a:solidFill>
                <a:latin typeface="Arial" pitchFamily="34" charset="0"/>
                <a:ea typeface="Arial" pitchFamily="34" charset="-122"/>
                <a:cs typeface="Arial" pitchFamily="34" charset="-120"/>
              </a:rPr>
              <a:t>3</a:t>
            </a:r>
            <a:endParaRPr lang="en-US" sz="2000" dirty="0"/>
          </a:p>
        </p:txBody>
      </p:sp>
      <p:sp>
        <p:nvSpPr>
          <p:cNvPr id="24" name="Text 75"/>
          <p:cNvSpPr/>
          <p:nvPr/>
        </p:nvSpPr>
        <p:spPr>
          <a:xfrm>
            <a:off x="5303520" y="3474720"/>
            <a:ext cx="1783080" cy="41148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Books and pays</a:t>
            </a:r>
            <a:endParaRPr lang="en-US" sz="1600" dirty="0"/>
          </a:p>
        </p:txBody>
      </p:sp>
      <p:sp>
        <p:nvSpPr>
          <p:cNvPr id="25" name="Text 76"/>
          <p:cNvSpPr/>
          <p:nvPr/>
        </p:nvSpPr>
        <p:spPr>
          <a:xfrm>
            <a:off x="5303520" y="3931920"/>
            <a:ext cx="1783080" cy="155448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EcoCash, OneMoney, InnBucks, card or wallet. Unpaid requests close after 15 min</a:t>
            </a:r>
            <a:endParaRPr lang="en-US" sz="1250" dirty="0"/>
          </a:p>
        </p:txBody>
      </p:sp>
      <p:sp>
        <p:nvSpPr>
          <p:cNvPr id="26" name="Icon 77"/>
          <p:cNvSpPr/>
          <p:nvPr/>
        </p:nvSpPr>
        <p:spPr>
          <a:xfrm>
            <a:off x="8065008" y="1783080"/>
            <a:ext cx="868680" cy="868680"/>
          </a:xfrm>
          <a:prstGeom prst="ellipse">
            <a:avLst/>
          </a:prstGeom>
          <a:solidFill>
            <a:srgbClr val="D9468F"/>
          </a:solidFill>
          <a:ln w="12700">
            <a:solidFill>
              <a:srgbClr val="D9468F"/>
            </a:solidFill>
            <a:prstDash val="solid"/>
          </a:ln>
        </p:spPr>
      </p:sp>
      <p:pic>
        <p:nvPicPr>
          <p:cNvPr id="27" name="Icon 77 glyph" descr="preencoded.png">    </p:cNvPr>
          <p:cNvPicPr>
            <a:picLocks noChangeAspect="1"/>
          </p:cNvPicPr>
          <p:nvPr/>
        </p:nvPicPr>
        <p:blipFill>
          <a:blip r:embed="rId4"/>
          <a:stretch>
            <a:fillRect/>
          </a:stretch>
        </p:blipFill>
        <p:spPr>
          <a:xfrm>
            <a:off x="8256118" y="1974190"/>
            <a:ext cx="486461" cy="486461"/>
          </a:xfrm>
          <a:prstGeom prst="rect">
            <a:avLst/>
          </a:prstGeom>
        </p:spPr>
      </p:pic>
      <p:sp>
        <p:nvSpPr>
          <p:cNvPr id="28" name="Arrow 78"/>
          <p:cNvSpPr/>
          <p:nvPr/>
        </p:nvSpPr>
        <p:spPr>
          <a:xfrm>
            <a:off x="9189720" y="2057400"/>
            <a:ext cx="411480" cy="320040"/>
          </a:xfrm>
          <a:prstGeom prst="rightArrow">
            <a:avLst/>
          </a:prstGeom>
          <a:solidFill>
            <a:srgbClr val="D5DBE3"/>
          </a:solidFill>
          <a:ln w="12700">
            <a:solidFill>
              <a:srgbClr val="D5DBE3"/>
            </a:solidFill>
            <a:prstDash val="solid"/>
          </a:ln>
        </p:spPr>
      </p:sp>
      <p:sp>
        <p:nvSpPr>
          <p:cNvPr id="29" name="Card 79"/>
          <p:cNvSpPr/>
          <p:nvPr/>
        </p:nvSpPr>
        <p:spPr>
          <a:xfrm>
            <a:off x="7406640" y="2926080"/>
            <a:ext cx="2103120" cy="265176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30" name="Text 80"/>
          <p:cNvSpPr/>
          <p:nvPr/>
        </p:nvSpPr>
        <p:spPr>
          <a:xfrm>
            <a:off x="7589520" y="3063240"/>
            <a:ext cx="457200" cy="365760"/>
          </a:xfrm>
          <a:prstGeom prst="rect">
            <a:avLst/>
          </a:prstGeom>
          <a:noFill/>
          <a:ln/>
        </p:spPr>
        <p:txBody>
          <a:bodyPr wrap="square" lIns="0" tIns="0" rIns="0" bIns="0" rtlCol="0" anchor="t"/>
          <a:lstStyle/>
          <a:p>
            <a:pPr indent="0" marL="0">
              <a:buNone/>
            </a:pPr>
            <a:r>
              <a:rPr lang="en-US" sz="2000" b="1" dirty="0">
                <a:solidFill>
                  <a:srgbClr val="D9468F"/>
                </a:solidFill>
                <a:latin typeface="Arial" pitchFamily="34" charset="0"/>
                <a:ea typeface="Arial" pitchFamily="34" charset="-122"/>
                <a:cs typeface="Arial" pitchFamily="34" charset="-120"/>
              </a:rPr>
              <a:t>4</a:t>
            </a:r>
            <a:endParaRPr lang="en-US" sz="2000" dirty="0"/>
          </a:p>
        </p:txBody>
      </p:sp>
      <p:sp>
        <p:nvSpPr>
          <p:cNvPr id="31" name="Text 81"/>
          <p:cNvSpPr/>
          <p:nvPr/>
        </p:nvSpPr>
        <p:spPr>
          <a:xfrm>
            <a:off x="7589520" y="3474720"/>
            <a:ext cx="1783080" cy="41148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Rides live</a:t>
            </a:r>
            <a:endParaRPr lang="en-US" sz="1600" dirty="0"/>
          </a:p>
        </p:txBody>
      </p:sp>
      <p:sp>
        <p:nvSpPr>
          <p:cNvPr id="32" name="Text 82"/>
          <p:cNvSpPr/>
          <p:nvPr/>
        </p:nvSpPr>
        <p:spPr>
          <a:xfrm>
            <a:off x="7589520" y="3931920"/>
            <a:ext cx="1783080" cy="155448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Driver arrives, picks up, drops off; live map, SOS and check-ins throughout</a:t>
            </a:r>
            <a:endParaRPr lang="en-US" sz="1250" dirty="0"/>
          </a:p>
        </p:txBody>
      </p:sp>
      <p:sp>
        <p:nvSpPr>
          <p:cNvPr id="33" name="Icon 83"/>
          <p:cNvSpPr/>
          <p:nvPr/>
        </p:nvSpPr>
        <p:spPr>
          <a:xfrm>
            <a:off x="10351008" y="1783080"/>
            <a:ext cx="868680" cy="868680"/>
          </a:xfrm>
          <a:prstGeom prst="ellipse">
            <a:avLst/>
          </a:prstGeom>
          <a:solidFill>
            <a:srgbClr val="0B7A75"/>
          </a:solidFill>
          <a:ln w="12700">
            <a:solidFill>
              <a:srgbClr val="0B7A75"/>
            </a:solidFill>
            <a:prstDash val="solid"/>
          </a:ln>
        </p:spPr>
      </p:sp>
      <p:pic>
        <p:nvPicPr>
          <p:cNvPr id="34" name="Icon 83 glyph" descr="preencoded.png">    </p:cNvPr>
          <p:cNvPicPr>
            <a:picLocks noChangeAspect="1"/>
          </p:cNvPicPr>
          <p:nvPr/>
        </p:nvPicPr>
        <p:blipFill>
          <a:blip r:embed="rId5"/>
          <a:stretch>
            <a:fillRect/>
          </a:stretch>
        </p:blipFill>
        <p:spPr>
          <a:xfrm>
            <a:off x="10542118" y="1974190"/>
            <a:ext cx="486461" cy="486461"/>
          </a:xfrm>
          <a:prstGeom prst="rect">
            <a:avLst/>
          </a:prstGeom>
        </p:spPr>
      </p:pic>
      <p:sp>
        <p:nvSpPr>
          <p:cNvPr id="35" name="Card 84"/>
          <p:cNvSpPr/>
          <p:nvPr/>
        </p:nvSpPr>
        <p:spPr>
          <a:xfrm>
            <a:off x="9692640" y="2926080"/>
            <a:ext cx="2103120" cy="265176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36" name="Text 85"/>
          <p:cNvSpPr/>
          <p:nvPr/>
        </p:nvSpPr>
        <p:spPr>
          <a:xfrm>
            <a:off x="9875520" y="3063240"/>
            <a:ext cx="457200" cy="365760"/>
          </a:xfrm>
          <a:prstGeom prst="rect">
            <a:avLst/>
          </a:prstGeom>
          <a:noFill/>
          <a:ln/>
        </p:spPr>
        <p:txBody>
          <a:bodyPr wrap="square" lIns="0" tIns="0" rIns="0" bIns="0" rtlCol="0" anchor="t"/>
          <a:lstStyle/>
          <a:p>
            <a:pPr indent="0" marL="0">
              <a:buNone/>
            </a:pPr>
            <a:r>
              <a:rPr lang="en-US" sz="2000" b="1" dirty="0">
                <a:solidFill>
                  <a:srgbClr val="0B7A75"/>
                </a:solidFill>
                <a:latin typeface="Arial" pitchFamily="34" charset="0"/>
                <a:ea typeface="Arial" pitchFamily="34" charset="-122"/>
                <a:cs typeface="Arial" pitchFamily="34" charset="-120"/>
              </a:rPr>
              <a:t>5</a:t>
            </a:r>
            <a:endParaRPr lang="en-US" sz="2000" dirty="0"/>
          </a:p>
        </p:txBody>
      </p:sp>
      <p:sp>
        <p:nvSpPr>
          <p:cNvPr id="37" name="Text 86"/>
          <p:cNvSpPr/>
          <p:nvPr/>
        </p:nvSpPr>
        <p:spPr>
          <a:xfrm>
            <a:off x="9875520" y="3474720"/>
            <a:ext cx="1783080" cy="41148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Rates and settles</a:t>
            </a:r>
            <a:endParaRPr lang="en-US" sz="1600" dirty="0"/>
          </a:p>
        </p:txBody>
      </p:sp>
      <p:sp>
        <p:nvSpPr>
          <p:cNvPr id="38" name="Text 87"/>
          <p:cNvSpPr/>
          <p:nvPr/>
        </p:nvSpPr>
        <p:spPr>
          <a:xfrm>
            <a:off x="9875520" y="3931920"/>
            <a:ext cx="1783080" cy="1554480"/>
          </a:xfrm>
          <a:prstGeom prst="rect">
            <a:avLst/>
          </a:prstGeom>
          <a:noFill/>
          <a:ln/>
        </p:spPr>
        <p:txBody>
          <a:bodyPr wrap="square" lIns="0" tIns="0" rIns="0" bIns="0" rtlCol="0" anchor="t"/>
          <a:lstStyle/>
          <a:p>
            <a:pPr indent="0" marL="0">
              <a:buNone/>
            </a:pPr>
            <a:r>
              <a:rPr lang="en-US" sz="1250" dirty="0">
                <a:solidFill>
                  <a:srgbClr val="5B6475"/>
                </a:solidFill>
                <a:latin typeface="Calibri" pitchFamily="34" charset="0"/>
                <a:ea typeface="Calibri" pitchFamily="34" charset="-122"/>
                <a:cs typeface="Calibri" pitchFamily="34" charset="-120"/>
              </a:rPr>
              <a:t>Both rate each other; the driver's share (fare less 15%) goes to their wallet</a:t>
            </a:r>
            <a:endParaRPr lang="en-US" sz="1250" dirty="0"/>
          </a:p>
        </p:txBody>
      </p:sp>
      <p:pic>
        <p:nvPicPr>
          <p:cNvPr id="39" name="Mark 88" descr="/home/ghost/Desktop/Projects/Poolora/branding/poolora-icon.png">    </p:cNvPr>
          <p:cNvPicPr>
            <a:picLocks noChangeAspect="1"/>
          </p:cNvPicPr>
          <p:nvPr/>
        </p:nvPicPr>
        <p:blipFill>
          <a:blip r:embed="rId6"/>
          <a:stretch>
            <a:fillRect/>
          </a:stretch>
        </p:blipFill>
        <p:spPr>
          <a:xfrm>
            <a:off x="11368735" y="6355080"/>
            <a:ext cx="310896" cy="310896"/>
          </a:xfrm>
          <a:prstGeom prst="rect">
            <a:avLst/>
          </a:prstGeom>
        </p:spPr>
      </p:pic>
      <p:sp>
        <p:nvSpPr>
          <p:cNvPr id="40" name="Text 3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6</a:t>
            </a:r>
            <a:endParaRPr lang="en-US" sz="1100" dirty="0"/>
          </a:p>
        </p:txBody>
      </p:sp>
      <p:sp>
        <p:nvSpPr>
          <p:cNvPr id="41" name="Text 3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5" fill="hold">
                      <p:stCondLst>
                        <p:cond delay="indefinite"/>
                        <p:cond evt="onBegin" delay="0">
                          <p:tn val="2"/>
                        </p:cond>
                      </p:stCondLst>
                      <p:childTnLst>
                        <p:par>
                          <p:cTn id="166"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ppt_y+.1"/>
                                          </p:val>
                                        </p:tav>
                                        <p:tav tm="100000">
                                          <p:val>
                                            <p:strVal val="#ppt_y"/>
                                          </p:val>
                                        </p:tav>
                                      </p:tavLst>
                                    </p:anim>
                                  </p:childTnLst>
                                </p:cTn>
                              </p:par>
                              <p:par>
                                <p:cTn id="33" presetID="10" presetClass="entr" presetSubtype="0"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42" presetClass="entr" presetSubtype="0" fill="hold" grpId="0" nodeType="withEffect">
                                  <p:stCondLst>
                                    <p:cond delay="2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25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25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25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25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00"/>
                                        <p:tgtEl>
                                          <p:spTgt spid="17"/>
                                        </p:tgtEl>
                                      </p:cBhvr>
                                    </p:animEffec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25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anim calcmode="lin" valueType="num">
                                      <p:cBhvr additive="base">
                                        <p:cTn id="64" dur="500" fill="hold"/>
                                        <p:tgtEl>
                                          <p:spTgt spid="18"/>
                                        </p:tgtEl>
                                        <p:attrNameLst>
                                          <p:attrName>ppt_x</p:attrName>
                                        </p:attrNameLst>
                                      </p:cBhvr>
                                      <p:tavLst>
                                        <p:tav tm="0">
                                          <p:val>
                                            <p:strVal val="#ppt_x"/>
                                          </p:val>
                                        </p:tav>
                                        <p:tav tm="100000">
                                          <p:val>
                                            <p:strVal val="#ppt_x"/>
                                          </p:val>
                                        </p:tav>
                                      </p:tavLst>
                                    </p:anim>
                                    <p:anim calcmode="lin" valueType="num">
                                      <p:cBhvr additive="base">
                                        <p:cTn id="65" dur="500" fill="hold"/>
                                        <p:tgtEl>
                                          <p:spTgt spid="18"/>
                                        </p:tgtEl>
                                        <p:attrNameLst>
                                          <p:attrName>ppt_y</p:attrName>
                                        </p:attrNameLst>
                                      </p:cBhvr>
                                      <p:tavLst>
                                        <p:tav tm="0">
                                          <p:val>
                                            <p:strVal val="#ppt_y+.1"/>
                                          </p:val>
                                        </p:tav>
                                        <p:tav tm="100000">
                                          <p:val>
                                            <p:strVal val="#ppt_y"/>
                                          </p:val>
                                        </p:tav>
                                      </p:tavLst>
                                    </p:anim>
                                  </p:childTnLst>
                                </p:cTn>
                              </p:par>
                              <p:par>
                                <p:cTn id="66" presetID="10" presetClass="entr" presetSubtype="0" fill="hold" grpId="0" nodeType="withEffect">
                                  <p:stCondLst>
                                    <p:cond delay="45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42" presetClass="entr" presetSubtype="0" fill="hold" grpId="0" nodeType="withEffect">
                                  <p:stCondLst>
                                    <p:cond delay="50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50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50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anim calcmode="lin" valueType="num">
                                      <p:cBhvr additive="base">
                                        <p:cTn id="82" dur="500" fill="hold"/>
                                        <p:tgtEl>
                                          <p:spTgt spid="22"/>
                                        </p:tgtEl>
                                        <p:attrNameLst>
                                          <p:attrName>ppt_x</p:attrName>
                                        </p:attrNameLst>
                                      </p:cBhvr>
                                      <p:tavLst>
                                        <p:tav tm="0">
                                          <p:val>
                                            <p:strVal val="#ppt_x"/>
                                          </p:val>
                                        </p:tav>
                                        <p:tav tm="100000">
                                          <p:val>
                                            <p:strVal val="#ppt_x"/>
                                          </p:val>
                                        </p:tav>
                                      </p:tavLst>
                                    </p:anim>
                                    <p:anim calcmode="lin" valueType="num">
                                      <p:cBhvr additive="base">
                                        <p:cTn id="83" dur="500" fill="hold"/>
                                        <p:tgtEl>
                                          <p:spTgt spid="22"/>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50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50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500"/>
                                        <p:tgtEl>
                                          <p:spTgt spid="24"/>
                                        </p:tgtEl>
                                      </p:cBhvr>
                                    </p:animEffect>
                                    <p:anim calcmode="lin" valueType="num">
                                      <p:cBhvr additive="base">
                                        <p:cTn id="92" dur="500" fill="hold"/>
                                        <p:tgtEl>
                                          <p:spTgt spid="24"/>
                                        </p:tgtEl>
                                        <p:attrNameLst>
                                          <p:attrName>ppt_x</p:attrName>
                                        </p:attrNameLst>
                                      </p:cBhvr>
                                      <p:tavLst>
                                        <p:tav tm="0">
                                          <p:val>
                                            <p:strVal val="#ppt_x"/>
                                          </p:val>
                                        </p:tav>
                                        <p:tav tm="100000">
                                          <p:val>
                                            <p:strVal val="#ppt_x"/>
                                          </p:val>
                                        </p:tav>
                                      </p:tavLst>
                                    </p:anim>
                                    <p:anim calcmode="lin" valueType="num">
                                      <p:cBhvr additive="base">
                                        <p:cTn id="93" dur="500" fill="hold"/>
                                        <p:tgtEl>
                                          <p:spTgt spid="24"/>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50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anim calcmode="lin" valueType="num">
                                      <p:cBhvr additive="base">
                                        <p:cTn id="97" dur="500" fill="hold"/>
                                        <p:tgtEl>
                                          <p:spTgt spid="25"/>
                                        </p:tgtEl>
                                        <p:attrNameLst>
                                          <p:attrName>ppt_x</p:attrName>
                                        </p:attrNameLst>
                                      </p:cBhvr>
                                      <p:tavLst>
                                        <p:tav tm="0">
                                          <p:val>
                                            <p:strVal val="#ppt_x"/>
                                          </p:val>
                                        </p:tav>
                                        <p:tav tm="100000">
                                          <p:val>
                                            <p:strVal val="#ppt_x"/>
                                          </p:val>
                                        </p:tav>
                                      </p:tavLst>
                                    </p:anim>
                                    <p:anim calcmode="lin" valueType="num">
                                      <p:cBhvr additive="base">
                                        <p:cTn id="98" dur="500" fill="hold"/>
                                        <p:tgtEl>
                                          <p:spTgt spid="25"/>
                                        </p:tgtEl>
                                        <p:attrNameLst>
                                          <p:attrName>ppt_y</p:attrName>
                                        </p:attrNameLst>
                                      </p:cBhvr>
                                      <p:tavLst>
                                        <p:tav tm="0">
                                          <p:val>
                                            <p:strVal val="#ppt_y+.1"/>
                                          </p:val>
                                        </p:tav>
                                        <p:tav tm="100000">
                                          <p:val>
                                            <p:strVal val="#ppt_y"/>
                                          </p:val>
                                        </p:tav>
                                      </p:tavLst>
                                    </p:anim>
                                  </p:childTnLst>
                                </p:cTn>
                              </p:par>
                              <p:par>
                                <p:cTn id="99" presetID="10" presetClass="entr" presetSubtype="0" fill="hold" grpId="0" nodeType="withEffect">
                                  <p:stCondLst>
                                    <p:cond delay="70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childTnLst>
                                </p:cTn>
                              </p:par>
                              <p:par>
                                <p:cTn id="102" presetID="42" presetClass="entr" presetSubtype="0" fill="hold" grpId="0" nodeType="withEffect">
                                  <p:stCondLst>
                                    <p:cond delay="75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500"/>
                                        <p:tgtEl>
                                          <p:spTgt spid="26"/>
                                        </p:tgtEl>
                                      </p:cBhvr>
                                    </p:animEffect>
                                    <p:anim calcmode="lin" valueType="num">
                                      <p:cBhvr additive="base">
                                        <p:cTn id="105" dur="500" fill="hold"/>
                                        <p:tgtEl>
                                          <p:spTgt spid="26"/>
                                        </p:tgtEl>
                                        <p:attrNameLst>
                                          <p:attrName>ppt_x</p:attrName>
                                        </p:attrNameLst>
                                      </p:cBhvr>
                                      <p:tavLst>
                                        <p:tav tm="0">
                                          <p:val>
                                            <p:strVal val="#ppt_x"/>
                                          </p:val>
                                        </p:tav>
                                        <p:tav tm="100000">
                                          <p:val>
                                            <p:strVal val="#ppt_x"/>
                                          </p:val>
                                        </p:tav>
                                      </p:tavLst>
                                    </p:anim>
                                    <p:anim calcmode="lin" valueType="num">
                                      <p:cBhvr additive="base">
                                        <p:cTn id="106" dur="500" fill="hold"/>
                                        <p:tgtEl>
                                          <p:spTgt spid="26"/>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75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500"/>
                                        <p:tgtEl>
                                          <p:spTgt spid="27"/>
                                        </p:tgtEl>
                                      </p:cBhvr>
                                    </p:animEffect>
                                    <p:anim calcmode="lin" valueType="num">
                                      <p:cBhvr additive="base">
                                        <p:cTn id="110" dur="500" fill="hold"/>
                                        <p:tgtEl>
                                          <p:spTgt spid="27"/>
                                        </p:tgtEl>
                                        <p:attrNameLst>
                                          <p:attrName>ppt_x</p:attrName>
                                        </p:attrNameLst>
                                      </p:cBhvr>
                                      <p:tavLst>
                                        <p:tav tm="0">
                                          <p:val>
                                            <p:strVal val="#ppt_x"/>
                                          </p:val>
                                        </p:tav>
                                        <p:tav tm="100000">
                                          <p:val>
                                            <p:strVal val="#ppt_x"/>
                                          </p:val>
                                        </p:tav>
                                      </p:tavLst>
                                    </p:anim>
                                    <p:anim calcmode="lin" valueType="num">
                                      <p:cBhvr additive="base">
                                        <p:cTn id="111" dur="500" fill="hold"/>
                                        <p:tgtEl>
                                          <p:spTgt spid="27"/>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75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500"/>
                                        <p:tgtEl>
                                          <p:spTgt spid="29"/>
                                        </p:tgtEl>
                                      </p:cBhvr>
                                    </p:animEffect>
                                    <p:anim calcmode="lin" valueType="num">
                                      <p:cBhvr additive="base">
                                        <p:cTn id="115" dur="500" fill="hold"/>
                                        <p:tgtEl>
                                          <p:spTgt spid="29"/>
                                        </p:tgtEl>
                                        <p:attrNameLst>
                                          <p:attrName>ppt_x</p:attrName>
                                        </p:attrNameLst>
                                      </p:cBhvr>
                                      <p:tavLst>
                                        <p:tav tm="0">
                                          <p:val>
                                            <p:strVal val="#ppt_x"/>
                                          </p:val>
                                        </p:tav>
                                        <p:tav tm="100000">
                                          <p:val>
                                            <p:strVal val="#ppt_x"/>
                                          </p:val>
                                        </p:tav>
                                      </p:tavLst>
                                    </p:anim>
                                    <p:anim calcmode="lin" valueType="num">
                                      <p:cBhvr additive="base">
                                        <p:cTn id="116" dur="500" fill="hold"/>
                                        <p:tgtEl>
                                          <p:spTgt spid="2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75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19" dur="500"/>
                                        <p:tgtEl>
                                          <p:spTgt spid="30"/>
                                        </p:tgtEl>
                                      </p:cBhvr>
                                    </p:animEffect>
                                    <p:anim calcmode="lin" valueType="num">
                                      <p:cBhvr additive="base">
                                        <p:cTn id="120" dur="500" fill="hold"/>
                                        <p:tgtEl>
                                          <p:spTgt spid="30"/>
                                        </p:tgtEl>
                                        <p:attrNameLst>
                                          <p:attrName>ppt_x</p:attrName>
                                        </p:attrNameLst>
                                      </p:cBhvr>
                                      <p:tavLst>
                                        <p:tav tm="0">
                                          <p:val>
                                            <p:strVal val="#ppt_x"/>
                                          </p:val>
                                        </p:tav>
                                        <p:tav tm="100000">
                                          <p:val>
                                            <p:strVal val="#ppt_x"/>
                                          </p:val>
                                        </p:tav>
                                      </p:tavLst>
                                    </p:anim>
                                    <p:anim calcmode="lin" valueType="num">
                                      <p:cBhvr additive="base">
                                        <p:cTn id="121" dur="500" fill="hold"/>
                                        <p:tgtEl>
                                          <p:spTgt spid="30"/>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75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500"/>
                                        <p:tgtEl>
                                          <p:spTgt spid="31"/>
                                        </p:tgtEl>
                                      </p:cBhvr>
                                    </p:animEffect>
                                    <p:anim calcmode="lin" valueType="num">
                                      <p:cBhvr additive="base">
                                        <p:cTn id="125" dur="500" fill="hold"/>
                                        <p:tgtEl>
                                          <p:spTgt spid="31"/>
                                        </p:tgtEl>
                                        <p:attrNameLst>
                                          <p:attrName>ppt_x</p:attrName>
                                        </p:attrNameLst>
                                      </p:cBhvr>
                                      <p:tavLst>
                                        <p:tav tm="0">
                                          <p:val>
                                            <p:strVal val="#ppt_x"/>
                                          </p:val>
                                        </p:tav>
                                        <p:tav tm="100000">
                                          <p:val>
                                            <p:strVal val="#ppt_x"/>
                                          </p:val>
                                        </p:tav>
                                      </p:tavLst>
                                    </p:anim>
                                    <p:anim calcmode="lin" valueType="num">
                                      <p:cBhvr additive="base">
                                        <p:cTn id="126" dur="500" fill="hold"/>
                                        <p:tgtEl>
                                          <p:spTgt spid="31"/>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7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500"/>
                                        <p:tgtEl>
                                          <p:spTgt spid="32"/>
                                        </p:tgtEl>
                                      </p:cBhvr>
                                    </p:animEffect>
                                    <p:anim calcmode="lin" valueType="num">
                                      <p:cBhvr additive="base">
                                        <p:cTn id="130" dur="500" fill="hold"/>
                                        <p:tgtEl>
                                          <p:spTgt spid="32"/>
                                        </p:tgtEl>
                                        <p:attrNameLst>
                                          <p:attrName>ppt_x</p:attrName>
                                        </p:attrNameLst>
                                      </p:cBhvr>
                                      <p:tavLst>
                                        <p:tav tm="0">
                                          <p:val>
                                            <p:strVal val="#ppt_x"/>
                                          </p:val>
                                        </p:tav>
                                        <p:tav tm="100000">
                                          <p:val>
                                            <p:strVal val="#ppt_x"/>
                                          </p:val>
                                        </p:tav>
                                      </p:tavLst>
                                    </p:anim>
                                    <p:anim calcmode="lin" valueType="num">
                                      <p:cBhvr additive="base">
                                        <p:cTn id="131" dur="500" fill="hold"/>
                                        <p:tgtEl>
                                          <p:spTgt spid="32"/>
                                        </p:tgtEl>
                                        <p:attrNameLst>
                                          <p:attrName>ppt_y</p:attrName>
                                        </p:attrNameLst>
                                      </p:cBhvr>
                                      <p:tavLst>
                                        <p:tav tm="0">
                                          <p:val>
                                            <p:strVal val="#ppt_y+.1"/>
                                          </p:val>
                                        </p:tav>
                                        <p:tav tm="100000">
                                          <p:val>
                                            <p:strVal val="#ppt_y"/>
                                          </p:val>
                                        </p:tav>
                                      </p:tavLst>
                                    </p:anim>
                                  </p:childTnLst>
                                </p:cTn>
                              </p:par>
                              <p:par>
                                <p:cTn id="132" presetID="10" presetClass="entr" presetSubtype="0" fill="hold" grpId="0" nodeType="withEffect">
                                  <p:stCondLst>
                                    <p:cond delay="95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500"/>
                                        <p:tgtEl>
                                          <p:spTgt spid="28"/>
                                        </p:tgtEl>
                                      </p:cBhvr>
                                    </p:animEffect>
                                  </p:childTnLst>
                                </p:cTn>
                              </p:par>
                              <p:par>
                                <p:cTn id="135" presetID="42" presetClass="entr" presetSubtype="0" fill="hold" grpId="0" nodeType="withEffect">
                                  <p:stCondLst>
                                    <p:cond delay="1000"/>
                                  </p:stCondLst>
                                  <p:childTnLst>
                                    <p:set>
                                      <p:cBhvr>
                                        <p:cTn id="136" dur="1" fill="hold">
                                          <p:stCondLst>
                                            <p:cond delay="0"/>
                                          </p:stCondLst>
                                        </p:cTn>
                                        <p:tgtEl>
                                          <p:spTgt spid="33"/>
                                        </p:tgtEl>
                                        <p:attrNameLst>
                                          <p:attrName>style.visibility</p:attrName>
                                        </p:attrNameLst>
                                      </p:cBhvr>
                                      <p:to>
                                        <p:strVal val="visible"/>
                                      </p:to>
                                    </p:set>
                                    <p:animEffect transition="in" filter="fade">
                                      <p:cBhvr>
                                        <p:cTn id="137" dur="500"/>
                                        <p:tgtEl>
                                          <p:spTgt spid="33"/>
                                        </p:tgtEl>
                                      </p:cBhvr>
                                    </p:animEffect>
                                    <p:anim calcmode="lin" valueType="num">
                                      <p:cBhvr additive="base">
                                        <p:cTn id="138" dur="500" fill="hold"/>
                                        <p:tgtEl>
                                          <p:spTgt spid="33"/>
                                        </p:tgtEl>
                                        <p:attrNameLst>
                                          <p:attrName>ppt_x</p:attrName>
                                        </p:attrNameLst>
                                      </p:cBhvr>
                                      <p:tavLst>
                                        <p:tav tm="0">
                                          <p:val>
                                            <p:strVal val="#ppt_x"/>
                                          </p:val>
                                        </p:tav>
                                        <p:tav tm="100000">
                                          <p:val>
                                            <p:strVal val="#ppt_x"/>
                                          </p:val>
                                        </p:tav>
                                      </p:tavLst>
                                    </p:anim>
                                    <p:anim calcmode="lin" valueType="num">
                                      <p:cBhvr additive="base">
                                        <p:cTn id="139" dur="500" fill="hold"/>
                                        <p:tgtEl>
                                          <p:spTgt spid="33"/>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1000"/>
                                  </p:stCondLst>
                                  <p:childTnLst>
                                    <p:set>
                                      <p:cBhvr>
                                        <p:cTn id="141" dur="1" fill="hold">
                                          <p:stCondLst>
                                            <p:cond delay="0"/>
                                          </p:stCondLst>
                                        </p:cTn>
                                        <p:tgtEl>
                                          <p:spTgt spid="34"/>
                                        </p:tgtEl>
                                        <p:attrNameLst>
                                          <p:attrName>style.visibility</p:attrName>
                                        </p:attrNameLst>
                                      </p:cBhvr>
                                      <p:to>
                                        <p:strVal val="visible"/>
                                      </p:to>
                                    </p:set>
                                    <p:animEffect transition="in" filter="fade">
                                      <p:cBhvr>
                                        <p:cTn id="142" dur="500"/>
                                        <p:tgtEl>
                                          <p:spTgt spid="34"/>
                                        </p:tgtEl>
                                      </p:cBhvr>
                                    </p:animEffect>
                                    <p:anim calcmode="lin" valueType="num">
                                      <p:cBhvr additive="base">
                                        <p:cTn id="143" dur="500" fill="hold"/>
                                        <p:tgtEl>
                                          <p:spTgt spid="34"/>
                                        </p:tgtEl>
                                        <p:attrNameLst>
                                          <p:attrName>ppt_x</p:attrName>
                                        </p:attrNameLst>
                                      </p:cBhvr>
                                      <p:tavLst>
                                        <p:tav tm="0">
                                          <p:val>
                                            <p:strVal val="#ppt_x"/>
                                          </p:val>
                                        </p:tav>
                                        <p:tav tm="100000">
                                          <p:val>
                                            <p:strVal val="#ppt_x"/>
                                          </p:val>
                                        </p:tav>
                                      </p:tavLst>
                                    </p:anim>
                                    <p:anim calcmode="lin" valueType="num">
                                      <p:cBhvr additive="base">
                                        <p:cTn id="144" dur="500" fill="hold"/>
                                        <p:tgtEl>
                                          <p:spTgt spid="34"/>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1000"/>
                                  </p:stCondLst>
                                  <p:childTnLst>
                                    <p:set>
                                      <p:cBhvr>
                                        <p:cTn id="146" dur="1" fill="hold">
                                          <p:stCondLst>
                                            <p:cond delay="0"/>
                                          </p:stCondLst>
                                        </p:cTn>
                                        <p:tgtEl>
                                          <p:spTgt spid="35"/>
                                        </p:tgtEl>
                                        <p:attrNameLst>
                                          <p:attrName>style.visibility</p:attrName>
                                        </p:attrNameLst>
                                      </p:cBhvr>
                                      <p:to>
                                        <p:strVal val="visible"/>
                                      </p:to>
                                    </p:set>
                                    <p:animEffect transition="in" filter="fade">
                                      <p:cBhvr>
                                        <p:cTn id="147" dur="500"/>
                                        <p:tgtEl>
                                          <p:spTgt spid="35"/>
                                        </p:tgtEl>
                                      </p:cBhvr>
                                    </p:animEffect>
                                    <p:anim calcmode="lin" valueType="num">
                                      <p:cBhvr additive="base">
                                        <p:cTn id="148" dur="500" fill="hold"/>
                                        <p:tgtEl>
                                          <p:spTgt spid="35"/>
                                        </p:tgtEl>
                                        <p:attrNameLst>
                                          <p:attrName>ppt_x</p:attrName>
                                        </p:attrNameLst>
                                      </p:cBhvr>
                                      <p:tavLst>
                                        <p:tav tm="0">
                                          <p:val>
                                            <p:strVal val="#ppt_x"/>
                                          </p:val>
                                        </p:tav>
                                        <p:tav tm="100000">
                                          <p:val>
                                            <p:strVal val="#ppt_x"/>
                                          </p:val>
                                        </p:tav>
                                      </p:tavLst>
                                    </p:anim>
                                    <p:anim calcmode="lin" valueType="num">
                                      <p:cBhvr additive="base">
                                        <p:cTn id="149" dur="500" fill="hold"/>
                                        <p:tgtEl>
                                          <p:spTgt spid="35"/>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1000"/>
                                  </p:stCondLst>
                                  <p:childTnLst>
                                    <p:set>
                                      <p:cBhvr>
                                        <p:cTn id="151" dur="1" fill="hold">
                                          <p:stCondLst>
                                            <p:cond delay="0"/>
                                          </p:stCondLst>
                                        </p:cTn>
                                        <p:tgtEl>
                                          <p:spTgt spid="36"/>
                                        </p:tgtEl>
                                        <p:attrNameLst>
                                          <p:attrName>style.visibility</p:attrName>
                                        </p:attrNameLst>
                                      </p:cBhvr>
                                      <p:to>
                                        <p:strVal val="visible"/>
                                      </p:to>
                                    </p:set>
                                    <p:animEffect transition="in" filter="fade">
                                      <p:cBhvr>
                                        <p:cTn id="152" dur="500"/>
                                        <p:tgtEl>
                                          <p:spTgt spid="36"/>
                                        </p:tgtEl>
                                      </p:cBhvr>
                                    </p:animEffect>
                                    <p:anim calcmode="lin" valueType="num">
                                      <p:cBhvr additive="base">
                                        <p:cTn id="153" dur="500" fill="hold"/>
                                        <p:tgtEl>
                                          <p:spTgt spid="36"/>
                                        </p:tgtEl>
                                        <p:attrNameLst>
                                          <p:attrName>ppt_x</p:attrName>
                                        </p:attrNameLst>
                                      </p:cBhvr>
                                      <p:tavLst>
                                        <p:tav tm="0">
                                          <p:val>
                                            <p:strVal val="#ppt_x"/>
                                          </p:val>
                                        </p:tav>
                                        <p:tav tm="100000">
                                          <p:val>
                                            <p:strVal val="#ppt_x"/>
                                          </p:val>
                                        </p:tav>
                                      </p:tavLst>
                                    </p:anim>
                                    <p:anim calcmode="lin" valueType="num">
                                      <p:cBhvr additive="base">
                                        <p:cTn id="154" dur="500" fill="hold"/>
                                        <p:tgtEl>
                                          <p:spTgt spid="36"/>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1000"/>
                                  </p:stCondLst>
                                  <p:childTnLst>
                                    <p:set>
                                      <p:cBhvr>
                                        <p:cTn id="156" dur="1" fill="hold">
                                          <p:stCondLst>
                                            <p:cond delay="0"/>
                                          </p:stCondLst>
                                        </p:cTn>
                                        <p:tgtEl>
                                          <p:spTgt spid="37"/>
                                        </p:tgtEl>
                                        <p:attrNameLst>
                                          <p:attrName>style.visibility</p:attrName>
                                        </p:attrNameLst>
                                      </p:cBhvr>
                                      <p:to>
                                        <p:strVal val="visible"/>
                                      </p:to>
                                    </p:set>
                                    <p:animEffect transition="in" filter="fade">
                                      <p:cBhvr>
                                        <p:cTn id="157" dur="500"/>
                                        <p:tgtEl>
                                          <p:spTgt spid="37"/>
                                        </p:tgtEl>
                                      </p:cBhvr>
                                    </p:animEffect>
                                    <p:anim calcmode="lin" valueType="num">
                                      <p:cBhvr additive="base">
                                        <p:cTn id="158" dur="500" fill="hold"/>
                                        <p:tgtEl>
                                          <p:spTgt spid="37"/>
                                        </p:tgtEl>
                                        <p:attrNameLst>
                                          <p:attrName>ppt_x</p:attrName>
                                        </p:attrNameLst>
                                      </p:cBhvr>
                                      <p:tavLst>
                                        <p:tav tm="0">
                                          <p:val>
                                            <p:strVal val="#ppt_x"/>
                                          </p:val>
                                        </p:tav>
                                        <p:tav tm="100000">
                                          <p:val>
                                            <p:strVal val="#ppt_x"/>
                                          </p:val>
                                        </p:tav>
                                      </p:tavLst>
                                    </p:anim>
                                    <p:anim calcmode="lin" valueType="num">
                                      <p:cBhvr additive="base">
                                        <p:cTn id="159" dur="500" fill="hold"/>
                                        <p:tgtEl>
                                          <p:spTgt spid="37"/>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1000"/>
                                  </p:stCondLst>
                                  <p:childTnLst>
                                    <p:set>
                                      <p:cBhvr>
                                        <p:cTn id="161" dur="1" fill="hold">
                                          <p:stCondLst>
                                            <p:cond delay="0"/>
                                          </p:stCondLst>
                                        </p:cTn>
                                        <p:tgtEl>
                                          <p:spTgt spid="38"/>
                                        </p:tgtEl>
                                        <p:attrNameLst>
                                          <p:attrName>style.visibility</p:attrName>
                                        </p:attrNameLst>
                                      </p:cBhvr>
                                      <p:to>
                                        <p:strVal val="visible"/>
                                      </p:to>
                                    </p:set>
                                    <p:animEffect transition="in" filter="fade">
                                      <p:cBhvr>
                                        <p:cTn id="162" dur="500"/>
                                        <p:tgtEl>
                                          <p:spTgt spid="38"/>
                                        </p:tgtEl>
                                      </p:cBhvr>
                                    </p:animEffect>
                                    <p:anim calcmode="lin" valueType="num">
                                      <p:cBhvr additive="base">
                                        <p:cTn id="163" dur="500" fill="hold"/>
                                        <p:tgtEl>
                                          <p:spTgt spid="38"/>
                                        </p:tgtEl>
                                        <p:attrNameLst>
                                          <p:attrName>ppt_x</p:attrName>
                                        </p:attrNameLst>
                                      </p:cBhvr>
                                      <p:tavLst>
                                        <p:tav tm="0">
                                          <p:val>
                                            <p:strVal val="#ppt_x"/>
                                          </p:val>
                                        </p:tav>
                                        <p:tav tm="100000">
                                          <p:val>
                                            <p:strVal val="#ppt_x"/>
                                          </p:val>
                                        </p:tav>
                                      </p:tavLst>
                                    </p:anim>
                                    <p:anim calcmode="lin" valueType="num">
                                      <p:cBhvr additive="base">
                                        <p:cTn id="164"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7" grpId="0" animBg="1"/>
      <p:bldP spid="12" grpId="0" animBg="1"/>
      <p:bldP spid="15" grpId="0" animBg="1"/>
      <p:bldP spid="16" grpId="0" animBg="1"/>
      <p:bldP spid="17" grpId="0" animBg="1"/>
      <p:bldP spid="18" grpId="0" animBg="1"/>
      <p:bldP spid="14" grpId="0" animBg="1"/>
      <p:bldP spid="19" grpId="0" animBg="1"/>
      <p:bldP spid="22" grpId="0" animBg="1"/>
      <p:bldP spid="23" grpId="0" animBg="1"/>
      <p:bldP spid="24" grpId="0" animBg="1"/>
      <p:bldP spid="25" grpId="0" animBg="1"/>
      <p:bldP spid="21" grpId="0" animBg="1"/>
      <p:bldP spid="26" grpId="0" animBg="1"/>
      <p:bldP spid="29" grpId="0" animBg="1"/>
      <p:bldP spid="30" grpId="0" animBg="1"/>
      <p:bldP spid="31" grpId="0" animBg="1"/>
      <p:bldP spid="32" grpId="0" animBg="1"/>
      <p:bldP spid="28" grpId="0" animBg="1"/>
      <p:bldP spid="33" grpId="0" animBg="1"/>
      <p:bldP spid="35" grpId="0" animBg="1"/>
      <p:bldP spid="36" grpId="0" animBg="1"/>
      <p:bldP spid="37"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3" name="Title 89"/>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Find a ride</a:t>
            </a:r>
            <a:endParaRPr lang="en-US" sz="3000" dirty="0"/>
          </a:p>
        </p:txBody>
      </p:sp>
      <p:sp>
        <p:nvSpPr>
          <p:cNvPr id="4" name="Subtitle 90"/>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Search from where you are; results show every kind of vehicle going your way.</a:t>
            </a:r>
            <a:endParaRPr lang="en-US" sz="1600" dirty="0"/>
          </a:p>
        </p:txBody>
      </p:sp>
      <p:pic>
        <p:nvPicPr>
          <p:cNvPr id="5" name="!!Phone 1" descr="/home/ghost/Desktop/Projects/Poolora/Doc/presentation/screens/frames/home.png">    </p:cNvPr>
          <p:cNvPicPr>
            <a:picLocks noChangeAspect="1"/>
          </p:cNvPicPr>
          <p:nvPr/>
        </p:nvPicPr>
        <p:blipFill>
          <a:blip r:embed="rId1"/>
          <a:stretch>
            <a:fillRect/>
          </a:stretch>
        </p:blipFill>
        <p:spPr>
          <a:xfrm>
            <a:off x="822960" y="1417320"/>
            <a:ext cx="2732632" cy="4892040"/>
          </a:xfrm>
          <a:prstGeom prst="rect">
            <a:avLst/>
          </a:prstGeom>
        </p:spPr>
      </p:pic>
      <p:pic>
        <p:nvPicPr>
          <p:cNvPr id="6" name="!!Phone 2" descr="/home/ghost/Desktop/Projects/Poolora/Doc/presentation/screens/frames/results.png">    </p:cNvPr>
          <p:cNvPicPr>
            <a:picLocks noChangeAspect="1"/>
          </p:cNvPicPr>
          <p:nvPr/>
        </p:nvPicPr>
        <p:blipFill>
          <a:blip r:embed="rId2"/>
          <a:stretch>
            <a:fillRect/>
          </a:stretch>
        </p:blipFill>
        <p:spPr>
          <a:xfrm>
            <a:off x="6070192" y="1417320"/>
            <a:ext cx="2940293" cy="4892040"/>
          </a:xfrm>
          <a:prstGeom prst="rect">
            <a:avLst/>
          </a:prstGeom>
        </p:spPr>
      </p:pic>
      <p:sp>
        <p:nvSpPr>
          <p:cNvPr id="7" name="Callout dot 91"/>
          <p:cNvSpPr/>
          <p:nvPr/>
        </p:nvSpPr>
        <p:spPr>
          <a:xfrm>
            <a:off x="3046633" y="3658660"/>
            <a:ext cx="146304" cy="146304"/>
          </a:xfrm>
          <a:prstGeom prst="ellipse">
            <a:avLst/>
          </a:prstGeom>
          <a:solidFill>
            <a:srgbClr val="D9468F"/>
          </a:solidFill>
          <a:ln w="19050">
            <a:solidFill>
              <a:srgbClr val="FFFFFF"/>
            </a:solidFill>
            <a:prstDash val="solid"/>
          </a:ln>
        </p:spPr>
      </p:sp>
      <p:sp>
        <p:nvSpPr>
          <p:cNvPr id="8" name="Callout line 92"/>
          <p:cNvSpPr/>
          <p:nvPr/>
        </p:nvSpPr>
        <p:spPr>
          <a:xfrm flipV="1">
            <a:off x="3119785" y="2908852"/>
            <a:ext cx="664408" cy="822960"/>
          </a:xfrm>
          <a:prstGeom prst="line">
            <a:avLst/>
          </a:prstGeom>
          <a:noFill/>
          <a:ln w="15875">
            <a:solidFill>
              <a:srgbClr val="D9468F"/>
            </a:solidFill>
            <a:prstDash val="solid"/>
          </a:ln>
        </p:spPr>
      </p:sp>
      <p:sp>
        <p:nvSpPr>
          <p:cNvPr id="9" name="Callout label 93"/>
          <p:cNvSpPr/>
          <p:nvPr/>
        </p:nvSpPr>
        <p:spPr>
          <a:xfrm>
            <a:off x="3784192" y="2597956"/>
            <a:ext cx="210312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Search any place in Zimbabwe (OpenStreetMap)</a:t>
            </a:r>
            <a:endParaRPr lang="en-US" sz="1200" dirty="0"/>
          </a:p>
        </p:txBody>
      </p:sp>
      <p:sp>
        <p:nvSpPr>
          <p:cNvPr id="10" name="Callout dot 94"/>
          <p:cNvSpPr/>
          <p:nvPr/>
        </p:nvSpPr>
        <p:spPr>
          <a:xfrm>
            <a:off x="3046633" y="5342998"/>
            <a:ext cx="146304" cy="146304"/>
          </a:xfrm>
          <a:prstGeom prst="ellipse">
            <a:avLst/>
          </a:prstGeom>
          <a:solidFill>
            <a:srgbClr val="D9468F"/>
          </a:solidFill>
          <a:ln w="19050">
            <a:solidFill>
              <a:srgbClr val="FFFFFF"/>
            </a:solidFill>
            <a:prstDash val="solid"/>
          </a:ln>
        </p:spPr>
      </p:sp>
      <p:sp>
        <p:nvSpPr>
          <p:cNvPr id="11" name="Callout line 95"/>
          <p:cNvSpPr/>
          <p:nvPr/>
        </p:nvSpPr>
        <p:spPr>
          <a:xfrm>
            <a:off x="3119785" y="5416150"/>
            <a:ext cx="664408" cy="457200"/>
          </a:xfrm>
          <a:prstGeom prst="line">
            <a:avLst/>
          </a:prstGeom>
          <a:noFill/>
          <a:ln w="15875">
            <a:solidFill>
              <a:srgbClr val="D9468F"/>
            </a:solidFill>
            <a:prstDash val="solid"/>
          </a:ln>
        </p:spPr>
      </p:sp>
      <p:sp>
        <p:nvSpPr>
          <p:cNvPr id="12" name="Callout label 96"/>
          <p:cNvSpPr/>
          <p:nvPr/>
        </p:nvSpPr>
        <p:spPr>
          <a:xfrm>
            <a:off x="3784192" y="5562454"/>
            <a:ext cx="210312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Car, SUV and bakkie, minivan, auto (tuk-tuk), bike</a:t>
            </a:r>
            <a:endParaRPr lang="en-US" sz="1200" dirty="0"/>
          </a:p>
        </p:txBody>
      </p:sp>
      <p:sp>
        <p:nvSpPr>
          <p:cNvPr id="13" name="Callout dot 97"/>
          <p:cNvSpPr/>
          <p:nvPr/>
        </p:nvSpPr>
        <p:spPr>
          <a:xfrm>
            <a:off x="6795482" y="3566286"/>
            <a:ext cx="146304" cy="146304"/>
          </a:xfrm>
          <a:prstGeom prst="ellipse">
            <a:avLst/>
          </a:prstGeom>
          <a:solidFill>
            <a:srgbClr val="D9468F"/>
          </a:solidFill>
          <a:ln w="19050">
            <a:solidFill>
              <a:srgbClr val="FFFFFF"/>
            </a:solidFill>
            <a:prstDash val="solid"/>
          </a:ln>
        </p:spPr>
      </p:sp>
      <p:sp>
        <p:nvSpPr>
          <p:cNvPr id="14" name="Callout line 98"/>
          <p:cNvSpPr/>
          <p:nvPr/>
        </p:nvSpPr>
        <p:spPr>
          <a:xfrm flipV="1">
            <a:off x="6868634" y="3365118"/>
            <a:ext cx="2370452" cy="274320"/>
          </a:xfrm>
          <a:prstGeom prst="line">
            <a:avLst/>
          </a:prstGeom>
          <a:noFill/>
          <a:ln w="15875">
            <a:solidFill>
              <a:srgbClr val="D9468F"/>
            </a:solidFill>
            <a:prstDash val="solid"/>
          </a:ln>
        </p:spPr>
      </p:sp>
      <p:sp>
        <p:nvSpPr>
          <p:cNvPr id="15" name="Callout label 99"/>
          <p:cNvSpPr/>
          <p:nvPr/>
        </p:nvSpPr>
        <p:spPr>
          <a:xfrm>
            <a:off x="9239086" y="3054222"/>
            <a:ext cx="237744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Filter by vehicle; sort by time, price or rating</a:t>
            </a:r>
            <a:endParaRPr lang="en-US" sz="1200" dirty="0"/>
          </a:p>
        </p:txBody>
      </p:sp>
      <p:sp>
        <p:nvSpPr>
          <p:cNvPr id="16" name="Callout dot 100"/>
          <p:cNvSpPr/>
          <p:nvPr/>
        </p:nvSpPr>
        <p:spPr>
          <a:xfrm>
            <a:off x="8438836" y="4216869"/>
            <a:ext cx="146304" cy="146304"/>
          </a:xfrm>
          <a:prstGeom prst="ellipse">
            <a:avLst/>
          </a:prstGeom>
          <a:solidFill>
            <a:srgbClr val="D9468F"/>
          </a:solidFill>
          <a:ln w="19050">
            <a:solidFill>
              <a:srgbClr val="FFFFFF"/>
            </a:solidFill>
            <a:prstDash val="solid"/>
          </a:ln>
        </p:spPr>
      </p:sp>
      <p:sp>
        <p:nvSpPr>
          <p:cNvPr id="17" name="Callout line 101"/>
          <p:cNvSpPr/>
          <p:nvPr/>
        </p:nvSpPr>
        <p:spPr>
          <a:xfrm>
            <a:off x="8511988" y="4290021"/>
            <a:ext cx="727098" cy="320040"/>
          </a:xfrm>
          <a:prstGeom prst="line">
            <a:avLst/>
          </a:prstGeom>
          <a:noFill/>
          <a:ln w="15875">
            <a:solidFill>
              <a:srgbClr val="D9468F"/>
            </a:solidFill>
            <a:prstDash val="solid"/>
          </a:ln>
        </p:spPr>
      </p:sp>
      <p:sp>
        <p:nvSpPr>
          <p:cNvPr id="18" name="Callout label 102"/>
          <p:cNvSpPr/>
          <p:nvPr/>
        </p:nvSpPr>
        <p:spPr>
          <a:xfrm>
            <a:off x="9239086" y="4299165"/>
            <a:ext cx="237744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Seat prices in US dollars; US$1 for about 11 km</a:t>
            </a:r>
            <a:endParaRPr lang="en-US" sz="1200" dirty="0"/>
          </a:p>
        </p:txBody>
      </p:sp>
      <p:pic>
        <p:nvPicPr>
          <p:cNvPr id="19" name="Mark 103" descr="/home/ghost/Desktop/Projects/Poolora/branding/poolora-icon.png">    </p:cNvPr>
          <p:cNvPicPr>
            <a:picLocks noChangeAspect="1"/>
          </p:cNvPicPr>
          <p:nvPr/>
        </p:nvPicPr>
        <p:blipFill>
          <a:blip r:embed="rId3"/>
          <a:stretch>
            <a:fillRect/>
          </a:stretch>
        </p:blipFill>
        <p:spPr>
          <a:xfrm>
            <a:off x="11368735" y="6355080"/>
            <a:ext cx="310896" cy="310896"/>
          </a:xfrm>
          <a:prstGeom prst="rect">
            <a:avLst/>
          </a:prstGeom>
        </p:spPr>
      </p:pic>
      <p:sp>
        <p:nvSpPr>
          <p:cNvPr id="20" name="Text 14"/>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7</a:t>
            </a:r>
            <a:endParaRPr lang="en-US" sz="1100" dirty="0"/>
          </a:p>
        </p:txBody>
      </p:sp>
      <p:sp>
        <p:nvSpPr>
          <p:cNvPr id="21" name="Text 15"/>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57" fill="hold">
                      <p:stCondLst>
                        <p:cond delay="indefinite"/>
                        <p:cond evt="onBegin" delay="0">
                          <p:tn val="2"/>
                        </p:cond>
                      </p:stCondLst>
                      <p:childTnLst>
                        <p:par>
                          <p:cTn id="58"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100000">
                                          <p:val>
                                            <p:strVal val="#ppt_h"/>
                                          </p:val>
                                        </p:tav>
                                      </p:tavLst>
                                    </p:anim>
                                    <p:animEffect transition="in" filter="fade">
                                      <p:cBhvr>
                                        <p:cTn id="12" dur="600"/>
                                        <p:tgtEl>
                                          <p:spTgt spid="6"/>
                                        </p:tgtEl>
                                      </p:cBhvr>
                                    </p:animEffect>
                                  </p:childTnLst>
                                </p:cTn>
                              </p:par>
                              <p:par>
                                <p:cTn id="13" presetID="53" presetClass="entr" presetSubtype="16" fill="hold" grpId="0" nodeType="withEffect">
                                  <p:stCondLst>
                                    <p:cond delay="9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300" fill="hold"/>
                                        <p:tgtEl>
                                          <p:spTgt spid="7"/>
                                        </p:tgtEl>
                                        <p:attrNameLst>
                                          <p:attrName>ppt_w</p:attrName>
                                        </p:attrNameLst>
                                      </p:cBhvr>
                                      <p:tavLst>
                                        <p:tav tm="0">
                                          <p:val>
                                            <p:strVal val="0"/>
                                          </p:val>
                                        </p:tav>
                                        <p:tav tm="100000">
                                          <p:val>
                                            <p:strVal val="#ppt_w"/>
                                          </p:val>
                                        </p:tav>
                                      </p:tavLst>
                                    </p:anim>
                                    <p:anim calcmode="lin" valueType="num">
                                      <p:cBhvr additive="base">
                                        <p:cTn id="16" dur="300" fill="hold"/>
                                        <p:tgtEl>
                                          <p:spTgt spid="7"/>
                                        </p:tgtEl>
                                        <p:attrNameLst>
                                          <p:attrName>ppt_h</p:attrName>
                                        </p:attrNameLst>
                                      </p:cBhvr>
                                      <p:tavLst>
                                        <p:tav tm="0">
                                          <p:val>
                                            <p:strVal val="0"/>
                                          </p:val>
                                        </p:tav>
                                        <p:tav tm="100000">
                                          <p:val>
                                            <p:strVal val="#ppt_h"/>
                                          </p:val>
                                        </p:tav>
                                      </p:tavLst>
                                    </p:anim>
                                    <p:animEffect transition="in" filter="fade">
                                      <p:cBhvr>
                                        <p:cTn id="17" dur="300"/>
                                        <p:tgtEl>
                                          <p:spTgt spid="7"/>
                                        </p:tgtEl>
                                      </p:cBhvr>
                                    </p:animEffect>
                                  </p:childTnLst>
                                </p:cTn>
                              </p:par>
                              <p:par>
                                <p:cTn id="18" presetID="10" presetClass="entr" presetSubtype="0" fill="hold" grpId="0" nodeType="withEffect">
                                  <p:stCondLst>
                                    <p:cond delay="10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300"/>
                                        <p:tgtEl>
                                          <p:spTgt spid="8"/>
                                        </p:tgtEl>
                                      </p:cBhvr>
                                    </p:animEffect>
                                  </p:childTnLst>
                                </p:cTn>
                              </p:par>
                              <p:par>
                                <p:cTn id="21" presetID="10" presetClass="entr" presetSubtype="0" fill="hold" grpId="0" nodeType="withEffect">
                                  <p:stCondLst>
                                    <p:cond delay="11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53" presetClass="entr" presetSubtype="16" fill="hold" grpId="0" nodeType="withEffect">
                                  <p:stCondLst>
                                    <p:cond delay="13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300" fill="hold"/>
                                        <p:tgtEl>
                                          <p:spTgt spid="10"/>
                                        </p:tgtEl>
                                        <p:attrNameLst>
                                          <p:attrName>ppt_w</p:attrName>
                                        </p:attrNameLst>
                                      </p:cBhvr>
                                      <p:tavLst>
                                        <p:tav tm="0">
                                          <p:val>
                                            <p:strVal val="0"/>
                                          </p:val>
                                        </p:tav>
                                        <p:tav tm="100000">
                                          <p:val>
                                            <p:strVal val="#ppt_w"/>
                                          </p:val>
                                        </p:tav>
                                      </p:tavLst>
                                    </p:anim>
                                    <p:anim calcmode="lin" valueType="num">
                                      <p:cBhvr additive="base">
                                        <p:cTn id="27" dur="300" fill="hold"/>
                                        <p:tgtEl>
                                          <p:spTgt spid="10"/>
                                        </p:tgtEl>
                                        <p:attrNameLst>
                                          <p:attrName>ppt_h</p:attrName>
                                        </p:attrNameLst>
                                      </p:cBhvr>
                                      <p:tavLst>
                                        <p:tav tm="0">
                                          <p:val>
                                            <p:strVal val="0"/>
                                          </p:val>
                                        </p:tav>
                                        <p:tav tm="100000">
                                          <p:val>
                                            <p:strVal val="#ppt_h"/>
                                          </p:val>
                                        </p:tav>
                                      </p:tavLst>
                                    </p:anim>
                                    <p:animEffect transition="in" filter="fade">
                                      <p:cBhvr>
                                        <p:cTn id="28" dur="300"/>
                                        <p:tgtEl>
                                          <p:spTgt spid="10"/>
                                        </p:tgtEl>
                                      </p:cBhvr>
                                    </p:animEffect>
                                  </p:childTnLst>
                                </p:cTn>
                              </p:par>
                              <p:par>
                                <p:cTn id="29" presetID="10" presetClass="entr" presetSubtype="0" fill="hold" grpId="0" nodeType="withEffect">
                                  <p:stCondLst>
                                    <p:cond delay="145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00"/>
                                        <p:tgtEl>
                                          <p:spTgt spid="11"/>
                                        </p:tgtEl>
                                      </p:cBhvr>
                                    </p:animEffect>
                                  </p:childTnLst>
                                </p:cTn>
                              </p:par>
                              <p:par>
                                <p:cTn id="32" presetID="10" presetClass="entr" presetSubtype="0" fill="hold" grpId="0" nodeType="withEffect">
                                  <p:stCondLst>
                                    <p:cond delay="15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par>
                                <p:cTn id="35" presetID="53" presetClass="entr" presetSubtype="16" fill="hold" grpId="0" nodeType="withEffect">
                                  <p:stCondLst>
                                    <p:cond delay="170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300" fill="hold"/>
                                        <p:tgtEl>
                                          <p:spTgt spid="13"/>
                                        </p:tgtEl>
                                        <p:attrNameLst>
                                          <p:attrName>ppt_w</p:attrName>
                                        </p:attrNameLst>
                                      </p:cBhvr>
                                      <p:tavLst>
                                        <p:tav tm="0">
                                          <p:val>
                                            <p:strVal val="0"/>
                                          </p:val>
                                        </p:tav>
                                        <p:tav tm="100000">
                                          <p:val>
                                            <p:strVal val="#ppt_w"/>
                                          </p:val>
                                        </p:tav>
                                      </p:tavLst>
                                    </p:anim>
                                    <p:anim calcmode="lin" valueType="num">
                                      <p:cBhvr additive="base">
                                        <p:cTn id="38" dur="300" fill="hold"/>
                                        <p:tgtEl>
                                          <p:spTgt spid="13"/>
                                        </p:tgtEl>
                                        <p:attrNameLst>
                                          <p:attrName>ppt_h</p:attrName>
                                        </p:attrNameLst>
                                      </p:cBhvr>
                                      <p:tavLst>
                                        <p:tav tm="0">
                                          <p:val>
                                            <p:strVal val="0"/>
                                          </p:val>
                                        </p:tav>
                                        <p:tav tm="100000">
                                          <p:val>
                                            <p:strVal val="#ppt_h"/>
                                          </p:val>
                                        </p:tav>
                                      </p:tavLst>
                                    </p:anim>
                                    <p:animEffect transition="in" filter="fade">
                                      <p:cBhvr>
                                        <p:cTn id="39" dur="300"/>
                                        <p:tgtEl>
                                          <p:spTgt spid="13"/>
                                        </p:tgtEl>
                                      </p:cBhvr>
                                    </p:animEffect>
                                  </p:childTnLst>
                                </p:cTn>
                              </p:par>
                              <p:par>
                                <p:cTn id="40" presetID="10" presetClass="entr" presetSubtype="0" fill="hold" grpId="0" nodeType="withEffect">
                                  <p:stCondLst>
                                    <p:cond delay="18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300"/>
                                        <p:tgtEl>
                                          <p:spTgt spid="14"/>
                                        </p:tgtEl>
                                      </p:cBhvr>
                                    </p:animEffect>
                                  </p:childTnLst>
                                </p:cTn>
                              </p:par>
                              <p:par>
                                <p:cTn id="43" presetID="10" presetClass="entr" presetSubtype="0" fill="hold" grpId="0" nodeType="withEffect">
                                  <p:stCondLst>
                                    <p:cond delay="195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53" presetClass="entr" presetSubtype="16" fill="hold" grpId="0" nodeType="withEffect">
                                  <p:stCondLst>
                                    <p:cond delay="210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300" fill="hold"/>
                                        <p:tgtEl>
                                          <p:spTgt spid="16"/>
                                        </p:tgtEl>
                                        <p:attrNameLst>
                                          <p:attrName>ppt_w</p:attrName>
                                        </p:attrNameLst>
                                      </p:cBhvr>
                                      <p:tavLst>
                                        <p:tav tm="0">
                                          <p:val>
                                            <p:strVal val="0"/>
                                          </p:val>
                                        </p:tav>
                                        <p:tav tm="100000">
                                          <p:val>
                                            <p:strVal val="#ppt_w"/>
                                          </p:val>
                                        </p:tav>
                                      </p:tavLst>
                                    </p:anim>
                                    <p:anim calcmode="lin" valueType="num">
                                      <p:cBhvr additive="base">
                                        <p:cTn id="49" dur="300" fill="hold"/>
                                        <p:tgtEl>
                                          <p:spTgt spid="16"/>
                                        </p:tgtEl>
                                        <p:attrNameLst>
                                          <p:attrName>ppt_h</p:attrName>
                                        </p:attrNameLst>
                                      </p:cBhvr>
                                      <p:tavLst>
                                        <p:tav tm="0">
                                          <p:val>
                                            <p:strVal val="0"/>
                                          </p:val>
                                        </p:tav>
                                        <p:tav tm="100000">
                                          <p:val>
                                            <p:strVal val="#ppt_h"/>
                                          </p:val>
                                        </p:tav>
                                      </p:tavLst>
                                    </p:anim>
                                    <p:animEffect transition="in" filter="fade">
                                      <p:cBhvr>
                                        <p:cTn id="50" dur="300"/>
                                        <p:tgtEl>
                                          <p:spTgt spid="16"/>
                                        </p:tgtEl>
                                      </p:cBhvr>
                                    </p:animEffect>
                                  </p:childTnLst>
                                </p:cTn>
                              </p:par>
                              <p:par>
                                <p:cTn id="51" presetID="10" presetClass="entr" presetSubtype="0" fill="hold" grpId="0" nodeType="withEffect">
                                  <p:stCondLst>
                                    <p:cond delay="225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00"/>
                                        <p:tgtEl>
                                          <p:spTgt spid="17"/>
                                        </p:tgtEl>
                                      </p:cBhvr>
                                    </p:animEffect>
                                  </p:childTnLst>
                                </p:cTn>
                              </p:par>
                              <p:par>
                                <p:cTn id="54" presetID="10" presetClass="entr" presetSubtype="0" fill="hold" grpId="0" nodeType="withEffect">
                                  <p:stCondLst>
                                    <p:cond delay="235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3" name="Title 104"/>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Book and pay</a:t>
            </a:r>
            <a:endParaRPr lang="en-US" sz="3000" dirty="0"/>
          </a:p>
        </p:txBody>
      </p:sp>
      <p:sp>
        <p:nvSpPr>
          <p:cNvPr id="4" name="Subtitle 105"/>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See the driver and the route, choose seats, pay by mobile money or card through Paynow.</a:t>
            </a:r>
            <a:endParaRPr lang="en-US" sz="1600" dirty="0"/>
          </a:p>
        </p:txBody>
      </p:sp>
      <p:pic>
        <p:nvPicPr>
          <p:cNvPr id="5" name="!!Phone 1" descr="/home/ghost/Desktop/Projects/Poolora/Doc/presentation/screens/frames/ride_detail.png">    </p:cNvPr>
          <p:cNvPicPr>
            <a:picLocks noChangeAspect="1"/>
          </p:cNvPicPr>
          <p:nvPr/>
        </p:nvPicPr>
        <p:blipFill>
          <a:blip r:embed="rId1"/>
          <a:stretch>
            <a:fillRect/>
          </a:stretch>
        </p:blipFill>
        <p:spPr>
          <a:xfrm>
            <a:off x="695344" y="1554480"/>
            <a:ext cx="2314688" cy="4526280"/>
          </a:xfrm>
          <a:prstGeom prst="rect">
            <a:avLst/>
          </a:prstGeom>
        </p:spPr>
      </p:pic>
      <p:pic>
        <p:nvPicPr>
          <p:cNvPr id="6" name="!!Phone 2" descr="/home/ghost/Desktop/Projects/Poolora/Doc/presentation/screens/frames/booking.png">    </p:cNvPr>
          <p:cNvPicPr>
            <a:picLocks noChangeAspect="1"/>
          </p:cNvPicPr>
          <p:nvPr/>
        </p:nvPicPr>
        <p:blipFill>
          <a:blip r:embed="rId2"/>
          <a:stretch>
            <a:fillRect/>
          </a:stretch>
        </p:blipFill>
        <p:spPr>
          <a:xfrm>
            <a:off x="4884552" y="1554480"/>
            <a:ext cx="2368640" cy="4526280"/>
          </a:xfrm>
          <a:prstGeom prst="rect">
            <a:avLst/>
          </a:prstGeom>
        </p:spPr>
      </p:pic>
      <p:pic>
        <p:nvPicPr>
          <p:cNvPr id="7" name="!!Phone 3" descr="/home/ghost/Desktop/Projects/Poolora/Doc/presentation/screens/frames/payment.png">    </p:cNvPr>
          <p:cNvPicPr>
            <a:picLocks noChangeAspect="1"/>
          </p:cNvPicPr>
          <p:nvPr/>
        </p:nvPicPr>
        <p:blipFill>
          <a:blip r:embed="rId3"/>
          <a:stretch>
            <a:fillRect/>
          </a:stretch>
        </p:blipFill>
        <p:spPr>
          <a:xfrm>
            <a:off x="9127712" y="1554480"/>
            <a:ext cx="2368640" cy="4526280"/>
          </a:xfrm>
          <a:prstGeom prst="rect">
            <a:avLst/>
          </a:prstGeom>
        </p:spPr>
      </p:pic>
      <p:sp>
        <p:nvSpPr>
          <p:cNvPr id="8" name="Callout dot 106"/>
          <p:cNvSpPr/>
          <p:nvPr/>
        </p:nvSpPr>
        <p:spPr>
          <a:xfrm>
            <a:off x="9711381" y="3448388"/>
            <a:ext cx="146304" cy="146304"/>
          </a:xfrm>
          <a:prstGeom prst="ellipse">
            <a:avLst/>
          </a:prstGeom>
          <a:solidFill>
            <a:srgbClr val="D9468F"/>
          </a:solidFill>
          <a:ln w="19050">
            <a:solidFill>
              <a:srgbClr val="FFFFFF"/>
            </a:solidFill>
            <a:prstDash val="solid"/>
          </a:ln>
        </p:spPr>
      </p:sp>
      <p:sp>
        <p:nvSpPr>
          <p:cNvPr id="9" name="Callout line 107"/>
          <p:cNvSpPr/>
          <p:nvPr/>
        </p:nvSpPr>
        <p:spPr>
          <a:xfrm>
            <a:off x="8899112" y="3521540"/>
            <a:ext cx="885421" cy="365760"/>
          </a:xfrm>
          <a:prstGeom prst="line">
            <a:avLst/>
          </a:prstGeom>
          <a:noFill/>
          <a:ln w="15875">
            <a:solidFill>
              <a:srgbClr val="D9468F"/>
            </a:solidFill>
            <a:prstDash val="solid"/>
          </a:ln>
        </p:spPr>
      </p:sp>
      <p:sp>
        <p:nvSpPr>
          <p:cNvPr id="10" name="Callout label 108"/>
          <p:cNvSpPr/>
          <p:nvPr/>
        </p:nvSpPr>
        <p:spPr>
          <a:xfrm>
            <a:off x="7344632" y="3484964"/>
            <a:ext cx="1554480" cy="749808"/>
          </a:xfrm>
          <a:prstGeom prst="roundRect">
            <a:avLst>
              <a:gd name="adj" fmla="val 9756"/>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EcoCash, OneMoney, InnBucks or card, in US$ or ZiG</a:t>
            </a:r>
            <a:endParaRPr lang="en-US" sz="1200" dirty="0"/>
          </a:p>
        </p:txBody>
      </p:sp>
      <p:sp>
        <p:nvSpPr>
          <p:cNvPr id="11" name="Callout dot 109"/>
          <p:cNvSpPr/>
          <p:nvPr/>
        </p:nvSpPr>
        <p:spPr>
          <a:xfrm>
            <a:off x="2511190" y="3445155"/>
            <a:ext cx="146304" cy="146304"/>
          </a:xfrm>
          <a:prstGeom prst="ellipse">
            <a:avLst/>
          </a:prstGeom>
          <a:solidFill>
            <a:srgbClr val="D9468F"/>
          </a:solidFill>
          <a:ln w="19050">
            <a:solidFill>
              <a:srgbClr val="FFFFFF"/>
            </a:solidFill>
            <a:prstDash val="solid"/>
          </a:ln>
        </p:spPr>
      </p:sp>
      <p:sp>
        <p:nvSpPr>
          <p:cNvPr id="12" name="Callout line 110"/>
          <p:cNvSpPr/>
          <p:nvPr/>
        </p:nvSpPr>
        <p:spPr>
          <a:xfrm flipV="1">
            <a:off x="2584342" y="3335427"/>
            <a:ext cx="654290" cy="182880"/>
          </a:xfrm>
          <a:prstGeom prst="line">
            <a:avLst/>
          </a:prstGeom>
          <a:noFill/>
          <a:ln w="15875">
            <a:solidFill>
              <a:srgbClr val="D9468F"/>
            </a:solidFill>
            <a:prstDash val="solid"/>
          </a:ln>
        </p:spPr>
      </p:sp>
      <p:sp>
        <p:nvSpPr>
          <p:cNvPr id="13" name="Callout label 111"/>
          <p:cNvSpPr/>
          <p:nvPr/>
        </p:nvSpPr>
        <p:spPr>
          <a:xfrm>
            <a:off x="3238632" y="3024531"/>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Verified driver, rating and trips</a:t>
            </a:r>
            <a:endParaRPr lang="en-US" sz="1200" dirty="0"/>
          </a:p>
        </p:txBody>
      </p:sp>
      <p:pic>
        <p:nvPicPr>
          <p:cNvPr id="14" name="Mark 112" descr="/home/ghost/Desktop/Projects/Poolora/branding/poolora-icon.png">    </p:cNvPr>
          <p:cNvPicPr>
            <a:picLocks noChangeAspect="1"/>
          </p:cNvPicPr>
          <p:nvPr/>
        </p:nvPicPr>
        <p:blipFill>
          <a:blip r:embed="rId4"/>
          <a:stretch>
            <a:fillRect/>
          </a:stretch>
        </p:blipFill>
        <p:spPr>
          <a:xfrm>
            <a:off x="11368735" y="6355080"/>
            <a:ext cx="310896" cy="310896"/>
          </a:xfrm>
          <a:prstGeom prst="rect">
            <a:avLst/>
          </a:prstGeom>
        </p:spPr>
      </p:pic>
      <p:sp>
        <p:nvSpPr>
          <p:cNvPr id="15" name="Text 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8</a:t>
            </a:r>
            <a:endParaRPr lang="en-US" sz="1100" dirty="0"/>
          </a:p>
        </p:txBody>
      </p:sp>
      <p:sp>
        <p:nvSpPr>
          <p:cNvPr id="16" name="Text 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41"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100000">
                                          <p:val>
                                            <p:strVal val="#ppt_h"/>
                                          </p:val>
                                        </p:tav>
                                      </p:tavLst>
                                    </p:anim>
                                    <p:animEffect transition="in" filter="fade">
                                      <p:cBhvr>
                                        <p:cTn id="12" dur="600"/>
                                        <p:tgtEl>
                                          <p:spTgt spid="6"/>
                                        </p:tgtEl>
                                      </p:cBhvr>
                                    </p:animEffect>
                                  </p:childTnLst>
                                </p:cTn>
                              </p:par>
                              <p:par>
                                <p:cTn id="13" presetID="53" presetClass="entr" presetSubtype="16"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600" fill="hold"/>
                                        <p:tgtEl>
                                          <p:spTgt spid="7"/>
                                        </p:tgtEl>
                                        <p:attrNameLst>
                                          <p:attrName>ppt_w</p:attrName>
                                        </p:attrNameLst>
                                      </p:cBhvr>
                                      <p:tavLst>
                                        <p:tav tm="0">
                                          <p:val>
                                            <p:strVal val="0"/>
                                          </p:val>
                                        </p:tav>
                                        <p:tav tm="100000">
                                          <p:val>
                                            <p:strVal val="#ppt_w"/>
                                          </p:val>
                                        </p:tav>
                                      </p:tavLst>
                                    </p:anim>
                                    <p:anim calcmode="lin" valueType="num">
                                      <p:cBhvr additive="base">
                                        <p:cTn id="16" dur="600" fill="hold"/>
                                        <p:tgtEl>
                                          <p:spTgt spid="7"/>
                                        </p:tgtEl>
                                        <p:attrNameLst>
                                          <p:attrName>ppt_h</p:attrName>
                                        </p:attrNameLst>
                                      </p:cBhvr>
                                      <p:tavLst>
                                        <p:tav tm="0">
                                          <p:val>
                                            <p:strVal val="0"/>
                                          </p:val>
                                        </p:tav>
                                        <p:tav tm="100000">
                                          <p:val>
                                            <p:strVal val="#ppt_h"/>
                                          </p:val>
                                        </p:tav>
                                      </p:tavLst>
                                    </p:anim>
                                    <p:animEffect transition="in" filter="fade">
                                      <p:cBhvr>
                                        <p:cTn id="17" dur="600"/>
                                        <p:tgtEl>
                                          <p:spTgt spid="7"/>
                                        </p:tgtEl>
                                      </p:cBhvr>
                                    </p:animEffect>
                                  </p:childTnLst>
                                </p:cTn>
                              </p:par>
                              <p:par>
                                <p:cTn id="18" presetID="53" presetClass="entr" presetSubtype="16" fill="hold" grpId="0" nodeType="withEffect">
                                  <p:stCondLst>
                                    <p:cond delay="11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300" fill="hold"/>
                                        <p:tgtEl>
                                          <p:spTgt spid="8"/>
                                        </p:tgtEl>
                                        <p:attrNameLst>
                                          <p:attrName>ppt_w</p:attrName>
                                        </p:attrNameLst>
                                      </p:cBhvr>
                                      <p:tavLst>
                                        <p:tav tm="0">
                                          <p:val>
                                            <p:strVal val="0"/>
                                          </p:val>
                                        </p:tav>
                                        <p:tav tm="100000">
                                          <p:val>
                                            <p:strVal val="#ppt_w"/>
                                          </p:val>
                                        </p:tav>
                                      </p:tavLst>
                                    </p:anim>
                                    <p:anim calcmode="lin" valueType="num">
                                      <p:cBhvr additive="base">
                                        <p:cTn id="21" dur="300" fill="hold"/>
                                        <p:tgtEl>
                                          <p:spTgt spid="8"/>
                                        </p:tgtEl>
                                        <p:attrNameLst>
                                          <p:attrName>ppt_h</p:attrName>
                                        </p:attrNameLst>
                                      </p:cBhvr>
                                      <p:tavLst>
                                        <p:tav tm="0">
                                          <p:val>
                                            <p:strVal val="0"/>
                                          </p:val>
                                        </p:tav>
                                        <p:tav tm="100000">
                                          <p:val>
                                            <p:strVal val="#ppt_h"/>
                                          </p:val>
                                        </p:tav>
                                      </p:tavLst>
                                    </p:anim>
                                    <p:animEffect transition="in" filter="fade">
                                      <p:cBhvr>
                                        <p:cTn id="22" dur="300"/>
                                        <p:tgtEl>
                                          <p:spTgt spid="8"/>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13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53" presetClass="entr" presetSubtype="16" fill="hold" grpId="0" nodeType="withEffect">
                                  <p:stCondLst>
                                    <p:cond delay="1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300" fill="hold"/>
                                        <p:tgtEl>
                                          <p:spTgt spid="11"/>
                                        </p:tgtEl>
                                        <p:attrNameLst>
                                          <p:attrName>ppt_w</p:attrName>
                                        </p:attrNameLst>
                                      </p:cBhvr>
                                      <p:tavLst>
                                        <p:tav tm="0">
                                          <p:val>
                                            <p:strVal val="0"/>
                                          </p:val>
                                        </p:tav>
                                        <p:tav tm="100000">
                                          <p:val>
                                            <p:strVal val="#ppt_w"/>
                                          </p:val>
                                        </p:tav>
                                      </p:tavLst>
                                    </p:anim>
                                    <p:anim calcmode="lin" valueType="num">
                                      <p:cBhvr additive="base">
                                        <p:cTn id="32" dur="300" fill="hold"/>
                                        <p:tgtEl>
                                          <p:spTgt spid="11"/>
                                        </p:tgtEl>
                                        <p:attrNameLst>
                                          <p:attrName>ppt_h</p:attrName>
                                        </p:attrNameLst>
                                      </p:cBhvr>
                                      <p:tavLst>
                                        <p:tav tm="0">
                                          <p:val>
                                            <p:strVal val="0"/>
                                          </p:val>
                                        </p:tav>
                                        <p:tav tm="100000">
                                          <p:val>
                                            <p:strVal val="#ppt_h"/>
                                          </p:val>
                                        </p:tav>
                                      </p:tavLst>
                                    </p:anim>
                                    <p:animEffect transition="in" filter="fade">
                                      <p:cBhvr>
                                        <p:cTn id="33" dur="300"/>
                                        <p:tgtEl>
                                          <p:spTgt spid="11"/>
                                        </p:tgtEl>
                                      </p:cBhvr>
                                    </p:animEffect>
                                  </p:childTnLst>
                                </p:cTn>
                              </p:par>
                              <p:par>
                                <p:cTn id="34" presetID="10" presetClass="entr" presetSubtype="0" fill="hold" grpId="0" nodeType="withEffect">
                                  <p:stCondLst>
                                    <p:cond delay="16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300"/>
                                        <p:tgtEl>
                                          <p:spTgt spid="12"/>
                                        </p:tgtEl>
                                      </p:cBhvr>
                                    </p:animEffect>
                                  </p:childTnLst>
                                </p:cTn>
                              </p:par>
                              <p:par>
                                <p:cTn id="37" presetID="10" presetClass="entr" presetSubtype="0" fill="hold" grpId="0" nodeType="withEffect">
                                  <p:stCondLst>
                                    <p:cond delay="17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3" name="Title 113"/>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On the road</a:t>
            </a:r>
            <a:endParaRPr lang="en-US" sz="3000" dirty="0"/>
          </a:p>
        </p:txBody>
      </p:sp>
      <p:sp>
        <p:nvSpPr>
          <p:cNvPr id="4" name="Subtitle 114"/>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Follow the car live; the rider sees each step and can raise an SOS at any time.</a:t>
            </a:r>
            <a:endParaRPr lang="en-US" sz="1600" dirty="0"/>
          </a:p>
        </p:txBody>
      </p:sp>
      <p:pic>
        <p:nvPicPr>
          <p:cNvPr id="5" name="!!Phone 1" descr="/home/ghost/Desktop/Projects/Poolora/Doc/presentation/screens/frames/live_2.png">    </p:cNvPr>
          <p:cNvPicPr>
            <a:picLocks noChangeAspect="1"/>
          </p:cNvPicPr>
          <p:nvPr/>
        </p:nvPicPr>
        <p:blipFill>
          <a:blip r:embed="rId1"/>
          <a:stretch>
            <a:fillRect/>
          </a:stretch>
        </p:blipFill>
        <p:spPr>
          <a:xfrm>
            <a:off x="589285" y="1554480"/>
            <a:ext cx="2474698" cy="4526280"/>
          </a:xfrm>
          <a:prstGeom prst="rect">
            <a:avLst/>
          </a:prstGeom>
        </p:spPr>
      </p:pic>
      <p:pic>
        <p:nvPicPr>
          <p:cNvPr id="6" name="!!Phone 2" descr="/home/ghost/Desktop/Projects/Poolora/Doc/presentation/screens/frames/live_4.png">    </p:cNvPr>
          <p:cNvPicPr>
            <a:picLocks noChangeAspect="1"/>
          </p:cNvPicPr>
          <p:nvPr/>
        </p:nvPicPr>
        <p:blipFill>
          <a:blip r:embed="rId2"/>
          <a:stretch>
            <a:fillRect/>
          </a:stretch>
        </p:blipFill>
        <p:spPr>
          <a:xfrm>
            <a:off x="4938503" y="1554480"/>
            <a:ext cx="2474698" cy="4526280"/>
          </a:xfrm>
          <a:prstGeom prst="rect">
            <a:avLst/>
          </a:prstGeom>
        </p:spPr>
      </p:pic>
      <p:pic>
        <p:nvPicPr>
          <p:cNvPr id="7" name="!!Phone 3" descr="/home/ghost/Desktop/Projects/Poolora/Doc/presentation/screens/frames/safety.png">    </p:cNvPr>
          <p:cNvPicPr>
            <a:picLocks noChangeAspect="1"/>
          </p:cNvPicPr>
          <p:nvPr/>
        </p:nvPicPr>
        <p:blipFill>
          <a:blip r:embed="rId3"/>
          <a:stretch>
            <a:fillRect/>
          </a:stretch>
        </p:blipFill>
        <p:spPr>
          <a:xfrm>
            <a:off x="9287722" y="1554480"/>
            <a:ext cx="2314688" cy="4526280"/>
          </a:xfrm>
          <a:prstGeom prst="rect">
            <a:avLst/>
          </a:prstGeom>
        </p:spPr>
      </p:pic>
      <p:sp>
        <p:nvSpPr>
          <p:cNvPr id="8" name="Callout dot 115"/>
          <p:cNvSpPr/>
          <p:nvPr/>
        </p:nvSpPr>
        <p:spPr>
          <a:xfrm>
            <a:off x="2535714" y="3938248"/>
            <a:ext cx="146304" cy="146304"/>
          </a:xfrm>
          <a:prstGeom prst="ellipse">
            <a:avLst/>
          </a:prstGeom>
          <a:solidFill>
            <a:srgbClr val="D9468F"/>
          </a:solidFill>
          <a:ln w="19050">
            <a:solidFill>
              <a:srgbClr val="FFFFFF"/>
            </a:solidFill>
            <a:prstDash val="solid"/>
          </a:ln>
        </p:spPr>
      </p:sp>
      <p:sp>
        <p:nvSpPr>
          <p:cNvPr id="9" name="Callout line 116"/>
          <p:cNvSpPr/>
          <p:nvPr/>
        </p:nvSpPr>
        <p:spPr>
          <a:xfrm>
            <a:off x="2608866" y="4011400"/>
            <a:ext cx="683717" cy="914"/>
          </a:xfrm>
          <a:prstGeom prst="line">
            <a:avLst/>
          </a:prstGeom>
          <a:noFill/>
          <a:ln w="15875">
            <a:solidFill>
              <a:srgbClr val="D9468F"/>
            </a:solidFill>
            <a:prstDash val="solid"/>
          </a:ln>
        </p:spPr>
      </p:sp>
      <p:sp>
        <p:nvSpPr>
          <p:cNvPr id="10" name="Callout label 117"/>
          <p:cNvSpPr/>
          <p:nvPr/>
        </p:nvSpPr>
        <p:spPr>
          <a:xfrm>
            <a:off x="3292583" y="3700504"/>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Live distance and time to pickup</a:t>
            </a:r>
            <a:endParaRPr lang="en-US" sz="1200" dirty="0"/>
          </a:p>
        </p:txBody>
      </p:sp>
      <p:sp>
        <p:nvSpPr>
          <p:cNvPr id="11" name="Callout dot 118"/>
          <p:cNvSpPr/>
          <p:nvPr/>
        </p:nvSpPr>
        <p:spPr>
          <a:xfrm>
            <a:off x="9583723" y="3513332"/>
            <a:ext cx="146304" cy="146304"/>
          </a:xfrm>
          <a:prstGeom prst="ellipse">
            <a:avLst/>
          </a:prstGeom>
          <a:solidFill>
            <a:srgbClr val="D9468F"/>
          </a:solidFill>
          <a:ln w="19050">
            <a:solidFill>
              <a:srgbClr val="FFFFFF"/>
            </a:solidFill>
            <a:prstDash val="solid"/>
          </a:ln>
        </p:spPr>
      </p:sp>
      <p:sp>
        <p:nvSpPr>
          <p:cNvPr id="12" name="Callout line 119"/>
          <p:cNvSpPr/>
          <p:nvPr/>
        </p:nvSpPr>
        <p:spPr>
          <a:xfrm>
            <a:off x="9059122" y="3586484"/>
            <a:ext cx="597753" cy="914"/>
          </a:xfrm>
          <a:prstGeom prst="line">
            <a:avLst/>
          </a:prstGeom>
          <a:noFill/>
          <a:ln w="15875">
            <a:solidFill>
              <a:srgbClr val="D9468F"/>
            </a:solidFill>
            <a:prstDash val="solid"/>
          </a:ln>
        </p:spPr>
      </p:sp>
      <p:sp>
        <p:nvSpPr>
          <p:cNvPr id="13" name="Callout label 120"/>
          <p:cNvSpPr/>
          <p:nvPr/>
        </p:nvSpPr>
        <p:spPr>
          <a:xfrm>
            <a:off x="7504642" y="3275588"/>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Contacts get a live-location link</a:t>
            </a:r>
            <a:endParaRPr lang="en-US" sz="1200" dirty="0"/>
          </a:p>
        </p:txBody>
      </p:sp>
      <p:pic>
        <p:nvPicPr>
          <p:cNvPr id="14" name="Mark 121" descr="/home/ghost/Desktop/Projects/Poolora/branding/poolora-icon.png">    </p:cNvPr>
          <p:cNvPicPr>
            <a:picLocks noChangeAspect="1"/>
          </p:cNvPicPr>
          <p:nvPr/>
        </p:nvPicPr>
        <p:blipFill>
          <a:blip r:embed="rId4"/>
          <a:stretch>
            <a:fillRect/>
          </a:stretch>
        </p:blipFill>
        <p:spPr>
          <a:xfrm>
            <a:off x="11368735" y="6355080"/>
            <a:ext cx="310896" cy="310896"/>
          </a:xfrm>
          <a:prstGeom prst="rect">
            <a:avLst/>
          </a:prstGeom>
        </p:spPr>
      </p:pic>
      <p:sp>
        <p:nvSpPr>
          <p:cNvPr id="15" name="Text 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9</a:t>
            </a:r>
            <a:endParaRPr lang="en-US" sz="1100" dirty="0"/>
          </a:p>
        </p:txBody>
      </p:sp>
      <p:sp>
        <p:nvSpPr>
          <p:cNvPr id="16" name="Text 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41"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100000">
                                          <p:val>
                                            <p:strVal val="#ppt_h"/>
                                          </p:val>
                                        </p:tav>
                                      </p:tavLst>
                                    </p:anim>
                                    <p:animEffect transition="in" filter="fade">
                                      <p:cBhvr>
                                        <p:cTn id="12" dur="600"/>
                                        <p:tgtEl>
                                          <p:spTgt spid="6"/>
                                        </p:tgtEl>
                                      </p:cBhvr>
                                    </p:animEffect>
                                  </p:childTnLst>
                                </p:cTn>
                              </p:par>
                              <p:par>
                                <p:cTn id="13" presetID="53" presetClass="entr" presetSubtype="16"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600" fill="hold"/>
                                        <p:tgtEl>
                                          <p:spTgt spid="7"/>
                                        </p:tgtEl>
                                        <p:attrNameLst>
                                          <p:attrName>ppt_w</p:attrName>
                                        </p:attrNameLst>
                                      </p:cBhvr>
                                      <p:tavLst>
                                        <p:tav tm="0">
                                          <p:val>
                                            <p:strVal val="0"/>
                                          </p:val>
                                        </p:tav>
                                        <p:tav tm="100000">
                                          <p:val>
                                            <p:strVal val="#ppt_w"/>
                                          </p:val>
                                        </p:tav>
                                      </p:tavLst>
                                    </p:anim>
                                    <p:anim calcmode="lin" valueType="num">
                                      <p:cBhvr additive="base">
                                        <p:cTn id="16" dur="600" fill="hold"/>
                                        <p:tgtEl>
                                          <p:spTgt spid="7"/>
                                        </p:tgtEl>
                                        <p:attrNameLst>
                                          <p:attrName>ppt_h</p:attrName>
                                        </p:attrNameLst>
                                      </p:cBhvr>
                                      <p:tavLst>
                                        <p:tav tm="0">
                                          <p:val>
                                            <p:strVal val="0"/>
                                          </p:val>
                                        </p:tav>
                                        <p:tav tm="100000">
                                          <p:val>
                                            <p:strVal val="#ppt_h"/>
                                          </p:val>
                                        </p:tav>
                                      </p:tavLst>
                                    </p:anim>
                                    <p:animEffect transition="in" filter="fade">
                                      <p:cBhvr>
                                        <p:cTn id="17" dur="600"/>
                                        <p:tgtEl>
                                          <p:spTgt spid="7"/>
                                        </p:tgtEl>
                                      </p:cBhvr>
                                    </p:animEffect>
                                  </p:childTnLst>
                                </p:cTn>
                              </p:par>
                              <p:par>
                                <p:cTn id="18" presetID="53" presetClass="entr" presetSubtype="16" fill="hold" grpId="0" nodeType="withEffect">
                                  <p:stCondLst>
                                    <p:cond delay="11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300" fill="hold"/>
                                        <p:tgtEl>
                                          <p:spTgt spid="8"/>
                                        </p:tgtEl>
                                        <p:attrNameLst>
                                          <p:attrName>ppt_w</p:attrName>
                                        </p:attrNameLst>
                                      </p:cBhvr>
                                      <p:tavLst>
                                        <p:tav tm="0">
                                          <p:val>
                                            <p:strVal val="0"/>
                                          </p:val>
                                        </p:tav>
                                        <p:tav tm="100000">
                                          <p:val>
                                            <p:strVal val="#ppt_w"/>
                                          </p:val>
                                        </p:tav>
                                      </p:tavLst>
                                    </p:anim>
                                    <p:anim calcmode="lin" valueType="num">
                                      <p:cBhvr additive="base">
                                        <p:cTn id="21" dur="300" fill="hold"/>
                                        <p:tgtEl>
                                          <p:spTgt spid="8"/>
                                        </p:tgtEl>
                                        <p:attrNameLst>
                                          <p:attrName>ppt_h</p:attrName>
                                        </p:attrNameLst>
                                      </p:cBhvr>
                                      <p:tavLst>
                                        <p:tav tm="0">
                                          <p:val>
                                            <p:strVal val="0"/>
                                          </p:val>
                                        </p:tav>
                                        <p:tav tm="100000">
                                          <p:val>
                                            <p:strVal val="#ppt_h"/>
                                          </p:val>
                                        </p:tav>
                                      </p:tavLst>
                                    </p:anim>
                                    <p:animEffect transition="in" filter="fade">
                                      <p:cBhvr>
                                        <p:cTn id="22" dur="300"/>
                                        <p:tgtEl>
                                          <p:spTgt spid="8"/>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13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53" presetClass="entr" presetSubtype="16" fill="hold" grpId="0" nodeType="withEffect">
                                  <p:stCondLst>
                                    <p:cond delay="1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300" fill="hold"/>
                                        <p:tgtEl>
                                          <p:spTgt spid="11"/>
                                        </p:tgtEl>
                                        <p:attrNameLst>
                                          <p:attrName>ppt_w</p:attrName>
                                        </p:attrNameLst>
                                      </p:cBhvr>
                                      <p:tavLst>
                                        <p:tav tm="0">
                                          <p:val>
                                            <p:strVal val="0"/>
                                          </p:val>
                                        </p:tav>
                                        <p:tav tm="100000">
                                          <p:val>
                                            <p:strVal val="#ppt_w"/>
                                          </p:val>
                                        </p:tav>
                                      </p:tavLst>
                                    </p:anim>
                                    <p:anim calcmode="lin" valueType="num">
                                      <p:cBhvr additive="base">
                                        <p:cTn id="32" dur="300" fill="hold"/>
                                        <p:tgtEl>
                                          <p:spTgt spid="11"/>
                                        </p:tgtEl>
                                        <p:attrNameLst>
                                          <p:attrName>ppt_h</p:attrName>
                                        </p:attrNameLst>
                                      </p:cBhvr>
                                      <p:tavLst>
                                        <p:tav tm="0">
                                          <p:val>
                                            <p:strVal val="0"/>
                                          </p:val>
                                        </p:tav>
                                        <p:tav tm="100000">
                                          <p:val>
                                            <p:strVal val="#ppt_h"/>
                                          </p:val>
                                        </p:tav>
                                      </p:tavLst>
                                    </p:anim>
                                    <p:animEffect transition="in" filter="fade">
                                      <p:cBhvr>
                                        <p:cTn id="33" dur="300"/>
                                        <p:tgtEl>
                                          <p:spTgt spid="11"/>
                                        </p:tgtEl>
                                      </p:cBhvr>
                                    </p:animEffect>
                                  </p:childTnLst>
                                </p:cTn>
                              </p:par>
                              <p:par>
                                <p:cTn id="34" presetID="10" presetClass="entr" presetSubtype="0" fill="hold" grpId="0" nodeType="withEffect">
                                  <p:stCondLst>
                                    <p:cond delay="16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300"/>
                                        <p:tgtEl>
                                          <p:spTgt spid="12"/>
                                        </p:tgtEl>
                                      </p:cBhvr>
                                    </p:animEffect>
                                  </p:childTnLst>
                                </p:cTn>
                              </p:par>
                              <p:par>
                                <p:cTn id="37" presetID="10" presetClass="entr" presetSubtype="0" fill="hold" grpId="0" nodeType="withEffect">
                                  <p:stCondLst>
                                    <p:cond delay="17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3" name="Title 122"/>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Drive and earn</a:t>
            </a:r>
            <a:endParaRPr lang="en-US" sz="3000" dirty="0"/>
          </a:p>
        </p:txBody>
      </p:sp>
      <p:sp>
        <p:nvSpPr>
          <p:cNvPr id="4" name="Subtitle 123"/>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Post a ride in a minute; Poolora suggests a fair price and shows what the trip earns.</a:t>
            </a:r>
            <a:endParaRPr lang="en-US" sz="1600" dirty="0"/>
          </a:p>
        </p:txBody>
      </p:sp>
      <p:pic>
        <p:nvPicPr>
          <p:cNvPr id="5" name="!!Phone 1" descr="/home/ghost/Desktop/Projects/Poolora/Doc/presentation/screens/frames/driver_home.png">    </p:cNvPr>
          <p:cNvPicPr>
            <a:picLocks noChangeAspect="1"/>
          </p:cNvPicPr>
          <p:nvPr/>
        </p:nvPicPr>
        <p:blipFill>
          <a:blip r:embed="rId1"/>
          <a:stretch>
            <a:fillRect/>
          </a:stretch>
        </p:blipFill>
        <p:spPr>
          <a:xfrm>
            <a:off x="535660" y="1554480"/>
            <a:ext cx="2528323" cy="4526280"/>
          </a:xfrm>
          <a:prstGeom prst="rect">
            <a:avLst/>
          </a:prstGeom>
        </p:spPr>
      </p:pic>
      <p:pic>
        <p:nvPicPr>
          <p:cNvPr id="6" name="!!Phone 2" descr="/home/ghost/Desktop/Projects/Poolora/Doc/presentation/screens/frames/create_ride.png">    </p:cNvPr>
          <p:cNvPicPr>
            <a:picLocks noChangeAspect="1"/>
          </p:cNvPicPr>
          <p:nvPr/>
        </p:nvPicPr>
        <p:blipFill>
          <a:blip r:embed="rId2"/>
          <a:stretch>
            <a:fillRect/>
          </a:stretch>
        </p:blipFill>
        <p:spPr>
          <a:xfrm>
            <a:off x="4938503" y="1554480"/>
            <a:ext cx="2528323" cy="4526280"/>
          </a:xfrm>
          <a:prstGeom prst="rect">
            <a:avLst/>
          </a:prstGeom>
        </p:spPr>
      </p:pic>
      <p:pic>
        <p:nvPicPr>
          <p:cNvPr id="7" name="!!Phone 3" descr="/home/ghost/Desktop/Projects/Poolora/Doc/presentation/screens/frames/earnings.png">    </p:cNvPr>
          <p:cNvPicPr>
            <a:picLocks noChangeAspect="1"/>
          </p:cNvPicPr>
          <p:nvPr/>
        </p:nvPicPr>
        <p:blipFill>
          <a:blip r:embed="rId3"/>
          <a:stretch>
            <a:fillRect/>
          </a:stretch>
        </p:blipFill>
        <p:spPr>
          <a:xfrm>
            <a:off x="9341347" y="1554480"/>
            <a:ext cx="2314688" cy="4526280"/>
          </a:xfrm>
          <a:prstGeom prst="rect">
            <a:avLst/>
          </a:prstGeom>
        </p:spPr>
      </p:pic>
      <p:sp>
        <p:nvSpPr>
          <p:cNvPr id="8" name="Callout dot 124"/>
          <p:cNvSpPr/>
          <p:nvPr/>
        </p:nvSpPr>
        <p:spPr>
          <a:xfrm>
            <a:off x="5384820" y="5063119"/>
            <a:ext cx="146304" cy="146304"/>
          </a:xfrm>
          <a:prstGeom prst="ellipse">
            <a:avLst/>
          </a:prstGeom>
          <a:solidFill>
            <a:srgbClr val="D9468F"/>
          </a:solidFill>
          <a:ln w="19050">
            <a:solidFill>
              <a:srgbClr val="FFFFFF"/>
            </a:solidFill>
            <a:prstDash val="solid"/>
          </a:ln>
        </p:spPr>
      </p:sp>
      <p:sp>
        <p:nvSpPr>
          <p:cNvPr id="9" name="Callout line 125"/>
          <p:cNvSpPr/>
          <p:nvPr/>
        </p:nvSpPr>
        <p:spPr>
          <a:xfrm>
            <a:off x="4709903" y="5136271"/>
            <a:ext cx="748069" cy="914"/>
          </a:xfrm>
          <a:prstGeom prst="line">
            <a:avLst/>
          </a:prstGeom>
          <a:noFill/>
          <a:ln w="15875">
            <a:solidFill>
              <a:srgbClr val="D9468F"/>
            </a:solidFill>
            <a:prstDash val="solid"/>
          </a:ln>
        </p:spPr>
      </p:sp>
      <p:sp>
        <p:nvSpPr>
          <p:cNvPr id="10" name="Callout label 126"/>
          <p:cNvSpPr/>
          <p:nvPr/>
        </p:nvSpPr>
        <p:spPr>
          <a:xfrm>
            <a:off x="3155423" y="4825375"/>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Suggested price and the allowed range</a:t>
            </a:r>
            <a:endParaRPr lang="en-US" sz="1200" dirty="0"/>
          </a:p>
        </p:txBody>
      </p:sp>
      <p:sp>
        <p:nvSpPr>
          <p:cNvPr id="11" name="Callout dot 127"/>
          <p:cNvSpPr/>
          <p:nvPr/>
        </p:nvSpPr>
        <p:spPr>
          <a:xfrm>
            <a:off x="9727142" y="2773363"/>
            <a:ext cx="146304" cy="146304"/>
          </a:xfrm>
          <a:prstGeom prst="ellipse">
            <a:avLst/>
          </a:prstGeom>
          <a:solidFill>
            <a:srgbClr val="D9468F"/>
          </a:solidFill>
          <a:ln w="19050">
            <a:solidFill>
              <a:srgbClr val="FFFFFF"/>
            </a:solidFill>
            <a:prstDash val="solid"/>
          </a:ln>
        </p:spPr>
      </p:sp>
      <p:sp>
        <p:nvSpPr>
          <p:cNvPr id="12" name="Callout line 128"/>
          <p:cNvSpPr/>
          <p:nvPr/>
        </p:nvSpPr>
        <p:spPr>
          <a:xfrm>
            <a:off x="9112747" y="2846515"/>
            <a:ext cx="687547" cy="914"/>
          </a:xfrm>
          <a:prstGeom prst="line">
            <a:avLst/>
          </a:prstGeom>
          <a:noFill/>
          <a:ln w="15875">
            <a:solidFill>
              <a:srgbClr val="D9468F"/>
            </a:solidFill>
            <a:prstDash val="solid"/>
          </a:ln>
        </p:spPr>
      </p:sp>
      <p:sp>
        <p:nvSpPr>
          <p:cNvPr id="13" name="Callout label 129"/>
          <p:cNvSpPr/>
          <p:nvPr/>
        </p:nvSpPr>
        <p:spPr>
          <a:xfrm>
            <a:off x="7558267" y="2535619"/>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Earnings by day, week and month</a:t>
            </a:r>
            <a:endParaRPr lang="en-US" sz="1200" dirty="0"/>
          </a:p>
        </p:txBody>
      </p:sp>
      <p:pic>
        <p:nvPicPr>
          <p:cNvPr id="14" name="Mark 130" descr="/home/ghost/Desktop/Projects/Poolora/branding/poolora-icon.png">    </p:cNvPr>
          <p:cNvPicPr>
            <a:picLocks noChangeAspect="1"/>
          </p:cNvPicPr>
          <p:nvPr/>
        </p:nvPicPr>
        <p:blipFill>
          <a:blip r:embed="rId4"/>
          <a:stretch>
            <a:fillRect/>
          </a:stretch>
        </p:blipFill>
        <p:spPr>
          <a:xfrm>
            <a:off x="11368735" y="6355080"/>
            <a:ext cx="310896" cy="310896"/>
          </a:xfrm>
          <a:prstGeom prst="rect">
            <a:avLst/>
          </a:prstGeom>
        </p:spPr>
      </p:pic>
      <p:sp>
        <p:nvSpPr>
          <p:cNvPr id="15" name="Text 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10</a:t>
            </a:r>
            <a:endParaRPr lang="en-US" sz="1100" dirty="0"/>
          </a:p>
        </p:txBody>
      </p:sp>
      <p:sp>
        <p:nvSpPr>
          <p:cNvPr id="16" name="Text 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41"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100000">
                                          <p:val>
                                            <p:strVal val="#ppt_h"/>
                                          </p:val>
                                        </p:tav>
                                      </p:tavLst>
                                    </p:anim>
                                    <p:animEffect transition="in" filter="fade">
                                      <p:cBhvr>
                                        <p:cTn id="12" dur="600"/>
                                        <p:tgtEl>
                                          <p:spTgt spid="6"/>
                                        </p:tgtEl>
                                      </p:cBhvr>
                                    </p:animEffect>
                                  </p:childTnLst>
                                </p:cTn>
                              </p:par>
                              <p:par>
                                <p:cTn id="13" presetID="53" presetClass="entr" presetSubtype="16"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600" fill="hold"/>
                                        <p:tgtEl>
                                          <p:spTgt spid="7"/>
                                        </p:tgtEl>
                                        <p:attrNameLst>
                                          <p:attrName>ppt_w</p:attrName>
                                        </p:attrNameLst>
                                      </p:cBhvr>
                                      <p:tavLst>
                                        <p:tav tm="0">
                                          <p:val>
                                            <p:strVal val="0"/>
                                          </p:val>
                                        </p:tav>
                                        <p:tav tm="100000">
                                          <p:val>
                                            <p:strVal val="#ppt_w"/>
                                          </p:val>
                                        </p:tav>
                                      </p:tavLst>
                                    </p:anim>
                                    <p:anim calcmode="lin" valueType="num">
                                      <p:cBhvr additive="base">
                                        <p:cTn id="16" dur="600" fill="hold"/>
                                        <p:tgtEl>
                                          <p:spTgt spid="7"/>
                                        </p:tgtEl>
                                        <p:attrNameLst>
                                          <p:attrName>ppt_h</p:attrName>
                                        </p:attrNameLst>
                                      </p:cBhvr>
                                      <p:tavLst>
                                        <p:tav tm="0">
                                          <p:val>
                                            <p:strVal val="0"/>
                                          </p:val>
                                        </p:tav>
                                        <p:tav tm="100000">
                                          <p:val>
                                            <p:strVal val="#ppt_h"/>
                                          </p:val>
                                        </p:tav>
                                      </p:tavLst>
                                    </p:anim>
                                    <p:animEffect transition="in" filter="fade">
                                      <p:cBhvr>
                                        <p:cTn id="17" dur="600"/>
                                        <p:tgtEl>
                                          <p:spTgt spid="7"/>
                                        </p:tgtEl>
                                      </p:cBhvr>
                                    </p:animEffect>
                                  </p:childTnLst>
                                </p:cTn>
                              </p:par>
                              <p:par>
                                <p:cTn id="18" presetID="53" presetClass="entr" presetSubtype="16" fill="hold" grpId="0" nodeType="withEffect">
                                  <p:stCondLst>
                                    <p:cond delay="11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300" fill="hold"/>
                                        <p:tgtEl>
                                          <p:spTgt spid="8"/>
                                        </p:tgtEl>
                                        <p:attrNameLst>
                                          <p:attrName>ppt_w</p:attrName>
                                        </p:attrNameLst>
                                      </p:cBhvr>
                                      <p:tavLst>
                                        <p:tav tm="0">
                                          <p:val>
                                            <p:strVal val="0"/>
                                          </p:val>
                                        </p:tav>
                                        <p:tav tm="100000">
                                          <p:val>
                                            <p:strVal val="#ppt_w"/>
                                          </p:val>
                                        </p:tav>
                                      </p:tavLst>
                                    </p:anim>
                                    <p:anim calcmode="lin" valueType="num">
                                      <p:cBhvr additive="base">
                                        <p:cTn id="21" dur="300" fill="hold"/>
                                        <p:tgtEl>
                                          <p:spTgt spid="8"/>
                                        </p:tgtEl>
                                        <p:attrNameLst>
                                          <p:attrName>ppt_h</p:attrName>
                                        </p:attrNameLst>
                                      </p:cBhvr>
                                      <p:tavLst>
                                        <p:tav tm="0">
                                          <p:val>
                                            <p:strVal val="0"/>
                                          </p:val>
                                        </p:tav>
                                        <p:tav tm="100000">
                                          <p:val>
                                            <p:strVal val="#ppt_h"/>
                                          </p:val>
                                        </p:tav>
                                      </p:tavLst>
                                    </p:anim>
                                    <p:animEffect transition="in" filter="fade">
                                      <p:cBhvr>
                                        <p:cTn id="22" dur="300"/>
                                        <p:tgtEl>
                                          <p:spTgt spid="8"/>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13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53" presetClass="entr" presetSubtype="16" fill="hold" grpId="0" nodeType="withEffect">
                                  <p:stCondLst>
                                    <p:cond delay="1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300" fill="hold"/>
                                        <p:tgtEl>
                                          <p:spTgt spid="11"/>
                                        </p:tgtEl>
                                        <p:attrNameLst>
                                          <p:attrName>ppt_w</p:attrName>
                                        </p:attrNameLst>
                                      </p:cBhvr>
                                      <p:tavLst>
                                        <p:tav tm="0">
                                          <p:val>
                                            <p:strVal val="0"/>
                                          </p:val>
                                        </p:tav>
                                        <p:tav tm="100000">
                                          <p:val>
                                            <p:strVal val="#ppt_w"/>
                                          </p:val>
                                        </p:tav>
                                      </p:tavLst>
                                    </p:anim>
                                    <p:anim calcmode="lin" valueType="num">
                                      <p:cBhvr additive="base">
                                        <p:cTn id="32" dur="300" fill="hold"/>
                                        <p:tgtEl>
                                          <p:spTgt spid="11"/>
                                        </p:tgtEl>
                                        <p:attrNameLst>
                                          <p:attrName>ppt_h</p:attrName>
                                        </p:attrNameLst>
                                      </p:cBhvr>
                                      <p:tavLst>
                                        <p:tav tm="0">
                                          <p:val>
                                            <p:strVal val="0"/>
                                          </p:val>
                                        </p:tav>
                                        <p:tav tm="100000">
                                          <p:val>
                                            <p:strVal val="#ppt_h"/>
                                          </p:val>
                                        </p:tav>
                                      </p:tavLst>
                                    </p:anim>
                                    <p:animEffect transition="in" filter="fade">
                                      <p:cBhvr>
                                        <p:cTn id="33" dur="300"/>
                                        <p:tgtEl>
                                          <p:spTgt spid="11"/>
                                        </p:tgtEl>
                                      </p:cBhvr>
                                    </p:animEffect>
                                  </p:childTnLst>
                                </p:cTn>
                              </p:par>
                              <p:par>
                                <p:cTn id="34" presetID="10" presetClass="entr" presetSubtype="0" fill="hold" grpId="0" nodeType="withEffect">
                                  <p:stCondLst>
                                    <p:cond delay="16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300"/>
                                        <p:tgtEl>
                                          <p:spTgt spid="12"/>
                                        </p:tgtEl>
                                      </p:cBhvr>
                                    </p:animEffect>
                                  </p:childTnLst>
                                </p:cTn>
                              </p:par>
                              <p:par>
                                <p:cTn id="37" presetID="10" presetClass="entr" presetSubtype="0" fill="hold" grpId="0" nodeType="withEffect">
                                  <p:stCondLst>
                                    <p:cond delay="17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3" name="Title 131"/>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More than rides</a:t>
            </a:r>
            <a:endParaRPr lang="en-US" sz="3000" dirty="0"/>
          </a:p>
        </p:txBody>
      </p:sp>
      <p:sp>
        <p:nvSpPr>
          <p:cNvPr id="4" name="Subtitle 132"/>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Parcels travel with drivers already on the route; groups plan trips together; one wallet for everything.</a:t>
            </a:r>
            <a:endParaRPr lang="en-US" sz="1600" dirty="0"/>
          </a:p>
        </p:txBody>
      </p:sp>
      <p:pic>
        <p:nvPicPr>
          <p:cNvPr id="5" name="!!Phone 1" descr="/home/ghost/Desktop/Projects/Poolora/Doc/presentation/screens/frames/parcel.png">    </p:cNvPr>
          <p:cNvPicPr>
            <a:picLocks noChangeAspect="1"/>
          </p:cNvPicPr>
          <p:nvPr/>
        </p:nvPicPr>
        <p:blipFill>
          <a:blip r:embed="rId1"/>
          <a:stretch>
            <a:fillRect/>
          </a:stretch>
        </p:blipFill>
        <p:spPr>
          <a:xfrm>
            <a:off x="749295" y="1554480"/>
            <a:ext cx="2314688" cy="4526280"/>
          </a:xfrm>
          <a:prstGeom prst="rect">
            <a:avLst/>
          </a:prstGeom>
        </p:spPr>
      </p:pic>
      <p:pic>
        <p:nvPicPr>
          <p:cNvPr id="6" name="!!Phone 2" descr="/home/ghost/Desktop/Projects/Poolora/Doc/presentation/screens/frames/trips.png">    </p:cNvPr>
          <p:cNvPicPr>
            <a:picLocks noChangeAspect="1"/>
          </p:cNvPicPr>
          <p:nvPr/>
        </p:nvPicPr>
        <p:blipFill>
          <a:blip r:embed="rId2"/>
          <a:stretch>
            <a:fillRect/>
          </a:stretch>
        </p:blipFill>
        <p:spPr>
          <a:xfrm>
            <a:off x="4938503" y="1554480"/>
            <a:ext cx="2314688" cy="4526280"/>
          </a:xfrm>
          <a:prstGeom prst="rect">
            <a:avLst/>
          </a:prstGeom>
        </p:spPr>
      </p:pic>
      <p:pic>
        <p:nvPicPr>
          <p:cNvPr id="7" name="!!Phone 3" descr="/home/ghost/Desktop/Projects/Poolora/Doc/presentation/screens/frames/wallet.png">    </p:cNvPr>
          <p:cNvPicPr>
            <a:picLocks noChangeAspect="1"/>
          </p:cNvPicPr>
          <p:nvPr/>
        </p:nvPicPr>
        <p:blipFill>
          <a:blip r:embed="rId3"/>
          <a:stretch>
            <a:fillRect/>
          </a:stretch>
        </p:blipFill>
        <p:spPr>
          <a:xfrm>
            <a:off x="9127712" y="1554480"/>
            <a:ext cx="2314688" cy="4526280"/>
          </a:xfrm>
          <a:prstGeom prst="rect">
            <a:avLst/>
          </a:prstGeom>
        </p:spPr>
      </p:pic>
      <p:sp>
        <p:nvSpPr>
          <p:cNvPr id="8" name="Callout dot 133"/>
          <p:cNvSpPr/>
          <p:nvPr/>
        </p:nvSpPr>
        <p:spPr>
          <a:xfrm>
            <a:off x="2565142" y="3531623"/>
            <a:ext cx="146304" cy="146304"/>
          </a:xfrm>
          <a:prstGeom prst="ellipse">
            <a:avLst/>
          </a:prstGeom>
          <a:solidFill>
            <a:srgbClr val="D9468F"/>
          </a:solidFill>
          <a:ln w="19050">
            <a:solidFill>
              <a:srgbClr val="FFFFFF"/>
            </a:solidFill>
            <a:prstDash val="solid"/>
          </a:ln>
        </p:spPr>
      </p:sp>
      <p:sp>
        <p:nvSpPr>
          <p:cNvPr id="9" name="Callout line 134"/>
          <p:cNvSpPr/>
          <p:nvPr/>
        </p:nvSpPr>
        <p:spPr>
          <a:xfrm>
            <a:off x="2638294" y="3604775"/>
            <a:ext cx="654290" cy="914"/>
          </a:xfrm>
          <a:prstGeom prst="line">
            <a:avLst/>
          </a:prstGeom>
          <a:noFill/>
          <a:ln w="15875">
            <a:solidFill>
              <a:srgbClr val="D9468F"/>
            </a:solidFill>
            <a:prstDash val="solid"/>
          </a:ln>
        </p:spPr>
      </p:sp>
      <p:sp>
        <p:nvSpPr>
          <p:cNvPr id="10" name="Callout label 135"/>
          <p:cNvSpPr/>
          <p:nvPr/>
        </p:nvSpPr>
        <p:spPr>
          <a:xfrm>
            <a:off x="3292583" y="3202439"/>
            <a:ext cx="1554480" cy="749808"/>
          </a:xfrm>
          <a:prstGeom prst="roundRect">
            <a:avLst>
              <a:gd name="adj" fmla="val 9756"/>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Photo proof at pickup and delivery; delivery code</a:t>
            </a:r>
            <a:endParaRPr lang="en-US" sz="1200" dirty="0"/>
          </a:p>
        </p:txBody>
      </p:sp>
      <p:sp>
        <p:nvSpPr>
          <p:cNvPr id="11" name="Callout dot 136"/>
          <p:cNvSpPr/>
          <p:nvPr/>
        </p:nvSpPr>
        <p:spPr>
          <a:xfrm>
            <a:off x="9496878" y="4366374"/>
            <a:ext cx="146304" cy="146304"/>
          </a:xfrm>
          <a:prstGeom prst="ellipse">
            <a:avLst/>
          </a:prstGeom>
          <a:solidFill>
            <a:srgbClr val="D9468F"/>
          </a:solidFill>
          <a:ln w="19050">
            <a:solidFill>
              <a:srgbClr val="FFFFFF"/>
            </a:solidFill>
            <a:prstDash val="solid"/>
          </a:ln>
        </p:spPr>
      </p:sp>
      <p:sp>
        <p:nvSpPr>
          <p:cNvPr id="12" name="Callout line 137"/>
          <p:cNvSpPr/>
          <p:nvPr/>
        </p:nvSpPr>
        <p:spPr>
          <a:xfrm>
            <a:off x="8899112" y="4439526"/>
            <a:ext cx="670918" cy="914"/>
          </a:xfrm>
          <a:prstGeom prst="line">
            <a:avLst/>
          </a:prstGeom>
          <a:noFill/>
          <a:ln w="15875">
            <a:solidFill>
              <a:srgbClr val="D9468F"/>
            </a:solidFill>
            <a:prstDash val="solid"/>
          </a:ln>
        </p:spPr>
      </p:sp>
      <p:sp>
        <p:nvSpPr>
          <p:cNvPr id="13" name="Callout label 138"/>
          <p:cNvSpPr/>
          <p:nvPr/>
        </p:nvSpPr>
        <p:spPr>
          <a:xfrm>
            <a:off x="7344632" y="4128630"/>
            <a:ext cx="1554480" cy="566928"/>
          </a:xfrm>
          <a:prstGeom prst="roundRect">
            <a:avLst>
              <a:gd name="adj" fmla="val 12903"/>
            </a:avLst>
          </a:prstGeom>
          <a:solidFill>
            <a:srgbClr val="FFFFFF"/>
          </a:solidFill>
          <a:ln w="12700">
            <a:solidFill>
              <a:srgbClr val="D9468F"/>
            </a:solidFill>
          </a:ln>
        </p:spPr>
        <p:txBody>
          <a:bodyPr wrap="square" lIns="63500" tIns="63500" rIns="63500" bIns="63500" rtlCol="0" anchor="ctr"/>
          <a:lstStyle/>
          <a:p>
            <a:pPr indent="0" marL="0">
              <a:buNone/>
            </a:pPr>
            <a:r>
              <a:rPr lang="en-US" sz="1200" dirty="0">
                <a:solidFill>
                  <a:srgbClr val="1F2330"/>
                </a:solidFill>
                <a:latin typeface="Calibri" pitchFamily="34" charset="0"/>
                <a:ea typeface="Calibri" pitchFamily="34" charset="-122"/>
                <a:cs typeface="Calibri" pitchFamily="34" charset="-120"/>
              </a:rPr>
              <a:t>Withdraw US$2–US$1000 to mobile money</a:t>
            </a:r>
            <a:endParaRPr lang="en-US" sz="1200" dirty="0"/>
          </a:p>
        </p:txBody>
      </p:sp>
      <p:pic>
        <p:nvPicPr>
          <p:cNvPr id="14" name="Mark 139" descr="/home/ghost/Desktop/Projects/Poolora/branding/poolora-icon.png">    </p:cNvPr>
          <p:cNvPicPr>
            <a:picLocks noChangeAspect="1"/>
          </p:cNvPicPr>
          <p:nvPr/>
        </p:nvPicPr>
        <p:blipFill>
          <a:blip r:embed="rId4"/>
          <a:stretch>
            <a:fillRect/>
          </a:stretch>
        </p:blipFill>
        <p:spPr>
          <a:xfrm>
            <a:off x="11368735" y="6355080"/>
            <a:ext cx="310896" cy="310896"/>
          </a:xfrm>
          <a:prstGeom prst="rect">
            <a:avLst/>
          </a:prstGeom>
        </p:spPr>
      </p:pic>
      <p:sp>
        <p:nvSpPr>
          <p:cNvPr id="15" name="Text 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11</a:t>
            </a:r>
            <a:endParaRPr lang="en-US" sz="1100" dirty="0"/>
          </a:p>
        </p:txBody>
      </p:sp>
      <p:sp>
        <p:nvSpPr>
          <p:cNvPr id="16" name="Text 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41"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53" presetClass="entr" presetSubtype="16" fill="hold" grpId="0" nodeType="withEffect">
                                  <p:stCondLst>
                                    <p:cond delay="15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600" fill="hold"/>
                                        <p:tgtEl>
                                          <p:spTgt spid="6"/>
                                        </p:tgtEl>
                                        <p:attrNameLst>
                                          <p:attrName>ppt_w</p:attrName>
                                        </p:attrNameLst>
                                      </p:cBhvr>
                                      <p:tavLst>
                                        <p:tav tm="0">
                                          <p:val>
                                            <p:strVal val="0"/>
                                          </p:val>
                                        </p:tav>
                                        <p:tav tm="100000">
                                          <p:val>
                                            <p:strVal val="#ppt_w"/>
                                          </p:val>
                                        </p:tav>
                                      </p:tavLst>
                                    </p:anim>
                                    <p:anim calcmode="lin" valueType="num">
                                      <p:cBhvr additive="base">
                                        <p:cTn id="11" dur="600" fill="hold"/>
                                        <p:tgtEl>
                                          <p:spTgt spid="6"/>
                                        </p:tgtEl>
                                        <p:attrNameLst>
                                          <p:attrName>ppt_h</p:attrName>
                                        </p:attrNameLst>
                                      </p:cBhvr>
                                      <p:tavLst>
                                        <p:tav tm="0">
                                          <p:val>
                                            <p:strVal val="0"/>
                                          </p:val>
                                        </p:tav>
                                        <p:tav tm="100000">
                                          <p:val>
                                            <p:strVal val="#ppt_h"/>
                                          </p:val>
                                        </p:tav>
                                      </p:tavLst>
                                    </p:anim>
                                    <p:animEffect transition="in" filter="fade">
                                      <p:cBhvr>
                                        <p:cTn id="12" dur="600"/>
                                        <p:tgtEl>
                                          <p:spTgt spid="6"/>
                                        </p:tgtEl>
                                      </p:cBhvr>
                                    </p:animEffect>
                                  </p:childTnLst>
                                </p:cTn>
                              </p:par>
                              <p:par>
                                <p:cTn id="13" presetID="53" presetClass="entr" presetSubtype="16" fill="hold" grpId="0" nodeType="withEffect">
                                  <p:stCondLst>
                                    <p:cond delay="3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600" fill="hold"/>
                                        <p:tgtEl>
                                          <p:spTgt spid="7"/>
                                        </p:tgtEl>
                                        <p:attrNameLst>
                                          <p:attrName>ppt_w</p:attrName>
                                        </p:attrNameLst>
                                      </p:cBhvr>
                                      <p:tavLst>
                                        <p:tav tm="0">
                                          <p:val>
                                            <p:strVal val="0"/>
                                          </p:val>
                                        </p:tav>
                                        <p:tav tm="100000">
                                          <p:val>
                                            <p:strVal val="#ppt_w"/>
                                          </p:val>
                                        </p:tav>
                                      </p:tavLst>
                                    </p:anim>
                                    <p:anim calcmode="lin" valueType="num">
                                      <p:cBhvr additive="base">
                                        <p:cTn id="16" dur="600" fill="hold"/>
                                        <p:tgtEl>
                                          <p:spTgt spid="7"/>
                                        </p:tgtEl>
                                        <p:attrNameLst>
                                          <p:attrName>ppt_h</p:attrName>
                                        </p:attrNameLst>
                                      </p:cBhvr>
                                      <p:tavLst>
                                        <p:tav tm="0">
                                          <p:val>
                                            <p:strVal val="0"/>
                                          </p:val>
                                        </p:tav>
                                        <p:tav tm="100000">
                                          <p:val>
                                            <p:strVal val="#ppt_h"/>
                                          </p:val>
                                        </p:tav>
                                      </p:tavLst>
                                    </p:anim>
                                    <p:animEffect transition="in" filter="fade">
                                      <p:cBhvr>
                                        <p:cTn id="17" dur="600"/>
                                        <p:tgtEl>
                                          <p:spTgt spid="7"/>
                                        </p:tgtEl>
                                      </p:cBhvr>
                                    </p:animEffect>
                                  </p:childTnLst>
                                </p:cTn>
                              </p:par>
                              <p:par>
                                <p:cTn id="18" presetID="53" presetClass="entr" presetSubtype="16" fill="hold" grpId="0" nodeType="withEffect">
                                  <p:stCondLst>
                                    <p:cond delay="110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300" fill="hold"/>
                                        <p:tgtEl>
                                          <p:spTgt spid="8"/>
                                        </p:tgtEl>
                                        <p:attrNameLst>
                                          <p:attrName>ppt_w</p:attrName>
                                        </p:attrNameLst>
                                      </p:cBhvr>
                                      <p:tavLst>
                                        <p:tav tm="0">
                                          <p:val>
                                            <p:strVal val="0"/>
                                          </p:val>
                                        </p:tav>
                                        <p:tav tm="100000">
                                          <p:val>
                                            <p:strVal val="#ppt_w"/>
                                          </p:val>
                                        </p:tav>
                                      </p:tavLst>
                                    </p:anim>
                                    <p:anim calcmode="lin" valueType="num">
                                      <p:cBhvr additive="base">
                                        <p:cTn id="21" dur="300" fill="hold"/>
                                        <p:tgtEl>
                                          <p:spTgt spid="8"/>
                                        </p:tgtEl>
                                        <p:attrNameLst>
                                          <p:attrName>ppt_h</p:attrName>
                                        </p:attrNameLst>
                                      </p:cBhvr>
                                      <p:tavLst>
                                        <p:tav tm="0">
                                          <p:val>
                                            <p:strVal val="0"/>
                                          </p:val>
                                        </p:tav>
                                        <p:tav tm="100000">
                                          <p:val>
                                            <p:strVal val="#ppt_h"/>
                                          </p:val>
                                        </p:tav>
                                      </p:tavLst>
                                    </p:anim>
                                    <p:animEffect transition="in" filter="fade">
                                      <p:cBhvr>
                                        <p:cTn id="22" dur="300"/>
                                        <p:tgtEl>
                                          <p:spTgt spid="8"/>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13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53" presetClass="entr" presetSubtype="16" fill="hold" grpId="0" nodeType="withEffect">
                                  <p:stCondLst>
                                    <p:cond delay="1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300" fill="hold"/>
                                        <p:tgtEl>
                                          <p:spTgt spid="11"/>
                                        </p:tgtEl>
                                        <p:attrNameLst>
                                          <p:attrName>ppt_w</p:attrName>
                                        </p:attrNameLst>
                                      </p:cBhvr>
                                      <p:tavLst>
                                        <p:tav tm="0">
                                          <p:val>
                                            <p:strVal val="0"/>
                                          </p:val>
                                        </p:tav>
                                        <p:tav tm="100000">
                                          <p:val>
                                            <p:strVal val="#ppt_w"/>
                                          </p:val>
                                        </p:tav>
                                      </p:tavLst>
                                    </p:anim>
                                    <p:anim calcmode="lin" valueType="num">
                                      <p:cBhvr additive="base">
                                        <p:cTn id="32" dur="300" fill="hold"/>
                                        <p:tgtEl>
                                          <p:spTgt spid="11"/>
                                        </p:tgtEl>
                                        <p:attrNameLst>
                                          <p:attrName>ppt_h</p:attrName>
                                        </p:attrNameLst>
                                      </p:cBhvr>
                                      <p:tavLst>
                                        <p:tav tm="0">
                                          <p:val>
                                            <p:strVal val="0"/>
                                          </p:val>
                                        </p:tav>
                                        <p:tav tm="100000">
                                          <p:val>
                                            <p:strVal val="#ppt_h"/>
                                          </p:val>
                                        </p:tav>
                                      </p:tavLst>
                                    </p:anim>
                                    <p:animEffect transition="in" filter="fade">
                                      <p:cBhvr>
                                        <p:cTn id="33" dur="300"/>
                                        <p:tgtEl>
                                          <p:spTgt spid="11"/>
                                        </p:tgtEl>
                                      </p:cBhvr>
                                    </p:animEffect>
                                  </p:childTnLst>
                                </p:cTn>
                              </p:par>
                              <p:par>
                                <p:cTn id="34" presetID="10" presetClass="entr" presetSubtype="0" fill="hold" grpId="0" nodeType="withEffect">
                                  <p:stCondLst>
                                    <p:cond delay="165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300"/>
                                        <p:tgtEl>
                                          <p:spTgt spid="12"/>
                                        </p:tgtEl>
                                      </p:cBhvr>
                                    </p:animEffect>
                                  </p:childTnLst>
                                </p:cTn>
                              </p:par>
                              <p:par>
                                <p:cTn id="37" presetID="10" presetClass="entr" presetSubtype="0" fill="hold" grpId="0" nodeType="withEffect">
                                  <p:stCondLst>
                                    <p:cond delay="175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3" name="Title 140"/>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System architecture</a:t>
            </a:r>
            <a:endParaRPr lang="en-US" sz="3000" dirty="0"/>
          </a:p>
        </p:txBody>
      </p:sp>
      <p:sp>
        <p:nvSpPr>
          <p:cNvPr id="4" name="Arch 141"/>
          <p:cNvSpPr/>
          <p:nvPr/>
        </p:nvSpPr>
        <p:spPr>
          <a:xfrm>
            <a:off x="548640" y="1371600"/>
            <a:ext cx="2926080" cy="1005840"/>
          </a:xfrm>
          <a:prstGeom prst="roundRect">
            <a:avLst>
              <a:gd name="adj" fmla="val 9091"/>
            </a:avLst>
          </a:prstGeom>
          <a:solidFill>
            <a:srgbClr val="0B7A75"/>
          </a:solidFill>
          <a:ln w="12700">
            <a:solidFill>
              <a:srgbClr val="0B7A75"/>
            </a:solidFill>
            <a:prstDash val="solid"/>
          </a:ln>
        </p:spPr>
      </p:sp>
      <p:pic>
        <p:nvPicPr>
          <p:cNvPr id="5" name="Arch 141 glyph" descr="preencoded.png">    </p:cNvPr>
          <p:cNvPicPr>
            <a:picLocks noChangeAspect="1"/>
          </p:cNvPicPr>
          <p:nvPr/>
        </p:nvPicPr>
        <p:blipFill>
          <a:blip r:embed="rId1"/>
          <a:stretch>
            <a:fillRect/>
          </a:stretch>
        </p:blipFill>
        <p:spPr>
          <a:xfrm>
            <a:off x="731520" y="1623060"/>
            <a:ext cx="502920" cy="502920"/>
          </a:xfrm>
          <a:prstGeom prst="rect">
            <a:avLst/>
          </a:prstGeom>
        </p:spPr>
      </p:pic>
      <p:sp>
        <p:nvSpPr>
          <p:cNvPr id="6" name="Text 142"/>
          <p:cNvSpPr/>
          <p:nvPr/>
        </p:nvSpPr>
        <p:spPr>
          <a:xfrm>
            <a:off x="1371600" y="1481328"/>
            <a:ext cx="201168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Mobile app</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React Native + Expo · riders and drivers</a:t>
            </a:r>
            <a:endParaRPr lang="en-US" sz="1400" dirty="0"/>
          </a:p>
        </p:txBody>
      </p:sp>
      <p:sp>
        <p:nvSpPr>
          <p:cNvPr id="7" name="Arch 143"/>
          <p:cNvSpPr/>
          <p:nvPr/>
        </p:nvSpPr>
        <p:spPr>
          <a:xfrm>
            <a:off x="548640" y="2834640"/>
            <a:ext cx="2926080" cy="1005840"/>
          </a:xfrm>
          <a:prstGeom prst="roundRect">
            <a:avLst>
              <a:gd name="adj" fmla="val 9091"/>
            </a:avLst>
          </a:prstGeom>
          <a:solidFill>
            <a:srgbClr val="0B7A75"/>
          </a:solidFill>
          <a:ln w="12700">
            <a:solidFill>
              <a:srgbClr val="0B7A75"/>
            </a:solidFill>
            <a:prstDash val="solid"/>
          </a:ln>
        </p:spPr>
      </p:sp>
      <p:pic>
        <p:nvPicPr>
          <p:cNvPr id="8" name="Arch 143 glyph" descr="preencoded.png">    </p:cNvPr>
          <p:cNvPicPr>
            <a:picLocks noChangeAspect="1"/>
          </p:cNvPicPr>
          <p:nvPr/>
        </p:nvPicPr>
        <p:blipFill>
          <a:blip r:embed="rId2"/>
          <a:stretch>
            <a:fillRect/>
          </a:stretch>
        </p:blipFill>
        <p:spPr>
          <a:xfrm>
            <a:off x="731520" y="3086100"/>
            <a:ext cx="502920" cy="502920"/>
          </a:xfrm>
          <a:prstGeom prst="rect">
            <a:avLst/>
          </a:prstGeom>
        </p:spPr>
      </p:pic>
      <p:sp>
        <p:nvSpPr>
          <p:cNvPr id="9" name="Text 144"/>
          <p:cNvSpPr/>
          <p:nvPr/>
        </p:nvSpPr>
        <p:spPr>
          <a:xfrm>
            <a:off x="1371600" y="2944368"/>
            <a:ext cx="201168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Admin web</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React + Vite · operations</a:t>
            </a:r>
            <a:endParaRPr lang="en-US" sz="1400" dirty="0"/>
          </a:p>
        </p:txBody>
      </p:sp>
      <p:sp>
        <p:nvSpPr>
          <p:cNvPr id="10" name="Arch 145"/>
          <p:cNvSpPr/>
          <p:nvPr/>
        </p:nvSpPr>
        <p:spPr>
          <a:xfrm>
            <a:off x="548640" y="4297680"/>
            <a:ext cx="2926080" cy="1005840"/>
          </a:xfrm>
          <a:prstGeom prst="roundRect">
            <a:avLst>
              <a:gd name="adj" fmla="val 9091"/>
            </a:avLst>
          </a:prstGeom>
          <a:solidFill>
            <a:srgbClr val="08605C"/>
          </a:solidFill>
          <a:ln w="12700">
            <a:solidFill>
              <a:srgbClr val="08605C"/>
            </a:solidFill>
            <a:prstDash val="solid"/>
          </a:ln>
        </p:spPr>
      </p:sp>
      <p:pic>
        <p:nvPicPr>
          <p:cNvPr id="11" name="Arch 145 glyph" descr="preencoded.png">    </p:cNvPr>
          <p:cNvPicPr>
            <a:picLocks noChangeAspect="1"/>
          </p:cNvPicPr>
          <p:nvPr/>
        </p:nvPicPr>
        <p:blipFill>
          <a:blip r:embed="rId3"/>
          <a:stretch>
            <a:fillRect/>
          </a:stretch>
        </p:blipFill>
        <p:spPr>
          <a:xfrm>
            <a:off x="731520" y="4549140"/>
            <a:ext cx="502920" cy="502920"/>
          </a:xfrm>
          <a:prstGeom prst="rect">
            <a:avLst/>
          </a:prstGeom>
        </p:spPr>
      </p:pic>
      <p:sp>
        <p:nvSpPr>
          <p:cNvPr id="12" name="Text 146"/>
          <p:cNvSpPr/>
          <p:nvPr/>
        </p:nvSpPr>
        <p:spPr>
          <a:xfrm>
            <a:off x="1371600" y="4407408"/>
            <a:ext cx="201168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Website</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Vite on Vercel · terms, privacy</a:t>
            </a:r>
            <a:endParaRPr lang="en-US" sz="1400" dirty="0"/>
          </a:p>
        </p:txBody>
      </p:sp>
      <p:sp>
        <p:nvSpPr>
          <p:cNvPr id="13" name="Arch 147"/>
          <p:cNvSpPr/>
          <p:nvPr/>
        </p:nvSpPr>
        <p:spPr>
          <a:xfrm>
            <a:off x="4480560" y="2011680"/>
            <a:ext cx="3200400" cy="1280160"/>
          </a:xfrm>
          <a:prstGeom prst="roundRect">
            <a:avLst>
              <a:gd name="adj" fmla="val 7143"/>
            </a:avLst>
          </a:prstGeom>
          <a:solidFill>
            <a:srgbClr val="1B1446"/>
          </a:solidFill>
          <a:ln w="12700">
            <a:solidFill>
              <a:srgbClr val="1B1446"/>
            </a:solidFill>
            <a:prstDash val="solid"/>
          </a:ln>
        </p:spPr>
      </p:sp>
      <p:pic>
        <p:nvPicPr>
          <p:cNvPr id="14" name="Arch 147 glyph" descr="preencoded.png">    </p:cNvPr>
          <p:cNvPicPr>
            <a:picLocks noChangeAspect="1"/>
          </p:cNvPicPr>
          <p:nvPr/>
        </p:nvPicPr>
        <p:blipFill>
          <a:blip r:embed="rId4"/>
          <a:stretch>
            <a:fillRect/>
          </a:stretch>
        </p:blipFill>
        <p:spPr>
          <a:xfrm>
            <a:off x="4663440" y="2400300"/>
            <a:ext cx="502920" cy="502920"/>
          </a:xfrm>
          <a:prstGeom prst="rect">
            <a:avLst/>
          </a:prstGeom>
        </p:spPr>
      </p:pic>
      <p:sp>
        <p:nvSpPr>
          <p:cNvPr id="15" name="Text 148"/>
          <p:cNvSpPr/>
          <p:nvPr/>
        </p:nvSpPr>
        <p:spPr>
          <a:xfrm>
            <a:off x="5303520" y="2121408"/>
            <a:ext cx="2286000" cy="10972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Backend API</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Node.js · Express · TypeScript · 252 routes</a:t>
            </a:r>
            <a:endParaRPr lang="en-US" sz="1400" dirty="0"/>
          </a:p>
        </p:txBody>
      </p:sp>
      <p:sp>
        <p:nvSpPr>
          <p:cNvPr id="16" name="Arch 149"/>
          <p:cNvSpPr/>
          <p:nvPr/>
        </p:nvSpPr>
        <p:spPr>
          <a:xfrm>
            <a:off x="4480560" y="3657600"/>
            <a:ext cx="3200400" cy="1005840"/>
          </a:xfrm>
          <a:prstGeom prst="roundRect">
            <a:avLst>
              <a:gd name="adj" fmla="val 9091"/>
            </a:avLst>
          </a:prstGeom>
          <a:solidFill>
            <a:srgbClr val="1B1446"/>
          </a:solidFill>
          <a:ln w="12700">
            <a:solidFill>
              <a:srgbClr val="1B1446"/>
            </a:solidFill>
            <a:prstDash val="solid"/>
          </a:ln>
        </p:spPr>
      </p:sp>
      <p:pic>
        <p:nvPicPr>
          <p:cNvPr id="17" name="Arch 149 glyph" descr="preencoded.png">    </p:cNvPr>
          <p:cNvPicPr>
            <a:picLocks noChangeAspect="1"/>
          </p:cNvPicPr>
          <p:nvPr/>
        </p:nvPicPr>
        <p:blipFill>
          <a:blip r:embed="rId5"/>
          <a:stretch>
            <a:fillRect/>
          </a:stretch>
        </p:blipFill>
        <p:spPr>
          <a:xfrm>
            <a:off x="4663440" y="3909060"/>
            <a:ext cx="502920" cy="502920"/>
          </a:xfrm>
          <a:prstGeom prst="rect">
            <a:avLst/>
          </a:prstGeom>
        </p:spPr>
      </p:pic>
      <p:sp>
        <p:nvSpPr>
          <p:cNvPr id="18" name="Text 150"/>
          <p:cNvSpPr/>
          <p:nvPr/>
        </p:nvSpPr>
        <p:spPr>
          <a:xfrm>
            <a:off x="5303520" y="3767328"/>
            <a:ext cx="228600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Real-time gateway</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Socket.IO · live GPS, chat, SOS</a:t>
            </a:r>
            <a:endParaRPr lang="en-US" sz="1400" dirty="0"/>
          </a:p>
        </p:txBody>
      </p:sp>
      <p:sp>
        <p:nvSpPr>
          <p:cNvPr id="19" name="Arch 151"/>
          <p:cNvSpPr/>
          <p:nvPr/>
        </p:nvSpPr>
        <p:spPr>
          <a:xfrm>
            <a:off x="8686800" y="1188720"/>
            <a:ext cx="2926080" cy="914400"/>
          </a:xfrm>
          <a:prstGeom prst="roundRect">
            <a:avLst>
              <a:gd name="adj" fmla="val 10000"/>
            </a:avLst>
          </a:prstGeom>
          <a:solidFill>
            <a:srgbClr val="D9468F"/>
          </a:solidFill>
          <a:ln w="12700">
            <a:solidFill>
              <a:srgbClr val="D9468F"/>
            </a:solidFill>
            <a:prstDash val="solid"/>
          </a:ln>
        </p:spPr>
      </p:sp>
      <p:pic>
        <p:nvPicPr>
          <p:cNvPr id="20" name="Arch 151 glyph" descr="preencoded.png">    </p:cNvPr>
          <p:cNvPicPr>
            <a:picLocks noChangeAspect="1"/>
          </p:cNvPicPr>
          <p:nvPr/>
        </p:nvPicPr>
        <p:blipFill>
          <a:blip r:embed="rId6"/>
          <a:stretch>
            <a:fillRect/>
          </a:stretch>
        </p:blipFill>
        <p:spPr>
          <a:xfrm>
            <a:off x="8869680" y="1394460"/>
            <a:ext cx="502920" cy="502920"/>
          </a:xfrm>
          <a:prstGeom prst="rect">
            <a:avLst/>
          </a:prstGeom>
        </p:spPr>
      </p:pic>
      <p:sp>
        <p:nvSpPr>
          <p:cNvPr id="21" name="Text 152"/>
          <p:cNvSpPr/>
          <p:nvPr/>
        </p:nvSpPr>
        <p:spPr>
          <a:xfrm>
            <a:off x="9509760" y="1298448"/>
            <a:ext cx="20116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ML service</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Python · FastAPI</a:t>
            </a:r>
            <a:endParaRPr lang="en-US" sz="1400" dirty="0"/>
          </a:p>
        </p:txBody>
      </p:sp>
      <p:sp>
        <p:nvSpPr>
          <p:cNvPr id="22" name="Arch 153"/>
          <p:cNvSpPr/>
          <p:nvPr/>
        </p:nvSpPr>
        <p:spPr>
          <a:xfrm>
            <a:off x="8686800" y="2331720"/>
            <a:ext cx="2926080" cy="914400"/>
          </a:xfrm>
          <a:prstGeom prst="roundRect">
            <a:avLst>
              <a:gd name="adj" fmla="val 10000"/>
            </a:avLst>
          </a:prstGeom>
          <a:solidFill>
            <a:srgbClr val="3B3196"/>
          </a:solidFill>
          <a:ln w="12700">
            <a:solidFill>
              <a:srgbClr val="3B3196"/>
            </a:solidFill>
            <a:prstDash val="solid"/>
          </a:ln>
        </p:spPr>
      </p:sp>
      <p:pic>
        <p:nvPicPr>
          <p:cNvPr id="23" name="Arch 153 glyph" descr="preencoded.png">    </p:cNvPr>
          <p:cNvPicPr>
            <a:picLocks noChangeAspect="1"/>
          </p:cNvPicPr>
          <p:nvPr/>
        </p:nvPicPr>
        <p:blipFill>
          <a:blip r:embed="rId7"/>
          <a:stretch>
            <a:fillRect/>
          </a:stretch>
        </p:blipFill>
        <p:spPr>
          <a:xfrm>
            <a:off x="8869680" y="2537460"/>
            <a:ext cx="502920" cy="502920"/>
          </a:xfrm>
          <a:prstGeom prst="rect">
            <a:avLst/>
          </a:prstGeom>
        </p:spPr>
      </p:pic>
      <p:sp>
        <p:nvSpPr>
          <p:cNvPr id="24" name="Text 154"/>
          <p:cNvSpPr/>
          <p:nvPr/>
        </p:nvSpPr>
        <p:spPr>
          <a:xfrm>
            <a:off x="9509760" y="2441448"/>
            <a:ext cx="20116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MongoDB</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34 collections · geo indexes</a:t>
            </a:r>
            <a:endParaRPr lang="en-US" sz="1400" dirty="0"/>
          </a:p>
        </p:txBody>
      </p:sp>
      <p:sp>
        <p:nvSpPr>
          <p:cNvPr id="25" name="Arch 155"/>
          <p:cNvSpPr/>
          <p:nvPr/>
        </p:nvSpPr>
        <p:spPr>
          <a:xfrm>
            <a:off x="8686800" y="3474720"/>
            <a:ext cx="2926080" cy="914400"/>
          </a:xfrm>
          <a:prstGeom prst="roundRect">
            <a:avLst>
              <a:gd name="adj" fmla="val 10000"/>
            </a:avLst>
          </a:prstGeom>
          <a:solidFill>
            <a:srgbClr val="3B3196"/>
          </a:solidFill>
          <a:ln w="12700">
            <a:solidFill>
              <a:srgbClr val="3B3196"/>
            </a:solidFill>
            <a:prstDash val="solid"/>
          </a:ln>
        </p:spPr>
      </p:sp>
      <p:pic>
        <p:nvPicPr>
          <p:cNvPr id="26" name="Arch 155 glyph" descr="preencoded.png">    </p:cNvPr>
          <p:cNvPicPr>
            <a:picLocks noChangeAspect="1"/>
          </p:cNvPicPr>
          <p:nvPr/>
        </p:nvPicPr>
        <p:blipFill>
          <a:blip r:embed="rId8"/>
          <a:stretch>
            <a:fillRect/>
          </a:stretch>
        </p:blipFill>
        <p:spPr>
          <a:xfrm>
            <a:off x="8869680" y="3680460"/>
            <a:ext cx="502920" cy="502920"/>
          </a:xfrm>
          <a:prstGeom prst="rect">
            <a:avLst/>
          </a:prstGeom>
        </p:spPr>
      </p:pic>
      <p:sp>
        <p:nvSpPr>
          <p:cNvPr id="27" name="Text 156"/>
          <p:cNvSpPr/>
          <p:nvPr/>
        </p:nvSpPr>
        <p:spPr>
          <a:xfrm>
            <a:off x="9509760" y="3584448"/>
            <a:ext cx="20116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Redis + Kafka</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Cache, limits, locks, events</a:t>
            </a:r>
            <a:endParaRPr lang="en-US" sz="1400" dirty="0"/>
          </a:p>
        </p:txBody>
      </p:sp>
      <p:sp>
        <p:nvSpPr>
          <p:cNvPr id="28" name="Arch 157"/>
          <p:cNvSpPr/>
          <p:nvPr/>
        </p:nvSpPr>
        <p:spPr>
          <a:xfrm>
            <a:off x="8686800" y="4617720"/>
            <a:ext cx="2926080" cy="1188720"/>
          </a:xfrm>
          <a:prstGeom prst="roundRect">
            <a:avLst>
              <a:gd name="adj" fmla="val 7692"/>
            </a:avLst>
          </a:prstGeom>
          <a:solidFill>
            <a:srgbClr val="5B6475"/>
          </a:solidFill>
          <a:ln w="12700">
            <a:solidFill>
              <a:srgbClr val="5B6475"/>
            </a:solidFill>
            <a:prstDash val="solid"/>
          </a:ln>
        </p:spPr>
      </p:sp>
      <p:pic>
        <p:nvPicPr>
          <p:cNvPr id="29" name="Arch 157 glyph" descr="preencoded.png">    </p:cNvPr>
          <p:cNvPicPr>
            <a:picLocks noChangeAspect="1"/>
          </p:cNvPicPr>
          <p:nvPr/>
        </p:nvPicPr>
        <p:blipFill>
          <a:blip r:embed="rId9"/>
          <a:stretch>
            <a:fillRect/>
          </a:stretch>
        </p:blipFill>
        <p:spPr>
          <a:xfrm>
            <a:off x="8869680" y="4960620"/>
            <a:ext cx="502920" cy="502920"/>
          </a:xfrm>
          <a:prstGeom prst="rect">
            <a:avLst/>
          </a:prstGeom>
        </p:spPr>
      </p:pic>
      <p:sp>
        <p:nvSpPr>
          <p:cNvPr id="30" name="Text 158"/>
          <p:cNvSpPr/>
          <p:nvPr/>
        </p:nvSpPr>
        <p:spPr>
          <a:xfrm>
            <a:off x="9509760" y="4727448"/>
            <a:ext cx="2011680" cy="10058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External services</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Paynow · OSRM, Photon, Nominatim · Firebase · Twilio · S3 · Claude</a:t>
            </a:r>
            <a:endParaRPr lang="en-US" sz="1400" dirty="0"/>
          </a:p>
        </p:txBody>
      </p:sp>
      <p:sp>
        <p:nvSpPr>
          <p:cNvPr id="31" name="Link 159"/>
          <p:cNvSpPr/>
          <p:nvPr/>
        </p:nvSpPr>
        <p:spPr>
          <a:xfrm>
            <a:off x="3474720" y="1874520"/>
            <a:ext cx="1005840" cy="594360"/>
          </a:xfrm>
          <a:prstGeom prst="line">
            <a:avLst/>
          </a:prstGeom>
          <a:noFill/>
          <a:ln w="19050">
            <a:solidFill>
              <a:srgbClr val="B9B4D9"/>
            </a:solidFill>
            <a:prstDash val="dash"/>
          </a:ln>
        </p:spPr>
      </p:sp>
      <p:sp>
        <p:nvSpPr>
          <p:cNvPr id="32" name="Link 160"/>
          <p:cNvSpPr/>
          <p:nvPr/>
        </p:nvSpPr>
        <p:spPr>
          <a:xfrm>
            <a:off x="3474720" y="2743200"/>
            <a:ext cx="1005840" cy="594360"/>
          </a:xfrm>
          <a:prstGeom prst="line">
            <a:avLst/>
          </a:prstGeom>
          <a:noFill/>
          <a:ln w="19050">
            <a:solidFill>
              <a:srgbClr val="B9B4D9"/>
            </a:solidFill>
            <a:prstDash val="dash"/>
          </a:ln>
        </p:spPr>
      </p:sp>
      <p:sp>
        <p:nvSpPr>
          <p:cNvPr id="33" name="Link 161"/>
          <p:cNvSpPr/>
          <p:nvPr/>
        </p:nvSpPr>
        <p:spPr>
          <a:xfrm>
            <a:off x="3474720" y="3337560"/>
            <a:ext cx="1005840" cy="777240"/>
          </a:xfrm>
          <a:prstGeom prst="line">
            <a:avLst/>
          </a:prstGeom>
          <a:noFill/>
          <a:ln w="19050">
            <a:solidFill>
              <a:srgbClr val="B9B4D9"/>
            </a:solidFill>
            <a:prstDash val="dash"/>
          </a:ln>
        </p:spPr>
      </p:sp>
      <p:sp>
        <p:nvSpPr>
          <p:cNvPr id="34" name="Link 162"/>
          <p:cNvSpPr/>
          <p:nvPr/>
        </p:nvSpPr>
        <p:spPr>
          <a:xfrm>
            <a:off x="7680960" y="1645920"/>
            <a:ext cx="1005840" cy="1005840"/>
          </a:xfrm>
          <a:prstGeom prst="line">
            <a:avLst/>
          </a:prstGeom>
          <a:noFill/>
          <a:ln w="19050">
            <a:solidFill>
              <a:srgbClr val="B9B4D9"/>
            </a:solidFill>
            <a:prstDash val="dash"/>
          </a:ln>
        </p:spPr>
      </p:sp>
      <p:sp>
        <p:nvSpPr>
          <p:cNvPr id="35" name="Link 163"/>
          <p:cNvSpPr/>
          <p:nvPr/>
        </p:nvSpPr>
        <p:spPr>
          <a:xfrm>
            <a:off x="7680960" y="2651760"/>
            <a:ext cx="1005840" cy="137160"/>
          </a:xfrm>
          <a:prstGeom prst="line">
            <a:avLst/>
          </a:prstGeom>
          <a:noFill/>
          <a:ln w="19050">
            <a:solidFill>
              <a:srgbClr val="B9B4D9"/>
            </a:solidFill>
            <a:prstDash val="dash"/>
          </a:ln>
        </p:spPr>
      </p:sp>
      <p:sp>
        <p:nvSpPr>
          <p:cNvPr id="36" name="Link 164"/>
          <p:cNvSpPr/>
          <p:nvPr/>
        </p:nvSpPr>
        <p:spPr>
          <a:xfrm>
            <a:off x="7680960" y="2834640"/>
            <a:ext cx="1005840" cy="1097280"/>
          </a:xfrm>
          <a:prstGeom prst="line">
            <a:avLst/>
          </a:prstGeom>
          <a:noFill/>
          <a:ln w="19050">
            <a:solidFill>
              <a:srgbClr val="B9B4D9"/>
            </a:solidFill>
            <a:prstDash val="dash"/>
          </a:ln>
        </p:spPr>
      </p:sp>
      <p:sp>
        <p:nvSpPr>
          <p:cNvPr id="37" name="Link 165"/>
          <p:cNvSpPr/>
          <p:nvPr/>
        </p:nvSpPr>
        <p:spPr>
          <a:xfrm>
            <a:off x="7680960" y="3017520"/>
            <a:ext cx="1005840" cy="2103120"/>
          </a:xfrm>
          <a:prstGeom prst="line">
            <a:avLst/>
          </a:prstGeom>
          <a:noFill/>
          <a:ln w="19050">
            <a:solidFill>
              <a:srgbClr val="B9B4D9"/>
            </a:solidFill>
            <a:prstDash val="dash"/>
          </a:ln>
        </p:spPr>
      </p:sp>
      <p:pic>
        <p:nvPicPr>
          <p:cNvPr id="38" name="Mark 166" descr="/home/ghost/Desktop/Projects/Poolora/branding/poolora-icon.png">    </p:cNvPr>
          <p:cNvPicPr>
            <a:picLocks noChangeAspect="1"/>
          </p:cNvPicPr>
          <p:nvPr/>
        </p:nvPicPr>
        <p:blipFill>
          <a:blip r:embed="rId10"/>
          <a:stretch>
            <a:fillRect/>
          </a:stretch>
        </p:blipFill>
        <p:spPr>
          <a:xfrm>
            <a:off x="11368735" y="6355080"/>
            <a:ext cx="310896" cy="310896"/>
          </a:xfrm>
          <a:prstGeom prst="rect">
            <a:avLst/>
          </a:prstGeom>
        </p:spPr>
      </p:pic>
      <p:sp>
        <p:nvSpPr>
          <p:cNvPr id="39" name="Text 26"/>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12</a:t>
            </a:r>
            <a:endParaRPr lang="en-US" sz="1100" dirty="0"/>
          </a:p>
        </p:txBody>
      </p:sp>
      <p:sp>
        <p:nvSpPr>
          <p:cNvPr id="40" name="Text 27"/>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9" fill="hold">
                      <p:stCondLst>
                        <p:cond delay="indefinite"/>
                        <p:cond evt="onBegin" delay="0">
                          <p:tn val="2"/>
                        </p:cond>
                      </p:stCondLst>
                      <p:childTnLst>
                        <p:par>
                          <p:cTn id="160"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12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12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2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4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24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24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36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6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48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48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48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60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6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additive="base">
                                        <p:cTn id="86" dur="500" fill="hold"/>
                                        <p:tgtEl>
                                          <p:spTgt spid="20"/>
                                        </p:tgtEl>
                                        <p:attrNameLst>
                                          <p:attrName>ppt_x</p:attrName>
                                        </p:attrNameLst>
                                      </p:cBhvr>
                                      <p:tavLst>
                                        <p:tav tm="0">
                                          <p:val>
                                            <p:strVal val="#ppt_x"/>
                                          </p:val>
                                        </p:tav>
                                        <p:tav tm="100000">
                                          <p:val>
                                            <p:strVal val="#ppt_x"/>
                                          </p:val>
                                        </p:tav>
                                      </p:tavLst>
                                    </p:anim>
                                    <p:anim calcmode="lin" valueType="num">
                                      <p:cBhvr additive="base">
                                        <p:cTn id="87"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6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additive="base">
                                        <p:cTn id="91" dur="500" fill="hold"/>
                                        <p:tgtEl>
                                          <p:spTgt spid="21"/>
                                        </p:tgtEl>
                                        <p:attrNameLst>
                                          <p:attrName>ppt_x</p:attrName>
                                        </p:attrNameLst>
                                      </p:cBhvr>
                                      <p:tavLst>
                                        <p:tav tm="0">
                                          <p:val>
                                            <p:strVal val="#ppt_x"/>
                                          </p:val>
                                        </p:tav>
                                        <p:tav tm="100000">
                                          <p:val>
                                            <p:strVal val="#ppt_x"/>
                                          </p:val>
                                        </p:tav>
                                      </p:tavLst>
                                    </p:anim>
                                    <p:anim calcmode="lin" valueType="num">
                                      <p:cBhvr additive="base">
                                        <p:cTn id="92"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72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00"/>
                                        <p:tgtEl>
                                          <p:spTgt spid="22"/>
                                        </p:tgtEl>
                                      </p:cBhvr>
                                    </p:animEffect>
                                    <p:anim calcmode="lin" valueType="num">
                                      <p:cBhvr additive="base">
                                        <p:cTn id="96" dur="500" fill="hold"/>
                                        <p:tgtEl>
                                          <p:spTgt spid="22"/>
                                        </p:tgtEl>
                                        <p:attrNameLst>
                                          <p:attrName>ppt_x</p:attrName>
                                        </p:attrNameLst>
                                      </p:cBhvr>
                                      <p:tavLst>
                                        <p:tav tm="0">
                                          <p:val>
                                            <p:strVal val="#ppt_x"/>
                                          </p:val>
                                        </p:tav>
                                        <p:tav tm="100000">
                                          <p:val>
                                            <p:strVal val="#ppt_x"/>
                                          </p:val>
                                        </p:tav>
                                      </p:tavLst>
                                    </p:anim>
                                    <p:anim calcmode="lin" valueType="num">
                                      <p:cBhvr additive="base">
                                        <p:cTn id="97"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72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anim calcmode="lin" valueType="num">
                                      <p:cBhvr additive="base">
                                        <p:cTn id="101" dur="500" fill="hold"/>
                                        <p:tgtEl>
                                          <p:spTgt spid="23"/>
                                        </p:tgtEl>
                                        <p:attrNameLst>
                                          <p:attrName>ppt_x</p:attrName>
                                        </p:attrNameLst>
                                      </p:cBhvr>
                                      <p:tavLst>
                                        <p:tav tm="0">
                                          <p:val>
                                            <p:strVal val="#ppt_x"/>
                                          </p:val>
                                        </p:tav>
                                        <p:tav tm="100000">
                                          <p:val>
                                            <p:strVal val="#ppt_x"/>
                                          </p:val>
                                        </p:tav>
                                      </p:tavLst>
                                    </p:anim>
                                    <p:anim calcmode="lin" valueType="num">
                                      <p:cBhvr additive="base">
                                        <p:cTn id="102"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72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00"/>
                                        <p:tgtEl>
                                          <p:spTgt spid="24"/>
                                        </p:tgtEl>
                                      </p:cBhvr>
                                    </p:animEffect>
                                    <p:anim calcmode="lin" valueType="num">
                                      <p:cBhvr additive="base">
                                        <p:cTn id="106" dur="500" fill="hold"/>
                                        <p:tgtEl>
                                          <p:spTgt spid="24"/>
                                        </p:tgtEl>
                                        <p:attrNameLst>
                                          <p:attrName>ppt_x</p:attrName>
                                        </p:attrNameLst>
                                      </p:cBhvr>
                                      <p:tavLst>
                                        <p:tav tm="0">
                                          <p:val>
                                            <p:strVal val="#ppt_x"/>
                                          </p:val>
                                        </p:tav>
                                        <p:tav tm="100000">
                                          <p:val>
                                            <p:strVal val="#ppt_x"/>
                                          </p:val>
                                        </p:tav>
                                      </p:tavLst>
                                    </p:anim>
                                    <p:anim calcmode="lin" valueType="num">
                                      <p:cBhvr additive="base">
                                        <p:cTn id="107" dur="5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84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00"/>
                                        <p:tgtEl>
                                          <p:spTgt spid="25"/>
                                        </p:tgtEl>
                                      </p:cBhvr>
                                    </p:animEffect>
                                    <p:anim calcmode="lin" valueType="num">
                                      <p:cBhvr additive="base">
                                        <p:cTn id="111" dur="500" fill="hold"/>
                                        <p:tgtEl>
                                          <p:spTgt spid="25"/>
                                        </p:tgtEl>
                                        <p:attrNameLst>
                                          <p:attrName>ppt_x</p:attrName>
                                        </p:attrNameLst>
                                      </p:cBhvr>
                                      <p:tavLst>
                                        <p:tav tm="0">
                                          <p:val>
                                            <p:strVal val="#ppt_x"/>
                                          </p:val>
                                        </p:tav>
                                        <p:tav tm="100000">
                                          <p:val>
                                            <p:strVal val="#ppt_x"/>
                                          </p:val>
                                        </p:tav>
                                      </p:tavLst>
                                    </p:anim>
                                    <p:anim calcmode="lin" valueType="num">
                                      <p:cBhvr additive="base">
                                        <p:cTn id="112" dur="5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84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anim calcmode="lin" valueType="num">
                                      <p:cBhvr additive="base">
                                        <p:cTn id="116" dur="500" fill="hold"/>
                                        <p:tgtEl>
                                          <p:spTgt spid="26"/>
                                        </p:tgtEl>
                                        <p:attrNameLst>
                                          <p:attrName>ppt_x</p:attrName>
                                        </p:attrNameLst>
                                      </p:cBhvr>
                                      <p:tavLst>
                                        <p:tav tm="0">
                                          <p:val>
                                            <p:strVal val="#ppt_x"/>
                                          </p:val>
                                        </p:tav>
                                        <p:tav tm="100000">
                                          <p:val>
                                            <p:strVal val="#ppt_x"/>
                                          </p:val>
                                        </p:tav>
                                      </p:tavLst>
                                    </p:anim>
                                    <p:anim calcmode="lin" valueType="num">
                                      <p:cBhvr additive="base">
                                        <p:cTn id="117" dur="5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84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anim calcmode="lin" valueType="num">
                                      <p:cBhvr additive="base">
                                        <p:cTn id="121" dur="500" fill="hold"/>
                                        <p:tgtEl>
                                          <p:spTgt spid="27"/>
                                        </p:tgtEl>
                                        <p:attrNameLst>
                                          <p:attrName>ppt_x</p:attrName>
                                        </p:attrNameLst>
                                      </p:cBhvr>
                                      <p:tavLst>
                                        <p:tav tm="0">
                                          <p:val>
                                            <p:strVal val="#ppt_x"/>
                                          </p:val>
                                        </p:tav>
                                        <p:tav tm="100000">
                                          <p:val>
                                            <p:strVal val="#ppt_x"/>
                                          </p:val>
                                        </p:tav>
                                      </p:tavLst>
                                    </p:anim>
                                    <p:anim calcmode="lin" valueType="num">
                                      <p:cBhvr additive="base">
                                        <p:cTn id="122" dur="5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96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anim calcmode="lin" valueType="num">
                                      <p:cBhvr additive="base">
                                        <p:cTn id="126" dur="500" fill="hold"/>
                                        <p:tgtEl>
                                          <p:spTgt spid="28"/>
                                        </p:tgtEl>
                                        <p:attrNameLst>
                                          <p:attrName>ppt_x</p:attrName>
                                        </p:attrNameLst>
                                      </p:cBhvr>
                                      <p:tavLst>
                                        <p:tav tm="0">
                                          <p:val>
                                            <p:strVal val="#ppt_x"/>
                                          </p:val>
                                        </p:tav>
                                        <p:tav tm="100000">
                                          <p:val>
                                            <p:strVal val="#ppt_x"/>
                                          </p:val>
                                        </p:tav>
                                      </p:tavLst>
                                    </p:anim>
                                    <p:anim calcmode="lin" valueType="num">
                                      <p:cBhvr additive="base">
                                        <p:cTn id="127" dur="5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96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anim calcmode="lin" valueType="num">
                                      <p:cBhvr additive="base">
                                        <p:cTn id="131" dur="500" fill="hold"/>
                                        <p:tgtEl>
                                          <p:spTgt spid="29"/>
                                        </p:tgtEl>
                                        <p:attrNameLst>
                                          <p:attrName>ppt_x</p:attrName>
                                        </p:attrNameLst>
                                      </p:cBhvr>
                                      <p:tavLst>
                                        <p:tav tm="0">
                                          <p:val>
                                            <p:strVal val="#ppt_x"/>
                                          </p:val>
                                        </p:tav>
                                        <p:tav tm="100000">
                                          <p:val>
                                            <p:strVal val="#ppt_x"/>
                                          </p:val>
                                        </p:tav>
                                      </p:tavLst>
                                    </p:anim>
                                    <p:anim calcmode="lin" valueType="num">
                                      <p:cBhvr additive="base">
                                        <p:cTn id="132" dur="5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96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00"/>
                                        <p:tgtEl>
                                          <p:spTgt spid="30"/>
                                        </p:tgtEl>
                                      </p:cBhvr>
                                    </p:animEffect>
                                    <p:anim calcmode="lin" valueType="num">
                                      <p:cBhvr additive="base">
                                        <p:cTn id="136" dur="500" fill="hold"/>
                                        <p:tgtEl>
                                          <p:spTgt spid="30"/>
                                        </p:tgtEl>
                                        <p:attrNameLst>
                                          <p:attrName>ppt_x</p:attrName>
                                        </p:attrNameLst>
                                      </p:cBhvr>
                                      <p:tavLst>
                                        <p:tav tm="0">
                                          <p:val>
                                            <p:strVal val="#ppt_x"/>
                                          </p:val>
                                        </p:tav>
                                        <p:tav tm="100000">
                                          <p:val>
                                            <p:strVal val="#ppt_x"/>
                                          </p:val>
                                        </p:tav>
                                      </p:tavLst>
                                    </p:anim>
                                    <p:anim calcmode="lin" valueType="num">
                                      <p:cBhvr additive="base">
                                        <p:cTn id="137" dur="500" fill="hold"/>
                                        <p:tgtEl>
                                          <p:spTgt spid="30"/>
                                        </p:tgtEl>
                                        <p:attrNameLst>
                                          <p:attrName>ppt_y</p:attrName>
                                        </p:attrNameLst>
                                      </p:cBhvr>
                                      <p:tavLst>
                                        <p:tav tm="0">
                                          <p:val>
                                            <p:strVal val="#ppt_y+.1"/>
                                          </p:val>
                                        </p:tav>
                                        <p:tav tm="100000">
                                          <p:val>
                                            <p:strVal val="#ppt_y"/>
                                          </p:val>
                                        </p:tav>
                                      </p:tavLst>
                                    </p:anim>
                                  </p:childTnLst>
                                </p:cTn>
                              </p:par>
                              <p:par>
                                <p:cTn id="138" presetID="10" presetClass="entr" presetSubtype="0" fill="hold" grpId="0" nodeType="withEffect">
                                  <p:stCondLst>
                                    <p:cond delay="120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500"/>
                                        <p:tgtEl>
                                          <p:spTgt spid="31"/>
                                        </p:tgtEl>
                                      </p:cBhvr>
                                    </p:animEffect>
                                  </p:childTnLst>
                                </p:cTn>
                              </p:par>
                              <p:par>
                                <p:cTn id="141" presetID="10" presetClass="entr" presetSubtype="0" fill="hold" grpId="0" nodeType="withEffect">
                                  <p:stCondLst>
                                    <p:cond delay="1200"/>
                                  </p:stCondLst>
                                  <p:childTnLst>
                                    <p:set>
                                      <p:cBhvr>
                                        <p:cTn id="142" dur="1" fill="hold">
                                          <p:stCondLst>
                                            <p:cond delay="0"/>
                                          </p:stCondLst>
                                        </p:cTn>
                                        <p:tgtEl>
                                          <p:spTgt spid="32"/>
                                        </p:tgtEl>
                                        <p:attrNameLst>
                                          <p:attrName>style.visibility</p:attrName>
                                        </p:attrNameLst>
                                      </p:cBhvr>
                                      <p:to>
                                        <p:strVal val="visible"/>
                                      </p:to>
                                    </p:set>
                                    <p:animEffect transition="in" filter="fade">
                                      <p:cBhvr>
                                        <p:cTn id="143" dur="500"/>
                                        <p:tgtEl>
                                          <p:spTgt spid="32"/>
                                        </p:tgtEl>
                                      </p:cBhvr>
                                    </p:animEffect>
                                  </p:childTnLst>
                                </p:cTn>
                              </p:par>
                              <p:par>
                                <p:cTn id="144" presetID="10" presetClass="entr" presetSubtype="0" fill="hold" grpId="0" nodeType="withEffect">
                                  <p:stCondLst>
                                    <p:cond delay="120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00"/>
                                        <p:tgtEl>
                                          <p:spTgt spid="33"/>
                                        </p:tgtEl>
                                      </p:cBhvr>
                                    </p:animEffect>
                                  </p:childTnLst>
                                </p:cTn>
                              </p:par>
                              <p:par>
                                <p:cTn id="147" presetID="10" presetClass="entr" presetSubtype="0" fill="hold" grpId="0" nodeType="withEffect">
                                  <p:stCondLst>
                                    <p:cond delay="1200"/>
                                  </p:stCondLst>
                                  <p:childTnLst>
                                    <p:set>
                                      <p:cBhvr>
                                        <p:cTn id="148" dur="1" fill="hold">
                                          <p:stCondLst>
                                            <p:cond delay="0"/>
                                          </p:stCondLst>
                                        </p:cTn>
                                        <p:tgtEl>
                                          <p:spTgt spid="34"/>
                                        </p:tgtEl>
                                        <p:attrNameLst>
                                          <p:attrName>style.visibility</p:attrName>
                                        </p:attrNameLst>
                                      </p:cBhvr>
                                      <p:to>
                                        <p:strVal val="visible"/>
                                      </p:to>
                                    </p:set>
                                    <p:animEffect transition="in" filter="fade">
                                      <p:cBhvr>
                                        <p:cTn id="149" dur="500"/>
                                        <p:tgtEl>
                                          <p:spTgt spid="34"/>
                                        </p:tgtEl>
                                      </p:cBhvr>
                                    </p:animEffect>
                                  </p:childTnLst>
                                </p:cTn>
                              </p:par>
                              <p:par>
                                <p:cTn id="150" presetID="10" presetClass="entr" presetSubtype="0" fill="hold" grpId="0" nodeType="withEffect">
                                  <p:stCondLst>
                                    <p:cond delay="120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500"/>
                                        <p:tgtEl>
                                          <p:spTgt spid="35"/>
                                        </p:tgtEl>
                                      </p:cBhvr>
                                    </p:animEffect>
                                  </p:childTnLst>
                                </p:cTn>
                              </p:par>
                              <p:par>
                                <p:cTn id="153" presetID="10" presetClass="entr" presetSubtype="0" fill="hold" grpId="0" nodeType="withEffect">
                                  <p:stCondLst>
                                    <p:cond delay="120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500"/>
                                        <p:tgtEl>
                                          <p:spTgt spid="36"/>
                                        </p:tgtEl>
                                      </p:cBhvr>
                                    </p:animEffect>
                                  </p:childTnLst>
                                </p:cTn>
                              </p:par>
                              <p:par>
                                <p:cTn id="156" presetID="10" presetClass="entr" presetSubtype="0" fill="hold" grpId="0" nodeType="withEffect">
                                  <p:stCondLst>
                                    <p:cond delay="120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3" name="Title 167"/>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Technology stack</a:t>
            </a:r>
            <a:endParaRPr lang="en-US" sz="3000" dirty="0"/>
          </a:p>
        </p:txBody>
      </p:sp>
      <p:sp>
        <p:nvSpPr>
          <p:cNvPr id="4" name="Card 168"/>
          <p:cNvSpPr/>
          <p:nvPr/>
        </p:nvSpPr>
        <p:spPr>
          <a:xfrm>
            <a:off x="548640" y="13258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5" name="Stack icon 169" descr="preencoded.png">    </p:cNvPr>
          <p:cNvPicPr>
            <a:picLocks noChangeAspect="1"/>
          </p:cNvPicPr>
          <p:nvPr/>
        </p:nvPicPr>
        <p:blipFill>
          <a:blip r:embed="rId1"/>
          <a:stretch>
            <a:fillRect/>
          </a:stretch>
        </p:blipFill>
        <p:spPr>
          <a:xfrm>
            <a:off x="731520" y="1527048"/>
            <a:ext cx="457200" cy="457200"/>
          </a:xfrm>
          <a:prstGeom prst="rect">
            <a:avLst/>
          </a:prstGeom>
        </p:spPr>
      </p:pic>
      <p:sp>
        <p:nvSpPr>
          <p:cNvPr id="6" name="Text 170"/>
          <p:cNvSpPr/>
          <p:nvPr/>
        </p:nvSpPr>
        <p:spPr>
          <a:xfrm>
            <a:off x="731520" y="20574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React Native + Expo</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Android and iOS app</a:t>
            </a:r>
            <a:endParaRPr lang="en-US" sz="1400" dirty="0"/>
          </a:p>
        </p:txBody>
      </p:sp>
      <p:sp>
        <p:nvSpPr>
          <p:cNvPr id="7" name="Card 171"/>
          <p:cNvSpPr/>
          <p:nvPr/>
        </p:nvSpPr>
        <p:spPr>
          <a:xfrm>
            <a:off x="2788920" y="13258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8" name="Stack icon 172" descr="preencoded.png">    </p:cNvPr>
          <p:cNvPicPr>
            <a:picLocks noChangeAspect="1"/>
          </p:cNvPicPr>
          <p:nvPr/>
        </p:nvPicPr>
        <p:blipFill>
          <a:blip r:embed="rId2"/>
          <a:stretch>
            <a:fillRect/>
          </a:stretch>
        </p:blipFill>
        <p:spPr>
          <a:xfrm>
            <a:off x="2971800" y="1527048"/>
            <a:ext cx="457200" cy="457200"/>
          </a:xfrm>
          <a:prstGeom prst="rect">
            <a:avLst/>
          </a:prstGeom>
        </p:spPr>
      </p:pic>
      <p:sp>
        <p:nvSpPr>
          <p:cNvPr id="9" name="Text 173"/>
          <p:cNvSpPr/>
          <p:nvPr/>
        </p:nvSpPr>
        <p:spPr>
          <a:xfrm>
            <a:off x="2971800" y="20574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TypeScript</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App, API, admin, website</a:t>
            </a:r>
            <a:endParaRPr lang="en-US" sz="1400" dirty="0"/>
          </a:p>
        </p:txBody>
      </p:sp>
      <p:sp>
        <p:nvSpPr>
          <p:cNvPr id="10" name="Card 174"/>
          <p:cNvSpPr/>
          <p:nvPr/>
        </p:nvSpPr>
        <p:spPr>
          <a:xfrm>
            <a:off x="5029200" y="13258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11" name="Stack icon 175" descr="preencoded.png">    </p:cNvPr>
          <p:cNvPicPr>
            <a:picLocks noChangeAspect="1"/>
          </p:cNvPicPr>
          <p:nvPr/>
        </p:nvPicPr>
        <p:blipFill>
          <a:blip r:embed="rId3"/>
          <a:stretch>
            <a:fillRect/>
          </a:stretch>
        </p:blipFill>
        <p:spPr>
          <a:xfrm>
            <a:off x="5212080" y="1527048"/>
            <a:ext cx="457200" cy="457200"/>
          </a:xfrm>
          <a:prstGeom prst="rect">
            <a:avLst/>
          </a:prstGeom>
        </p:spPr>
      </p:pic>
      <p:sp>
        <p:nvSpPr>
          <p:cNvPr id="12" name="Text 176"/>
          <p:cNvSpPr/>
          <p:nvPr/>
        </p:nvSpPr>
        <p:spPr>
          <a:xfrm>
            <a:off x="5212080" y="20574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Node.js + Express 5</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REST API, 252 routes</a:t>
            </a:r>
            <a:endParaRPr lang="en-US" sz="1400" dirty="0"/>
          </a:p>
        </p:txBody>
      </p:sp>
      <p:sp>
        <p:nvSpPr>
          <p:cNvPr id="13" name="Card 177"/>
          <p:cNvSpPr/>
          <p:nvPr/>
        </p:nvSpPr>
        <p:spPr>
          <a:xfrm>
            <a:off x="7269480" y="13258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14" name="Stack icon 178" descr="preencoded.png">    </p:cNvPr>
          <p:cNvPicPr>
            <a:picLocks noChangeAspect="1"/>
          </p:cNvPicPr>
          <p:nvPr/>
        </p:nvPicPr>
        <p:blipFill>
          <a:blip r:embed="rId4"/>
          <a:stretch>
            <a:fillRect/>
          </a:stretch>
        </p:blipFill>
        <p:spPr>
          <a:xfrm>
            <a:off x="7452360" y="1527048"/>
            <a:ext cx="457200" cy="457200"/>
          </a:xfrm>
          <a:prstGeom prst="rect">
            <a:avLst/>
          </a:prstGeom>
        </p:spPr>
      </p:pic>
      <p:sp>
        <p:nvSpPr>
          <p:cNvPr id="15" name="Text 179"/>
          <p:cNvSpPr/>
          <p:nvPr/>
        </p:nvSpPr>
        <p:spPr>
          <a:xfrm>
            <a:off x="7452360" y="20574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Socket.IO</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Live location, chat, SOS</a:t>
            </a:r>
            <a:endParaRPr lang="en-US" sz="1400" dirty="0"/>
          </a:p>
        </p:txBody>
      </p:sp>
      <p:sp>
        <p:nvSpPr>
          <p:cNvPr id="16" name="Card 180"/>
          <p:cNvSpPr/>
          <p:nvPr/>
        </p:nvSpPr>
        <p:spPr>
          <a:xfrm>
            <a:off x="9509760" y="13258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17" name="Stack icon 181" descr="preencoded.png">    </p:cNvPr>
          <p:cNvPicPr>
            <a:picLocks noChangeAspect="1"/>
          </p:cNvPicPr>
          <p:nvPr/>
        </p:nvPicPr>
        <p:blipFill>
          <a:blip r:embed="rId5"/>
          <a:stretch>
            <a:fillRect/>
          </a:stretch>
        </p:blipFill>
        <p:spPr>
          <a:xfrm>
            <a:off x="9692640" y="1527048"/>
            <a:ext cx="457200" cy="457200"/>
          </a:xfrm>
          <a:prstGeom prst="rect">
            <a:avLst/>
          </a:prstGeom>
        </p:spPr>
      </p:pic>
      <p:sp>
        <p:nvSpPr>
          <p:cNvPr id="18" name="Text 182"/>
          <p:cNvSpPr/>
          <p:nvPr/>
        </p:nvSpPr>
        <p:spPr>
          <a:xfrm>
            <a:off x="9692640" y="20574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MongoDB + Mongoose</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Documents with 2dsphere indexes</a:t>
            </a:r>
            <a:endParaRPr lang="en-US" sz="1400" dirty="0"/>
          </a:p>
        </p:txBody>
      </p:sp>
      <p:sp>
        <p:nvSpPr>
          <p:cNvPr id="19" name="Card 183"/>
          <p:cNvSpPr/>
          <p:nvPr/>
        </p:nvSpPr>
        <p:spPr>
          <a:xfrm>
            <a:off x="548640" y="29260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20" name="Stack icon 184" descr="preencoded.png">    </p:cNvPr>
          <p:cNvPicPr>
            <a:picLocks noChangeAspect="1"/>
          </p:cNvPicPr>
          <p:nvPr/>
        </p:nvPicPr>
        <p:blipFill>
          <a:blip r:embed="rId6"/>
          <a:stretch>
            <a:fillRect/>
          </a:stretch>
        </p:blipFill>
        <p:spPr>
          <a:xfrm>
            <a:off x="731520" y="3127248"/>
            <a:ext cx="457200" cy="457200"/>
          </a:xfrm>
          <a:prstGeom prst="rect">
            <a:avLst/>
          </a:prstGeom>
        </p:spPr>
      </p:pic>
      <p:sp>
        <p:nvSpPr>
          <p:cNvPr id="21" name="Text 185"/>
          <p:cNvSpPr/>
          <p:nvPr/>
        </p:nvSpPr>
        <p:spPr>
          <a:xfrm>
            <a:off x="731520" y="36576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Redis</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Cache, rate limits, job locks</a:t>
            </a:r>
            <a:endParaRPr lang="en-US" sz="1400" dirty="0"/>
          </a:p>
        </p:txBody>
      </p:sp>
      <p:sp>
        <p:nvSpPr>
          <p:cNvPr id="22" name="Card 186"/>
          <p:cNvSpPr/>
          <p:nvPr/>
        </p:nvSpPr>
        <p:spPr>
          <a:xfrm>
            <a:off x="2788920" y="29260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23" name="Stack icon 187" descr="preencoded.png">    </p:cNvPr>
          <p:cNvPicPr>
            <a:picLocks noChangeAspect="1"/>
          </p:cNvPicPr>
          <p:nvPr/>
        </p:nvPicPr>
        <p:blipFill>
          <a:blip r:embed="rId7"/>
          <a:stretch>
            <a:fillRect/>
          </a:stretch>
        </p:blipFill>
        <p:spPr>
          <a:xfrm>
            <a:off x="2971800" y="3127248"/>
            <a:ext cx="457200" cy="457200"/>
          </a:xfrm>
          <a:prstGeom prst="rect">
            <a:avLst/>
          </a:prstGeom>
        </p:spPr>
      </p:pic>
      <p:sp>
        <p:nvSpPr>
          <p:cNvPr id="24" name="Text 188"/>
          <p:cNvSpPr/>
          <p:nvPr/>
        </p:nvSpPr>
        <p:spPr>
          <a:xfrm>
            <a:off x="2971800" y="36576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Kafka</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Events (in-process fallback)</a:t>
            </a:r>
            <a:endParaRPr lang="en-US" sz="1400" dirty="0"/>
          </a:p>
        </p:txBody>
      </p:sp>
      <p:sp>
        <p:nvSpPr>
          <p:cNvPr id="25" name="Card 189"/>
          <p:cNvSpPr/>
          <p:nvPr/>
        </p:nvSpPr>
        <p:spPr>
          <a:xfrm>
            <a:off x="5029200" y="29260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26" name="Stack icon 190" descr="preencoded.png">    </p:cNvPr>
          <p:cNvPicPr>
            <a:picLocks noChangeAspect="1"/>
          </p:cNvPicPr>
          <p:nvPr/>
        </p:nvPicPr>
        <p:blipFill>
          <a:blip r:embed="rId8"/>
          <a:stretch>
            <a:fillRect/>
          </a:stretch>
        </p:blipFill>
        <p:spPr>
          <a:xfrm>
            <a:off x="5212080" y="3127248"/>
            <a:ext cx="457200" cy="457200"/>
          </a:xfrm>
          <a:prstGeom prst="rect">
            <a:avLst/>
          </a:prstGeom>
        </p:spPr>
      </p:pic>
      <p:sp>
        <p:nvSpPr>
          <p:cNvPr id="27" name="Text 191"/>
          <p:cNvSpPr/>
          <p:nvPr/>
        </p:nvSpPr>
        <p:spPr>
          <a:xfrm>
            <a:off x="5212080" y="36576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Python FastAPI</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Demand, fraud, route order</a:t>
            </a:r>
            <a:endParaRPr lang="en-US" sz="1400" dirty="0"/>
          </a:p>
        </p:txBody>
      </p:sp>
      <p:sp>
        <p:nvSpPr>
          <p:cNvPr id="28" name="Card 192"/>
          <p:cNvSpPr/>
          <p:nvPr/>
        </p:nvSpPr>
        <p:spPr>
          <a:xfrm>
            <a:off x="7269480" y="29260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29" name="Stack icon 193" descr="preencoded.png">    </p:cNvPr>
          <p:cNvPicPr>
            <a:picLocks noChangeAspect="1"/>
          </p:cNvPicPr>
          <p:nvPr/>
        </p:nvPicPr>
        <p:blipFill>
          <a:blip r:embed="rId9"/>
          <a:stretch>
            <a:fillRect/>
          </a:stretch>
        </p:blipFill>
        <p:spPr>
          <a:xfrm>
            <a:off x="7452360" y="3127248"/>
            <a:ext cx="457200" cy="457200"/>
          </a:xfrm>
          <a:prstGeom prst="rect">
            <a:avLst/>
          </a:prstGeom>
        </p:spPr>
      </p:pic>
      <p:sp>
        <p:nvSpPr>
          <p:cNvPr id="30" name="Text 194"/>
          <p:cNvSpPr/>
          <p:nvPr/>
        </p:nvSpPr>
        <p:spPr>
          <a:xfrm>
            <a:off x="7452360" y="36576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Firebase</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Google sign-in, push</a:t>
            </a:r>
            <a:endParaRPr lang="en-US" sz="1400" dirty="0"/>
          </a:p>
        </p:txBody>
      </p:sp>
      <p:sp>
        <p:nvSpPr>
          <p:cNvPr id="31" name="Card 195"/>
          <p:cNvSpPr/>
          <p:nvPr/>
        </p:nvSpPr>
        <p:spPr>
          <a:xfrm>
            <a:off x="9509760" y="29260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32" name="Stack icon 196" descr="preencoded.png">    </p:cNvPr>
          <p:cNvPicPr>
            <a:picLocks noChangeAspect="1"/>
          </p:cNvPicPr>
          <p:nvPr/>
        </p:nvPicPr>
        <p:blipFill>
          <a:blip r:embed="rId10"/>
          <a:stretch>
            <a:fillRect/>
          </a:stretch>
        </p:blipFill>
        <p:spPr>
          <a:xfrm>
            <a:off x="9692640" y="3127248"/>
            <a:ext cx="457200" cy="457200"/>
          </a:xfrm>
          <a:prstGeom prst="rect">
            <a:avLst/>
          </a:prstGeom>
        </p:spPr>
      </p:pic>
      <p:sp>
        <p:nvSpPr>
          <p:cNvPr id="33" name="Text 197"/>
          <p:cNvSpPr/>
          <p:nvPr/>
        </p:nvSpPr>
        <p:spPr>
          <a:xfrm>
            <a:off x="9692640" y="36576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OpenStreetMap</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MapLibre tiles, OSRM routes, Photon</a:t>
            </a:r>
            <a:endParaRPr lang="en-US" sz="1400" dirty="0"/>
          </a:p>
        </p:txBody>
      </p:sp>
      <p:sp>
        <p:nvSpPr>
          <p:cNvPr id="34" name="Card 198"/>
          <p:cNvSpPr/>
          <p:nvPr/>
        </p:nvSpPr>
        <p:spPr>
          <a:xfrm>
            <a:off x="548640" y="45262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35" name="Stack icon 199" descr="preencoded.png">    </p:cNvPr>
          <p:cNvPicPr>
            <a:picLocks noChangeAspect="1"/>
          </p:cNvPicPr>
          <p:nvPr/>
        </p:nvPicPr>
        <p:blipFill>
          <a:blip r:embed="rId11"/>
          <a:stretch>
            <a:fillRect/>
          </a:stretch>
        </p:blipFill>
        <p:spPr>
          <a:xfrm>
            <a:off x="731520" y="4727448"/>
            <a:ext cx="457200" cy="457200"/>
          </a:xfrm>
          <a:prstGeom prst="rect">
            <a:avLst/>
          </a:prstGeom>
        </p:spPr>
      </p:pic>
      <p:sp>
        <p:nvSpPr>
          <p:cNvPr id="36" name="Text 200"/>
          <p:cNvSpPr/>
          <p:nvPr/>
        </p:nvSpPr>
        <p:spPr>
          <a:xfrm>
            <a:off x="731520" y="52578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Paynow</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EcoCash, OneMoney, InnBucks, card</a:t>
            </a:r>
            <a:endParaRPr lang="en-US" sz="1400" dirty="0"/>
          </a:p>
        </p:txBody>
      </p:sp>
      <p:sp>
        <p:nvSpPr>
          <p:cNvPr id="37" name="Card 201"/>
          <p:cNvSpPr/>
          <p:nvPr/>
        </p:nvSpPr>
        <p:spPr>
          <a:xfrm>
            <a:off x="2788920" y="45262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38" name="Stack icon 202" descr="preencoded.png">    </p:cNvPr>
          <p:cNvPicPr>
            <a:picLocks noChangeAspect="1"/>
          </p:cNvPicPr>
          <p:nvPr/>
        </p:nvPicPr>
        <p:blipFill>
          <a:blip r:embed="rId12"/>
          <a:stretch>
            <a:fillRect/>
          </a:stretch>
        </p:blipFill>
        <p:spPr>
          <a:xfrm>
            <a:off x="2971800" y="4727448"/>
            <a:ext cx="457200" cy="457200"/>
          </a:xfrm>
          <a:prstGeom prst="rect">
            <a:avLst/>
          </a:prstGeom>
        </p:spPr>
      </p:pic>
      <p:sp>
        <p:nvSpPr>
          <p:cNvPr id="39" name="Text 203"/>
          <p:cNvSpPr/>
          <p:nvPr/>
        </p:nvSpPr>
        <p:spPr>
          <a:xfrm>
            <a:off x="2971800" y="52578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Claude</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In-app support assistant</a:t>
            </a:r>
            <a:endParaRPr lang="en-US" sz="1400" dirty="0"/>
          </a:p>
        </p:txBody>
      </p:sp>
      <p:sp>
        <p:nvSpPr>
          <p:cNvPr id="40" name="Card 204"/>
          <p:cNvSpPr/>
          <p:nvPr/>
        </p:nvSpPr>
        <p:spPr>
          <a:xfrm>
            <a:off x="5029200" y="45262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41" name="Stack icon 205" descr="preencoded.png">    </p:cNvPr>
          <p:cNvPicPr>
            <a:picLocks noChangeAspect="1"/>
          </p:cNvPicPr>
          <p:nvPr/>
        </p:nvPicPr>
        <p:blipFill>
          <a:blip r:embed="rId13"/>
          <a:stretch>
            <a:fillRect/>
          </a:stretch>
        </p:blipFill>
        <p:spPr>
          <a:xfrm>
            <a:off x="5212080" y="4727448"/>
            <a:ext cx="457200" cy="457200"/>
          </a:xfrm>
          <a:prstGeom prst="rect">
            <a:avLst/>
          </a:prstGeom>
        </p:spPr>
      </p:pic>
      <p:sp>
        <p:nvSpPr>
          <p:cNvPr id="42" name="Text 206"/>
          <p:cNvSpPr/>
          <p:nvPr/>
        </p:nvSpPr>
        <p:spPr>
          <a:xfrm>
            <a:off x="5212080" y="52578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Vite + React</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Admin dashboard, website</a:t>
            </a:r>
            <a:endParaRPr lang="en-US" sz="1400" dirty="0"/>
          </a:p>
        </p:txBody>
      </p:sp>
      <p:sp>
        <p:nvSpPr>
          <p:cNvPr id="43" name="Card 207"/>
          <p:cNvSpPr/>
          <p:nvPr/>
        </p:nvSpPr>
        <p:spPr>
          <a:xfrm>
            <a:off x="7269480" y="45262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44" name="Stack icon 208" descr="preencoded.png">    </p:cNvPr>
          <p:cNvPicPr>
            <a:picLocks noChangeAspect="1"/>
          </p:cNvPicPr>
          <p:nvPr/>
        </p:nvPicPr>
        <p:blipFill>
          <a:blip r:embed="rId14"/>
          <a:stretch>
            <a:fillRect/>
          </a:stretch>
        </p:blipFill>
        <p:spPr>
          <a:xfrm>
            <a:off x="7452360" y="4727448"/>
            <a:ext cx="457200" cy="457200"/>
          </a:xfrm>
          <a:prstGeom prst="rect">
            <a:avLst/>
          </a:prstGeom>
        </p:spPr>
      </p:pic>
      <p:sp>
        <p:nvSpPr>
          <p:cNvPr id="45" name="Text 209"/>
          <p:cNvSpPr/>
          <p:nvPr/>
        </p:nvSpPr>
        <p:spPr>
          <a:xfrm>
            <a:off x="7452360" y="52578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Docker + Kubernetes</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Containers, autoscaling</a:t>
            </a:r>
            <a:endParaRPr lang="en-US" sz="1400" dirty="0"/>
          </a:p>
        </p:txBody>
      </p:sp>
      <p:sp>
        <p:nvSpPr>
          <p:cNvPr id="46" name="Card 210"/>
          <p:cNvSpPr/>
          <p:nvPr/>
        </p:nvSpPr>
        <p:spPr>
          <a:xfrm>
            <a:off x="9509760" y="4526280"/>
            <a:ext cx="2057400" cy="1417320"/>
          </a:xfrm>
          <a:prstGeom prst="roundRect">
            <a:avLst>
              <a:gd name="adj" fmla="val 7742"/>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47" name="Stack icon 211" descr="preencoded.png">    </p:cNvPr>
          <p:cNvPicPr>
            <a:picLocks noChangeAspect="1"/>
          </p:cNvPicPr>
          <p:nvPr/>
        </p:nvPicPr>
        <p:blipFill>
          <a:blip r:embed="rId15"/>
          <a:stretch>
            <a:fillRect/>
          </a:stretch>
        </p:blipFill>
        <p:spPr>
          <a:xfrm>
            <a:off x="9692640" y="4727448"/>
            <a:ext cx="457200" cy="457200"/>
          </a:xfrm>
          <a:prstGeom prst="rect">
            <a:avLst/>
          </a:prstGeom>
        </p:spPr>
      </p:pic>
      <p:sp>
        <p:nvSpPr>
          <p:cNvPr id="48" name="Text 212"/>
          <p:cNvSpPr/>
          <p:nvPr/>
        </p:nvSpPr>
        <p:spPr>
          <a:xfrm>
            <a:off x="9692640" y="5257800"/>
            <a:ext cx="1783080" cy="640080"/>
          </a:xfrm>
          <a:prstGeom prst="rect">
            <a:avLst/>
          </a:prstGeom>
          <a:noFill/>
          <a:ln/>
        </p:spPr>
        <p:txBody>
          <a:bodyPr wrap="square" lIns="0" tIns="0" rIns="0" bIns="0" rtlCol="0" anchor="t"/>
          <a:lstStyle/>
          <a:p>
            <a:pPr indent="0" marL="0">
              <a:buNone/>
            </a:pPr>
            <a:r>
              <a:rPr lang="en-US" sz="1350" b="1" dirty="0">
                <a:solidFill>
                  <a:srgbClr val="1B1446"/>
                </a:solidFill>
                <a:latin typeface="Calibri" pitchFamily="34" charset="0"/>
                <a:ea typeface="Calibri" pitchFamily="34" charset="-122"/>
                <a:cs typeface="Calibri" pitchFamily="34" charset="-120"/>
              </a:rPr>
              <a:t>Jest + Vitest</a:t>
            </a:r>
            <a:endParaRPr lang="en-US" sz="1400" dirty="0"/>
          </a:p>
          <a:p>
            <a:pPr indent="0" marL="0">
              <a:buNone/>
            </a:pPr>
            <a:r>
              <a:rPr lang="en-US" sz="1150" dirty="0">
                <a:solidFill>
                  <a:srgbClr val="5B6475"/>
                </a:solidFill>
                <a:latin typeface="Calibri" pitchFamily="34" charset="0"/>
                <a:ea typeface="Calibri" pitchFamily="34" charset="-122"/>
                <a:cs typeface="Calibri" pitchFamily="34" charset="-120"/>
              </a:rPr>
              <a:t>535 automated tests</a:t>
            </a:r>
            <a:endParaRPr lang="en-US" sz="1400" dirty="0"/>
          </a:p>
        </p:txBody>
      </p:sp>
      <p:pic>
        <p:nvPicPr>
          <p:cNvPr id="49" name="Mark 213" descr="/home/ghost/Desktop/Projects/Poolora/branding/poolora-icon.png">    </p:cNvPr>
          <p:cNvPicPr>
            <a:picLocks noChangeAspect="1"/>
          </p:cNvPicPr>
          <p:nvPr/>
        </p:nvPicPr>
        <p:blipFill>
          <a:blip r:embed="rId16"/>
          <a:stretch>
            <a:fillRect/>
          </a:stretch>
        </p:blipFill>
        <p:spPr>
          <a:xfrm>
            <a:off x="11368735" y="6355080"/>
            <a:ext cx="310896" cy="310896"/>
          </a:xfrm>
          <a:prstGeom prst="rect">
            <a:avLst/>
          </a:prstGeom>
        </p:spPr>
      </p:pic>
      <p:sp>
        <p:nvSpPr>
          <p:cNvPr id="50" name="Text 3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13</a:t>
            </a:r>
            <a:endParaRPr lang="en-US" sz="1100" dirty="0"/>
          </a:p>
        </p:txBody>
      </p:sp>
      <p:sp>
        <p:nvSpPr>
          <p:cNvPr id="51" name="Text 3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28" fill="hold">
                      <p:stCondLst>
                        <p:cond delay="indefinite"/>
                        <p:cond evt="onBegin" delay="0">
                          <p:tn val="2"/>
                        </p:cond>
                      </p:stCondLst>
                      <p:childTnLst>
                        <p:par>
                          <p:cTn id="229"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6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6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12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12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12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18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18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8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4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anim calcmode="lin" valueType="num">
                                      <p:cBhvr additive="base">
                                        <p:cTn id="66" dur="500" fill="hold"/>
                                        <p:tgtEl>
                                          <p:spTgt spid="16"/>
                                        </p:tgtEl>
                                        <p:attrNameLst>
                                          <p:attrName>ppt_x</p:attrName>
                                        </p:attrNameLst>
                                      </p:cBhvr>
                                      <p:tavLst>
                                        <p:tav tm="0">
                                          <p:val>
                                            <p:strVal val="#ppt_x"/>
                                          </p:val>
                                        </p:tav>
                                        <p:tav tm="100000">
                                          <p:val>
                                            <p:strVal val="#ppt_x"/>
                                          </p:val>
                                        </p:tav>
                                      </p:tavLst>
                                    </p:anim>
                                    <p:anim calcmode="lin" valueType="num">
                                      <p:cBhvr additive="base">
                                        <p:cTn id="67" dur="500" fill="hold"/>
                                        <p:tgtEl>
                                          <p:spTgt spid="1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4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p:tgtEl>
                                          <p:spTgt spid="1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24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additive="base">
                                        <p:cTn id="76" dur="500" fill="hold"/>
                                        <p:tgtEl>
                                          <p:spTgt spid="18"/>
                                        </p:tgtEl>
                                        <p:attrNameLst>
                                          <p:attrName>ppt_x</p:attrName>
                                        </p:attrNameLst>
                                      </p:cBhvr>
                                      <p:tavLst>
                                        <p:tav tm="0">
                                          <p:val>
                                            <p:strVal val="#ppt_x"/>
                                          </p:val>
                                        </p:tav>
                                        <p:tav tm="100000">
                                          <p:val>
                                            <p:strVal val="#ppt_x"/>
                                          </p:val>
                                        </p:tav>
                                      </p:tavLst>
                                    </p:anim>
                                    <p:anim calcmode="lin" valueType="num">
                                      <p:cBhvr additive="base">
                                        <p:cTn id="77" dur="500" fill="hold"/>
                                        <p:tgtEl>
                                          <p:spTgt spid="1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30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500"/>
                                        <p:tgtEl>
                                          <p:spTgt spid="19"/>
                                        </p:tgtEl>
                                      </p:cBhvr>
                                    </p:animEffec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30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anim calcmode="lin" valueType="num">
                                      <p:cBhvr additive="base">
                                        <p:cTn id="86" dur="500" fill="hold"/>
                                        <p:tgtEl>
                                          <p:spTgt spid="20"/>
                                        </p:tgtEl>
                                        <p:attrNameLst>
                                          <p:attrName>ppt_x</p:attrName>
                                        </p:attrNameLst>
                                      </p:cBhvr>
                                      <p:tavLst>
                                        <p:tav tm="0">
                                          <p:val>
                                            <p:strVal val="#ppt_x"/>
                                          </p:val>
                                        </p:tav>
                                        <p:tav tm="100000">
                                          <p:val>
                                            <p:strVal val="#ppt_x"/>
                                          </p:val>
                                        </p:tav>
                                      </p:tavLst>
                                    </p:anim>
                                    <p:anim calcmode="lin" valueType="num">
                                      <p:cBhvr additive="base">
                                        <p:cTn id="87" dur="500" fill="hold"/>
                                        <p:tgtEl>
                                          <p:spTgt spid="20"/>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3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anim calcmode="lin" valueType="num">
                                      <p:cBhvr additive="base">
                                        <p:cTn id="91" dur="500" fill="hold"/>
                                        <p:tgtEl>
                                          <p:spTgt spid="21"/>
                                        </p:tgtEl>
                                        <p:attrNameLst>
                                          <p:attrName>ppt_x</p:attrName>
                                        </p:attrNameLst>
                                      </p:cBhvr>
                                      <p:tavLst>
                                        <p:tav tm="0">
                                          <p:val>
                                            <p:strVal val="#ppt_x"/>
                                          </p:val>
                                        </p:tav>
                                        <p:tav tm="100000">
                                          <p:val>
                                            <p:strVal val="#ppt_x"/>
                                          </p:val>
                                        </p:tav>
                                      </p:tavLst>
                                    </p:anim>
                                    <p:anim calcmode="lin" valueType="num">
                                      <p:cBhvr additive="base">
                                        <p:cTn id="92" dur="500" fill="hold"/>
                                        <p:tgtEl>
                                          <p:spTgt spid="2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36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500"/>
                                        <p:tgtEl>
                                          <p:spTgt spid="22"/>
                                        </p:tgtEl>
                                      </p:cBhvr>
                                    </p:animEffect>
                                    <p:anim calcmode="lin" valueType="num">
                                      <p:cBhvr additive="base">
                                        <p:cTn id="96" dur="500" fill="hold"/>
                                        <p:tgtEl>
                                          <p:spTgt spid="22"/>
                                        </p:tgtEl>
                                        <p:attrNameLst>
                                          <p:attrName>ppt_x</p:attrName>
                                        </p:attrNameLst>
                                      </p:cBhvr>
                                      <p:tavLst>
                                        <p:tav tm="0">
                                          <p:val>
                                            <p:strVal val="#ppt_x"/>
                                          </p:val>
                                        </p:tav>
                                        <p:tav tm="100000">
                                          <p:val>
                                            <p:strVal val="#ppt_x"/>
                                          </p:val>
                                        </p:tav>
                                      </p:tavLst>
                                    </p:anim>
                                    <p:anim calcmode="lin" valueType="num">
                                      <p:cBhvr additive="base">
                                        <p:cTn id="97" dur="500" fill="hold"/>
                                        <p:tgtEl>
                                          <p:spTgt spid="2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6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anim calcmode="lin" valueType="num">
                                      <p:cBhvr additive="base">
                                        <p:cTn id="101" dur="500" fill="hold"/>
                                        <p:tgtEl>
                                          <p:spTgt spid="23"/>
                                        </p:tgtEl>
                                        <p:attrNameLst>
                                          <p:attrName>ppt_x</p:attrName>
                                        </p:attrNameLst>
                                      </p:cBhvr>
                                      <p:tavLst>
                                        <p:tav tm="0">
                                          <p:val>
                                            <p:strVal val="#ppt_x"/>
                                          </p:val>
                                        </p:tav>
                                        <p:tav tm="100000">
                                          <p:val>
                                            <p:strVal val="#ppt_x"/>
                                          </p:val>
                                        </p:tav>
                                      </p:tavLst>
                                    </p:anim>
                                    <p:anim calcmode="lin" valueType="num">
                                      <p:cBhvr additive="base">
                                        <p:cTn id="102" dur="5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36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500"/>
                                        <p:tgtEl>
                                          <p:spTgt spid="24"/>
                                        </p:tgtEl>
                                      </p:cBhvr>
                                    </p:animEffect>
                                    <p:anim calcmode="lin" valueType="num">
                                      <p:cBhvr additive="base">
                                        <p:cTn id="106" dur="500" fill="hold"/>
                                        <p:tgtEl>
                                          <p:spTgt spid="24"/>
                                        </p:tgtEl>
                                        <p:attrNameLst>
                                          <p:attrName>ppt_x</p:attrName>
                                        </p:attrNameLst>
                                      </p:cBhvr>
                                      <p:tavLst>
                                        <p:tav tm="0">
                                          <p:val>
                                            <p:strVal val="#ppt_x"/>
                                          </p:val>
                                        </p:tav>
                                        <p:tav tm="100000">
                                          <p:val>
                                            <p:strVal val="#ppt_x"/>
                                          </p:val>
                                        </p:tav>
                                      </p:tavLst>
                                    </p:anim>
                                    <p:anim calcmode="lin" valueType="num">
                                      <p:cBhvr additive="base">
                                        <p:cTn id="107" dur="500" fill="hold"/>
                                        <p:tgtEl>
                                          <p:spTgt spid="24"/>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42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500"/>
                                        <p:tgtEl>
                                          <p:spTgt spid="25"/>
                                        </p:tgtEl>
                                      </p:cBhvr>
                                    </p:animEffect>
                                    <p:anim calcmode="lin" valueType="num">
                                      <p:cBhvr additive="base">
                                        <p:cTn id="111" dur="500" fill="hold"/>
                                        <p:tgtEl>
                                          <p:spTgt spid="25"/>
                                        </p:tgtEl>
                                        <p:attrNameLst>
                                          <p:attrName>ppt_x</p:attrName>
                                        </p:attrNameLst>
                                      </p:cBhvr>
                                      <p:tavLst>
                                        <p:tav tm="0">
                                          <p:val>
                                            <p:strVal val="#ppt_x"/>
                                          </p:val>
                                        </p:tav>
                                        <p:tav tm="100000">
                                          <p:val>
                                            <p:strVal val="#ppt_x"/>
                                          </p:val>
                                        </p:tav>
                                      </p:tavLst>
                                    </p:anim>
                                    <p:anim calcmode="lin" valueType="num">
                                      <p:cBhvr additive="base">
                                        <p:cTn id="112" dur="500" fill="hold"/>
                                        <p:tgtEl>
                                          <p:spTgt spid="25"/>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42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500"/>
                                        <p:tgtEl>
                                          <p:spTgt spid="26"/>
                                        </p:tgtEl>
                                      </p:cBhvr>
                                    </p:animEffect>
                                    <p:anim calcmode="lin" valueType="num">
                                      <p:cBhvr additive="base">
                                        <p:cTn id="116" dur="500" fill="hold"/>
                                        <p:tgtEl>
                                          <p:spTgt spid="26"/>
                                        </p:tgtEl>
                                        <p:attrNameLst>
                                          <p:attrName>ppt_x</p:attrName>
                                        </p:attrNameLst>
                                      </p:cBhvr>
                                      <p:tavLst>
                                        <p:tav tm="0">
                                          <p:val>
                                            <p:strVal val="#ppt_x"/>
                                          </p:val>
                                        </p:tav>
                                        <p:tav tm="100000">
                                          <p:val>
                                            <p:strVal val="#ppt_x"/>
                                          </p:val>
                                        </p:tav>
                                      </p:tavLst>
                                    </p:anim>
                                    <p:anim calcmode="lin" valueType="num">
                                      <p:cBhvr additive="base">
                                        <p:cTn id="117" dur="500" fill="hold"/>
                                        <p:tgtEl>
                                          <p:spTgt spid="26"/>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42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anim calcmode="lin" valueType="num">
                                      <p:cBhvr additive="base">
                                        <p:cTn id="121" dur="500" fill="hold"/>
                                        <p:tgtEl>
                                          <p:spTgt spid="27"/>
                                        </p:tgtEl>
                                        <p:attrNameLst>
                                          <p:attrName>ppt_x</p:attrName>
                                        </p:attrNameLst>
                                      </p:cBhvr>
                                      <p:tavLst>
                                        <p:tav tm="0">
                                          <p:val>
                                            <p:strVal val="#ppt_x"/>
                                          </p:val>
                                        </p:tav>
                                        <p:tav tm="100000">
                                          <p:val>
                                            <p:strVal val="#ppt_x"/>
                                          </p:val>
                                        </p:tav>
                                      </p:tavLst>
                                    </p:anim>
                                    <p:anim calcmode="lin" valueType="num">
                                      <p:cBhvr additive="base">
                                        <p:cTn id="122" dur="500" fill="hold"/>
                                        <p:tgtEl>
                                          <p:spTgt spid="27"/>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48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anim calcmode="lin" valueType="num">
                                      <p:cBhvr additive="base">
                                        <p:cTn id="126" dur="500" fill="hold"/>
                                        <p:tgtEl>
                                          <p:spTgt spid="28"/>
                                        </p:tgtEl>
                                        <p:attrNameLst>
                                          <p:attrName>ppt_x</p:attrName>
                                        </p:attrNameLst>
                                      </p:cBhvr>
                                      <p:tavLst>
                                        <p:tav tm="0">
                                          <p:val>
                                            <p:strVal val="#ppt_x"/>
                                          </p:val>
                                        </p:tav>
                                        <p:tav tm="100000">
                                          <p:val>
                                            <p:strVal val="#ppt_x"/>
                                          </p:val>
                                        </p:tav>
                                      </p:tavLst>
                                    </p:anim>
                                    <p:anim calcmode="lin" valueType="num">
                                      <p:cBhvr additive="base">
                                        <p:cTn id="127" dur="500" fill="hold"/>
                                        <p:tgtEl>
                                          <p:spTgt spid="28"/>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48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anim calcmode="lin" valueType="num">
                                      <p:cBhvr additive="base">
                                        <p:cTn id="131" dur="500" fill="hold"/>
                                        <p:tgtEl>
                                          <p:spTgt spid="29"/>
                                        </p:tgtEl>
                                        <p:attrNameLst>
                                          <p:attrName>ppt_x</p:attrName>
                                        </p:attrNameLst>
                                      </p:cBhvr>
                                      <p:tavLst>
                                        <p:tav tm="0">
                                          <p:val>
                                            <p:strVal val="#ppt_x"/>
                                          </p:val>
                                        </p:tav>
                                        <p:tav tm="100000">
                                          <p:val>
                                            <p:strVal val="#ppt_x"/>
                                          </p:val>
                                        </p:tav>
                                      </p:tavLst>
                                    </p:anim>
                                    <p:anim calcmode="lin" valueType="num">
                                      <p:cBhvr additive="base">
                                        <p:cTn id="132" dur="500" fill="hold"/>
                                        <p:tgtEl>
                                          <p:spTgt spid="29"/>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48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00"/>
                                        <p:tgtEl>
                                          <p:spTgt spid="30"/>
                                        </p:tgtEl>
                                      </p:cBhvr>
                                    </p:animEffect>
                                    <p:anim calcmode="lin" valueType="num">
                                      <p:cBhvr additive="base">
                                        <p:cTn id="136" dur="500" fill="hold"/>
                                        <p:tgtEl>
                                          <p:spTgt spid="30"/>
                                        </p:tgtEl>
                                        <p:attrNameLst>
                                          <p:attrName>ppt_x</p:attrName>
                                        </p:attrNameLst>
                                      </p:cBhvr>
                                      <p:tavLst>
                                        <p:tav tm="0">
                                          <p:val>
                                            <p:strVal val="#ppt_x"/>
                                          </p:val>
                                        </p:tav>
                                        <p:tav tm="100000">
                                          <p:val>
                                            <p:strVal val="#ppt_x"/>
                                          </p:val>
                                        </p:tav>
                                      </p:tavLst>
                                    </p:anim>
                                    <p:anim calcmode="lin" valueType="num">
                                      <p:cBhvr additive="base">
                                        <p:cTn id="137" dur="500" fill="hold"/>
                                        <p:tgtEl>
                                          <p:spTgt spid="30"/>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540"/>
                                  </p:stCondLst>
                                  <p:childTnLst>
                                    <p:set>
                                      <p:cBhvr>
                                        <p:cTn id="139" dur="1" fill="hold">
                                          <p:stCondLst>
                                            <p:cond delay="0"/>
                                          </p:stCondLst>
                                        </p:cTn>
                                        <p:tgtEl>
                                          <p:spTgt spid="31"/>
                                        </p:tgtEl>
                                        <p:attrNameLst>
                                          <p:attrName>style.visibility</p:attrName>
                                        </p:attrNameLst>
                                      </p:cBhvr>
                                      <p:to>
                                        <p:strVal val="visible"/>
                                      </p:to>
                                    </p:set>
                                    <p:animEffect transition="in" filter="fade">
                                      <p:cBhvr>
                                        <p:cTn id="140" dur="500"/>
                                        <p:tgtEl>
                                          <p:spTgt spid="31"/>
                                        </p:tgtEl>
                                      </p:cBhvr>
                                    </p:animEffect>
                                    <p:anim calcmode="lin" valueType="num">
                                      <p:cBhvr additive="base">
                                        <p:cTn id="141" dur="500" fill="hold"/>
                                        <p:tgtEl>
                                          <p:spTgt spid="31"/>
                                        </p:tgtEl>
                                        <p:attrNameLst>
                                          <p:attrName>ppt_x</p:attrName>
                                        </p:attrNameLst>
                                      </p:cBhvr>
                                      <p:tavLst>
                                        <p:tav tm="0">
                                          <p:val>
                                            <p:strVal val="#ppt_x"/>
                                          </p:val>
                                        </p:tav>
                                        <p:tav tm="100000">
                                          <p:val>
                                            <p:strVal val="#ppt_x"/>
                                          </p:val>
                                        </p:tav>
                                      </p:tavLst>
                                    </p:anim>
                                    <p:anim calcmode="lin" valueType="num">
                                      <p:cBhvr additive="base">
                                        <p:cTn id="142" dur="500" fill="hold"/>
                                        <p:tgtEl>
                                          <p:spTgt spid="31"/>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540"/>
                                  </p:stCondLst>
                                  <p:childTnLst>
                                    <p:set>
                                      <p:cBhvr>
                                        <p:cTn id="144" dur="1" fill="hold">
                                          <p:stCondLst>
                                            <p:cond delay="0"/>
                                          </p:stCondLst>
                                        </p:cTn>
                                        <p:tgtEl>
                                          <p:spTgt spid="32"/>
                                        </p:tgtEl>
                                        <p:attrNameLst>
                                          <p:attrName>style.visibility</p:attrName>
                                        </p:attrNameLst>
                                      </p:cBhvr>
                                      <p:to>
                                        <p:strVal val="visible"/>
                                      </p:to>
                                    </p:set>
                                    <p:animEffect transition="in" filter="fade">
                                      <p:cBhvr>
                                        <p:cTn id="145" dur="500"/>
                                        <p:tgtEl>
                                          <p:spTgt spid="32"/>
                                        </p:tgtEl>
                                      </p:cBhvr>
                                    </p:animEffect>
                                    <p:anim calcmode="lin" valueType="num">
                                      <p:cBhvr additive="base">
                                        <p:cTn id="146" dur="500" fill="hold"/>
                                        <p:tgtEl>
                                          <p:spTgt spid="32"/>
                                        </p:tgtEl>
                                        <p:attrNameLst>
                                          <p:attrName>ppt_x</p:attrName>
                                        </p:attrNameLst>
                                      </p:cBhvr>
                                      <p:tavLst>
                                        <p:tav tm="0">
                                          <p:val>
                                            <p:strVal val="#ppt_x"/>
                                          </p:val>
                                        </p:tav>
                                        <p:tav tm="100000">
                                          <p:val>
                                            <p:strVal val="#ppt_x"/>
                                          </p:val>
                                        </p:tav>
                                      </p:tavLst>
                                    </p:anim>
                                    <p:anim calcmode="lin" valueType="num">
                                      <p:cBhvr additive="base">
                                        <p:cTn id="147" dur="500" fill="hold"/>
                                        <p:tgtEl>
                                          <p:spTgt spid="32"/>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540"/>
                                  </p:stCondLst>
                                  <p:childTnLst>
                                    <p:set>
                                      <p:cBhvr>
                                        <p:cTn id="149" dur="1" fill="hold">
                                          <p:stCondLst>
                                            <p:cond delay="0"/>
                                          </p:stCondLst>
                                        </p:cTn>
                                        <p:tgtEl>
                                          <p:spTgt spid="33"/>
                                        </p:tgtEl>
                                        <p:attrNameLst>
                                          <p:attrName>style.visibility</p:attrName>
                                        </p:attrNameLst>
                                      </p:cBhvr>
                                      <p:to>
                                        <p:strVal val="visible"/>
                                      </p:to>
                                    </p:set>
                                    <p:animEffect transition="in" filter="fade">
                                      <p:cBhvr>
                                        <p:cTn id="150" dur="500"/>
                                        <p:tgtEl>
                                          <p:spTgt spid="33"/>
                                        </p:tgtEl>
                                      </p:cBhvr>
                                    </p:animEffect>
                                    <p:anim calcmode="lin" valueType="num">
                                      <p:cBhvr additive="base">
                                        <p:cTn id="151" dur="500" fill="hold"/>
                                        <p:tgtEl>
                                          <p:spTgt spid="33"/>
                                        </p:tgtEl>
                                        <p:attrNameLst>
                                          <p:attrName>ppt_x</p:attrName>
                                        </p:attrNameLst>
                                      </p:cBhvr>
                                      <p:tavLst>
                                        <p:tav tm="0">
                                          <p:val>
                                            <p:strVal val="#ppt_x"/>
                                          </p:val>
                                        </p:tav>
                                        <p:tav tm="100000">
                                          <p:val>
                                            <p:strVal val="#ppt_x"/>
                                          </p:val>
                                        </p:tav>
                                      </p:tavLst>
                                    </p:anim>
                                    <p:anim calcmode="lin" valueType="num">
                                      <p:cBhvr additive="base">
                                        <p:cTn id="152" dur="500" fill="hold"/>
                                        <p:tgtEl>
                                          <p:spTgt spid="33"/>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600"/>
                                  </p:stCondLst>
                                  <p:childTnLst>
                                    <p:set>
                                      <p:cBhvr>
                                        <p:cTn id="154" dur="1" fill="hold">
                                          <p:stCondLst>
                                            <p:cond delay="0"/>
                                          </p:stCondLst>
                                        </p:cTn>
                                        <p:tgtEl>
                                          <p:spTgt spid="34"/>
                                        </p:tgtEl>
                                        <p:attrNameLst>
                                          <p:attrName>style.visibility</p:attrName>
                                        </p:attrNameLst>
                                      </p:cBhvr>
                                      <p:to>
                                        <p:strVal val="visible"/>
                                      </p:to>
                                    </p:set>
                                    <p:animEffect transition="in" filter="fade">
                                      <p:cBhvr>
                                        <p:cTn id="155" dur="500"/>
                                        <p:tgtEl>
                                          <p:spTgt spid="34"/>
                                        </p:tgtEl>
                                      </p:cBhvr>
                                    </p:animEffect>
                                    <p:anim calcmode="lin" valueType="num">
                                      <p:cBhvr additive="base">
                                        <p:cTn id="156" dur="500" fill="hold"/>
                                        <p:tgtEl>
                                          <p:spTgt spid="34"/>
                                        </p:tgtEl>
                                        <p:attrNameLst>
                                          <p:attrName>ppt_x</p:attrName>
                                        </p:attrNameLst>
                                      </p:cBhvr>
                                      <p:tavLst>
                                        <p:tav tm="0">
                                          <p:val>
                                            <p:strVal val="#ppt_x"/>
                                          </p:val>
                                        </p:tav>
                                        <p:tav tm="100000">
                                          <p:val>
                                            <p:strVal val="#ppt_x"/>
                                          </p:val>
                                        </p:tav>
                                      </p:tavLst>
                                    </p:anim>
                                    <p:anim calcmode="lin" valueType="num">
                                      <p:cBhvr additive="base">
                                        <p:cTn id="157" dur="500" fill="hold"/>
                                        <p:tgtEl>
                                          <p:spTgt spid="34"/>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60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00"/>
                                        <p:tgtEl>
                                          <p:spTgt spid="35"/>
                                        </p:tgtEl>
                                      </p:cBhvr>
                                    </p:animEffect>
                                    <p:anim calcmode="lin" valueType="num">
                                      <p:cBhvr additive="base">
                                        <p:cTn id="161" dur="500" fill="hold"/>
                                        <p:tgtEl>
                                          <p:spTgt spid="35"/>
                                        </p:tgtEl>
                                        <p:attrNameLst>
                                          <p:attrName>ppt_x</p:attrName>
                                        </p:attrNameLst>
                                      </p:cBhvr>
                                      <p:tavLst>
                                        <p:tav tm="0">
                                          <p:val>
                                            <p:strVal val="#ppt_x"/>
                                          </p:val>
                                        </p:tav>
                                        <p:tav tm="100000">
                                          <p:val>
                                            <p:strVal val="#ppt_x"/>
                                          </p:val>
                                        </p:tav>
                                      </p:tavLst>
                                    </p:anim>
                                    <p:anim calcmode="lin" valueType="num">
                                      <p:cBhvr additive="base">
                                        <p:cTn id="162" dur="500" fill="hold"/>
                                        <p:tgtEl>
                                          <p:spTgt spid="35"/>
                                        </p:tgtEl>
                                        <p:attrNameLst>
                                          <p:attrName>ppt_y</p:attrName>
                                        </p:attrNameLst>
                                      </p:cBhvr>
                                      <p:tavLst>
                                        <p:tav tm="0">
                                          <p:val>
                                            <p:strVal val="#ppt_y+.1"/>
                                          </p:val>
                                        </p:tav>
                                        <p:tav tm="100000">
                                          <p:val>
                                            <p:strVal val="#ppt_y"/>
                                          </p:val>
                                        </p:tav>
                                      </p:tavLst>
                                    </p:anim>
                                  </p:childTnLst>
                                </p:cTn>
                              </p:par>
                              <p:par>
                                <p:cTn id="163" presetID="42" presetClass="entr" presetSubtype="0" fill="hold" grpId="0" nodeType="withEffect">
                                  <p:stCondLst>
                                    <p:cond delay="600"/>
                                  </p:stCondLst>
                                  <p:childTnLst>
                                    <p:set>
                                      <p:cBhvr>
                                        <p:cTn id="164" dur="1" fill="hold">
                                          <p:stCondLst>
                                            <p:cond delay="0"/>
                                          </p:stCondLst>
                                        </p:cTn>
                                        <p:tgtEl>
                                          <p:spTgt spid="36"/>
                                        </p:tgtEl>
                                        <p:attrNameLst>
                                          <p:attrName>style.visibility</p:attrName>
                                        </p:attrNameLst>
                                      </p:cBhvr>
                                      <p:to>
                                        <p:strVal val="visible"/>
                                      </p:to>
                                    </p:set>
                                    <p:animEffect transition="in" filter="fade">
                                      <p:cBhvr>
                                        <p:cTn id="165" dur="500"/>
                                        <p:tgtEl>
                                          <p:spTgt spid="36"/>
                                        </p:tgtEl>
                                      </p:cBhvr>
                                    </p:animEffect>
                                    <p:anim calcmode="lin" valueType="num">
                                      <p:cBhvr additive="base">
                                        <p:cTn id="166" dur="500" fill="hold"/>
                                        <p:tgtEl>
                                          <p:spTgt spid="36"/>
                                        </p:tgtEl>
                                        <p:attrNameLst>
                                          <p:attrName>ppt_x</p:attrName>
                                        </p:attrNameLst>
                                      </p:cBhvr>
                                      <p:tavLst>
                                        <p:tav tm="0">
                                          <p:val>
                                            <p:strVal val="#ppt_x"/>
                                          </p:val>
                                        </p:tav>
                                        <p:tav tm="100000">
                                          <p:val>
                                            <p:strVal val="#ppt_x"/>
                                          </p:val>
                                        </p:tav>
                                      </p:tavLst>
                                    </p:anim>
                                    <p:anim calcmode="lin" valueType="num">
                                      <p:cBhvr additive="base">
                                        <p:cTn id="167" dur="500" fill="hold"/>
                                        <p:tgtEl>
                                          <p:spTgt spid="36"/>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660"/>
                                  </p:stCondLst>
                                  <p:childTnLst>
                                    <p:set>
                                      <p:cBhvr>
                                        <p:cTn id="169" dur="1" fill="hold">
                                          <p:stCondLst>
                                            <p:cond delay="0"/>
                                          </p:stCondLst>
                                        </p:cTn>
                                        <p:tgtEl>
                                          <p:spTgt spid="37"/>
                                        </p:tgtEl>
                                        <p:attrNameLst>
                                          <p:attrName>style.visibility</p:attrName>
                                        </p:attrNameLst>
                                      </p:cBhvr>
                                      <p:to>
                                        <p:strVal val="visible"/>
                                      </p:to>
                                    </p:set>
                                    <p:animEffect transition="in" filter="fade">
                                      <p:cBhvr>
                                        <p:cTn id="170" dur="500"/>
                                        <p:tgtEl>
                                          <p:spTgt spid="37"/>
                                        </p:tgtEl>
                                      </p:cBhvr>
                                    </p:animEffect>
                                    <p:anim calcmode="lin" valueType="num">
                                      <p:cBhvr additive="base">
                                        <p:cTn id="171" dur="500" fill="hold"/>
                                        <p:tgtEl>
                                          <p:spTgt spid="37"/>
                                        </p:tgtEl>
                                        <p:attrNameLst>
                                          <p:attrName>ppt_x</p:attrName>
                                        </p:attrNameLst>
                                      </p:cBhvr>
                                      <p:tavLst>
                                        <p:tav tm="0">
                                          <p:val>
                                            <p:strVal val="#ppt_x"/>
                                          </p:val>
                                        </p:tav>
                                        <p:tav tm="100000">
                                          <p:val>
                                            <p:strVal val="#ppt_x"/>
                                          </p:val>
                                        </p:tav>
                                      </p:tavLst>
                                    </p:anim>
                                    <p:anim calcmode="lin" valueType="num">
                                      <p:cBhvr additive="base">
                                        <p:cTn id="172" dur="500" fill="hold"/>
                                        <p:tgtEl>
                                          <p:spTgt spid="37"/>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660"/>
                                  </p:stCondLst>
                                  <p:childTnLst>
                                    <p:set>
                                      <p:cBhvr>
                                        <p:cTn id="174" dur="1" fill="hold">
                                          <p:stCondLst>
                                            <p:cond delay="0"/>
                                          </p:stCondLst>
                                        </p:cTn>
                                        <p:tgtEl>
                                          <p:spTgt spid="38"/>
                                        </p:tgtEl>
                                        <p:attrNameLst>
                                          <p:attrName>style.visibility</p:attrName>
                                        </p:attrNameLst>
                                      </p:cBhvr>
                                      <p:to>
                                        <p:strVal val="visible"/>
                                      </p:to>
                                    </p:set>
                                    <p:animEffect transition="in" filter="fade">
                                      <p:cBhvr>
                                        <p:cTn id="175" dur="500"/>
                                        <p:tgtEl>
                                          <p:spTgt spid="38"/>
                                        </p:tgtEl>
                                      </p:cBhvr>
                                    </p:animEffect>
                                    <p:anim calcmode="lin" valueType="num">
                                      <p:cBhvr additive="base">
                                        <p:cTn id="176" dur="500" fill="hold"/>
                                        <p:tgtEl>
                                          <p:spTgt spid="38"/>
                                        </p:tgtEl>
                                        <p:attrNameLst>
                                          <p:attrName>ppt_x</p:attrName>
                                        </p:attrNameLst>
                                      </p:cBhvr>
                                      <p:tavLst>
                                        <p:tav tm="0">
                                          <p:val>
                                            <p:strVal val="#ppt_x"/>
                                          </p:val>
                                        </p:tav>
                                        <p:tav tm="100000">
                                          <p:val>
                                            <p:strVal val="#ppt_x"/>
                                          </p:val>
                                        </p:tav>
                                      </p:tavLst>
                                    </p:anim>
                                    <p:anim calcmode="lin" valueType="num">
                                      <p:cBhvr additive="base">
                                        <p:cTn id="177" dur="500" fill="hold"/>
                                        <p:tgtEl>
                                          <p:spTgt spid="38"/>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660"/>
                                  </p:stCondLst>
                                  <p:childTnLst>
                                    <p:set>
                                      <p:cBhvr>
                                        <p:cTn id="179" dur="1" fill="hold">
                                          <p:stCondLst>
                                            <p:cond delay="0"/>
                                          </p:stCondLst>
                                        </p:cTn>
                                        <p:tgtEl>
                                          <p:spTgt spid="39"/>
                                        </p:tgtEl>
                                        <p:attrNameLst>
                                          <p:attrName>style.visibility</p:attrName>
                                        </p:attrNameLst>
                                      </p:cBhvr>
                                      <p:to>
                                        <p:strVal val="visible"/>
                                      </p:to>
                                    </p:set>
                                    <p:animEffect transition="in" filter="fade">
                                      <p:cBhvr>
                                        <p:cTn id="180" dur="500"/>
                                        <p:tgtEl>
                                          <p:spTgt spid="39"/>
                                        </p:tgtEl>
                                      </p:cBhvr>
                                    </p:animEffect>
                                    <p:anim calcmode="lin" valueType="num">
                                      <p:cBhvr additive="base">
                                        <p:cTn id="181" dur="500" fill="hold"/>
                                        <p:tgtEl>
                                          <p:spTgt spid="39"/>
                                        </p:tgtEl>
                                        <p:attrNameLst>
                                          <p:attrName>ppt_x</p:attrName>
                                        </p:attrNameLst>
                                      </p:cBhvr>
                                      <p:tavLst>
                                        <p:tav tm="0">
                                          <p:val>
                                            <p:strVal val="#ppt_x"/>
                                          </p:val>
                                        </p:tav>
                                        <p:tav tm="100000">
                                          <p:val>
                                            <p:strVal val="#ppt_x"/>
                                          </p:val>
                                        </p:tav>
                                      </p:tavLst>
                                    </p:anim>
                                    <p:anim calcmode="lin" valueType="num">
                                      <p:cBhvr additive="base">
                                        <p:cTn id="182" dur="500" fill="hold"/>
                                        <p:tgtEl>
                                          <p:spTgt spid="39"/>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720"/>
                                  </p:stCondLst>
                                  <p:childTnLst>
                                    <p:set>
                                      <p:cBhvr>
                                        <p:cTn id="184" dur="1" fill="hold">
                                          <p:stCondLst>
                                            <p:cond delay="0"/>
                                          </p:stCondLst>
                                        </p:cTn>
                                        <p:tgtEl>
                                          <p:spTgt spid="40"/>
                                        </p:tgtEl>
                                        <p:attrNameLst>
                                          <p:attrName>style.visibility</p:attrName>
                                        </p:attrNameLst>
                                      </p:cBhvr>
                                      <p:to>
                                        <p:strVal val="visible"/>
                                      </p:to>
                                    </p:set>
                                    <p:animEffect transition="in" filter="fade">
                                      <p:cBhvr>
                                        <p:cTn id="185" dur="500"/>
                                        <p:tgtEl>
                                          <p:spTgt spid="40"/>
                                        </p:tgtEl>
                                      </p:cBhvr>
                                    </p:animEffect>
                                    <p:anim calcmode="lin" valueType="num">
                                      <p:cBhvr additive="base">
                                        <p:cTn id="186" dur="500" fill="hold"/>
                                        <p:tgtEl>
                                          <p:spTgt spid="40"/>
                                        </p:tgtEl>
                                        <p:attrNameLst>
                                          <p:attrName>ppt_x</p:attrName>
                                        </p:attrNameLst>
                                      </p:cBhvr>
                                      <p:tavLst>
                                        <p:tav tm="0">
                                          <p:val>
                                            <p:strVal val="#ppt_x"/>
                                          </p:val>
                                        </p:tav>
                                        <p:tav tm="100000">
                                          <p:val>
                                            <p:strVal val="#ppt_x"/>
                                          </p:val>
                                        </p:tav>
                                      </p:tavLst>
                                    </p:anim>
                                    <p:anim calcmode="lin" valueType="num">
                                      <p:cBhvr additive="base">
                                        <p:cTn id="187" dur="500" fill="hold"/>
                                        <p:tgtEl>
                                          <p:spTgt spid="40"/>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720"/>
                                  </p:stCondLst>
                                  <p:childTnLst>
                                    <p:set>
                                      <p:cBhvr>
                                        <p:cTn id="189" dur="1" fill="hold">
                                          <p:stCondLst>
                                            <p:cond delay="0"/>
                                          </p:stCondLst>
                                        </p:cTn>
                                        <p:tgtEl>
                                          <p:spTgt spid="41"/>
                                        </p:tgtEl>
                                        <p:attrNameLst>
                                          <p:attrName>style.visibility</p:attrName>
                                        </p:attrNameLst>
                                      </p:cBhvr>
                                      <p:to>
                                        <p:strVal val="visible"/>
                                      </p:to>
                                    </p:set>
                                    <p:animEffect transition="in" filter="fade">
                                      <p:cBhvr>
                                        <p:cTn id="190" dur="500"/>
                                        <p:tgtEl>
                                          <p:spTgt spid="41"/>
                                        </p:tgtEl>
                                      </p:cBhvr>
                                    </p:animEffect>
                                    <p:anim calcmode="lin" valueType="num">
                                      <p:cBhvr additive="base">
                                        <p:cTn id="191" dur="500" fill="hold"/>
                                        <p:tgtEl>
                                          <p:spTgt spid="41"/>
                                        </p:tgtEl>
                                        <p:attrNameLst>
                                          <p:attrName>ppt_x</p:attrName>
                                        </p:attrNameLst>
                                      </p:cBhvr>
                                      <p:tavLst>
                                        <p:tav tm="0">
                                          <p:val>
                                            <p:strVal val="#ppt_x"/>
                                          </p:val>
                                        </p:tav>
                                        <p:tav tm="100000">
                                          <p:val>
                                            <p:strVal val="#ppt_x"/>
                                          </p:val>
                                        </p:tav>
                                      </p:tavLst>
                                    </p:anim>
                                    <p:anim calcmode="lin" valueType="num">
                                      <p:cBhvr additive="base">
                                        <p:cTn id="192" dur="500" fill="hold"/>
                                        <p:tgtEl>
                                          <p:spTgt spid="41"/>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720"/>
                                  </p:stCondLst>
                                  <p:childTnLst>
                                    <p:set>
                                      <p:cBhvr>
                                        <p:cTn id="194" dur="1" fill="hold">
                                          <p:stCondLst>
                                            <p:cond delay="0"/>
                                          </p:stCondLst>
                                        </p:cTn>
                                        <p:tgtEl>
                                          <p:spTgt spid="42"/>
                                        </p:tgtEl>
                                        <p:attrNameLst>
                                          <p:attrName>style.visibility</p:attrName>
                                        </p:attrNameLst>
                                      </p:cBhvr>
                                      <p:to>
                                        <p:strVal val="visible"/>
                                      </p:to>
                                    </p:set>
                                    <p:animEffect transition="in" filter="fade">
                                      <p:cBhvr>
                                        <p:cTn id="195" dur="500"/>
                                        <p:tgtEl>
                                          <p:spTgt spid="42"/>
                                        </p:tgtEl>
                                      </p:cBhvr>
                                    </p:animEffect>
                                    <p:anim calcmode="lin" valueType="num">
                                      <p:cBhvr additive="base">
                                        <p:cTn id="196" dur="500" fill="hold"/>
                                        <p:tgtEl>
                                          <p:spTgt spid="42"/>
                                        </p:tgtEl>
                                        <p:attrNameLst>
                                          <p:attrName>ppt_x</p:attrName>
                                        </p:attrNameLst>
                                      </p:cBhvr>
                                      <p:tavLst>
                                        <p:tav tm="0">
                                          <p:val>
                                            <p:strVal val="#ppt_x"/>
                                          </p:val>
                                        </p:tav>
                                        <p:tav tm="100000">
                                          <p:val>
                                            <p:strVal val="#ppt_x"/>
                                          </p:val>
                                        </p:tav>
                                      </p:tavLst>
                                    </p:anim>
                                    <p:anim calcmode="lin" valueType="num">
                                      <p:cBhvr additive="base">
                                        <p:cTn id="197" dur="500" fill="hold"/>
                                        <p:tgtEl>
                                          <p:spTgt spid="42"/>
                                        </p:tgtEl>
                                        <p:attrNameLst>
                                          <p:attrName>ppt_y</p:attrName>
                                        </p:attrNameLst>
                                      </p:cBhvr>
                                      <p:tavLst>
                                        <p:tav tm="0">
                                          <p:val>
                                            <p:strVal val="#ppt_y+.1"/>
                                          </p:val>
                                        </p:tav>
                                        <p:tav tm="100000">
                                          <p:val>
                                            <p:strVal val="#ppt_y"/>
                                          </p:val>
                                        </p:tav>
                                      </p:tavLst>
                                    </p:anim>
                                  </p:childTnLst>
                                </p:cTn>
                              </p:par>
                              <p:par>
                                <p:cTn id="198" presetID="42" presetClass="entr" presetSubtype="0" fill="hold" grpId="0" nodeType="withEffect">
                                  <p:stCondLst>
                                    <p:cond delay="780"/>
                                  </p:stCondLst>
                                  <p:childTnLst>
                                    <p:set>
                                      <p:cBhvr>
                                        <p:cTn id="199" dur="1" fill="hold">
                                          <p:stCondLst>
                                            <p:cond delay="0"/>
                                          </p:stCondLst>
                                        </p:cTn>
                                        <p:tgtEl>
                                          <p:spTgt spid="43"/>
                                        </p:tgtEl>
                                        <p:attrNameLst>
                                          <p:attrName>style.visibility</p:attrName>
                                        </p:attrNameLst>
                                      </p:cBhvr>
                                      <p:to>
                                        <p:strVal val="visible"/>
                                      </p:to>
                                    </p:set>
                                    <p:animEffect transition="in" filter="fade">
                                      <p:cBhvr>
                                        <p:cTn id="200" dur="500"/>
                                        <p:tgtEl>
                                          <p:spTgt spid="43"/>
                                        </p:tgtEl>
                                      </p:cBhvr>
                                    </p:animEffect>
                                    <p:anim calcmode="lin" valueType="num">
                                      <p:cBhvr additive="base">
                                        <p:cTn id="201" dur="500" fill="hold"/>
                                        <p:tgtEl>
                                          <p:spTgt spid="43"/>
                                        </p:tgtEl>
                                        <p:attrNameLst>
                                          <p:attrName>ppt_x</p:attrName>
                                        </p:attrNameLst>
                                      </p:cBhvr>
                                      <p:tavLst>
                                        <p:tav tm="0">
                                          <p:val>
                                            <p:strVal val="#ppt_x"/>
                                          </p:val>
                                        </p:tav>
                                        <p:tav tm="100000">
                                          <p:val>
                                            <p:strVal val="#ppt_x"/>
                                          </p:val>
                                        </p:tav>
                                      </p:tavLst>
                                    </p:anim>
                                    <p:anim calcmode="lin" valueType="num">
                                      <p:cBhvr additive="base">
                                        <p:cTn id="202" dur="500" fill="hold"/>
                                        <p:tgtEl>
                                          <p:spTgt spid="43"/>
                                        </p:tgtEl>
                                        <p:attrNameLst>
                                          <p:attrName>ppt_y</p:attrName>
                                        </p:attrNameLst>
                                      </p:cBhvr>
                                      <p:tavLst>
                                        <p:tav tm="0">
                                          <p:val>
                                            <p:strVal val="#ppt_y+.1"/>
                                          </p:val>
                                        </p:tav>
                                        <p:tav tm="100000">
                                          <p:val>
                                            <p:strVal val="#ppt_y"/>
                                          </p:val>
                                        </p:tav>
                                      </p:tavLst>
                                    </p:anim>
                                  </p:childTnLst>
                                </p:cTn>
                              </p:par>
                              <p:par>
                                <p:cTn id="203" presetID="42" presetClass="entr" presetSubtype="0" fill="hold" grpId="0" nodeType="withEffect">
                                  <p:stCondLst>
                                    <p:cond delay="780"/>
                                  </p:stCondLst>
                                  <p:childTnLst>
                                    <p:set>
                                      <p:cBhvr>
                                        <p:cTn id="204" dur="1" fill="hold">
                                          <p:stCondLst>
                                            <p:cond delay="0"/>
                                          </p:stCondLst>
                                        </p:cTn>
                                        <p:tgtEl>
                                          <p:spTgt spid="44"/>
                                        </p:tgtEl>
                                        <p:attrNameLst>
                                          <p:attrName>style.visibility</p:attrName>
                                        </p:attrNameLst>
                                      </p:cBhvr>
                                      <p:to>
                                        <p:strVal val="visible"/>
                                      </p:to>
                                    </p:set>
                                    <p:animEffect transition="in" filter="fade">
                                      <p:cBhvr>
                                        <p:cTn id="205" dur="500"/>
                                        <p:tgtEl>
                                          <p:spTgt spid="44"/>
                                        </p:tgtEl>
                                      </p:cBhvr>
                                    </p:animEffect>
                                    <p:anim calcmode="lin" valueType="num">
                                      <p:cBhvr additive="base">
                                        <p:cTn id="206" dur="500" fill="hold"/>
                                        <p:tgtEl>
                                          <p:spTgt spid="44"/>
                                        </p:tgtEl>
                                        <p:attrNameLst>
                                          <p:attrName>ppt_x</p:attrName>
                                        </p:attrNameLst>
                                      </p:cBhvr>
                                      <p:tavLst>
                                        <p:tav tm="0">
                                          <p:val>
                                            <p:strVal val="#ppt_x"/>
                                          </p:val>
                                        </p:tav>
                                        <p:tav tm="100000">
                                          <p:val>
                                            <p:strVal val="#ppt_x"/>
                                          </p:val>
                                        </p:tav>
                                      </p:tavLst>
                                    </p:anim>
                                    <p:anim calcmode="lin" valueType="num">
                                      <p:cBhvr additive="base">
                                        <p:cTn id="207" dur="500" fill="hold"/>
                                        <p:tgtEl>
                                          <p:spTgt spid="44"/>
                                        </p:tgtEl>
                                        <p:attrNameLst>
                                          <p:attrName>ppt_y</p:attrName>
                                        </p:attrNameLst>
                                      </p:cBhvr>
                                      <p:tavLst>
                                        <p:tav tm="0">
                                          <p:val>
                                            <p:strVal val="#ppt_y+.1"/>
                                          </p:val>
                                        </p:tav>
                                        <p:tav tm="100000">
                                          <p:val>
                                            <p:strVal val="#ppt_y"/>
                                          </p:val>
                                        </p:tav>
                                      </p:tavLst>
                                    </p:anim>
                                  </p:childTnLst>
                                </p:cTn>
                              </p:par>
                              <p:par>
                                <p:cTn id="208" presetID="42" presetClass="entr" presetSubtype="0" fill="hold" grpId="0" nodeType="withEffect">
                                  <p:stCondLst>
                                    <p:cond delay="780"/>
                                  </p:stCondLst>
                                  <p:childTnLst>
                                    <p:set>
                                      <p:cBhvr>
                                        <p:cTn id="209" dur="1" fill="hold">
                                          <p:stCondLst>
                                            <p:cond delay="0"/>
                                          </p:stCondLst>
                                        </p:cTn>
                                        <p:tgtEl>
                                          <p:spTgt spid="45"/>
                                        </p:tgtEl>
                                        <p:attrNameLst>
                                          <p:attrName>style.visibility</p:attrName>
                                        </p:attrNameLst>
                                      </p:cBhvr>
                                      <p:to>
                                        <p:strVal val="visible"/>
                                      </p:to>
                                    </p:set>
                                    <p:animEffect transition="in" filter="fade">
                                      <p:cBhvr>
                                        <p:cTn id="210" dur="500"/>
                                        <p:tgtEl>
                                          <p:spTgt spid="45"/>
                                        </p:tgtEl>
                                      </p:cBhvr>
                                    </p:animEffect>
                                    <p:anim calcmode="lin" valueType="num">
                                      <p:cBhvr additive="base">
                                        <p:cTn id="211" dur="500" fill="hold"/>
                                        <p:tgtEl>
                                          <p:spTgt spid="45"/>
                                        </p:tgtEl>
                                        <p:attrNameLst>
                                          <p:attrName>ppt_x</p:attrName>
                                        </p:attrNameLst>
                                      </p:cBhvr>
                                      <p:tavLst>
                                        <p:tav tm="0">
                                          <p:val>
                                            <p:strVal val="#ppt_x"/>
                                          </p:val>
                                        </p:tav>
                                        <p:tav tm="100000">
                                          <p:val>
                                            <p:strVal val="#ppt_x"/>
                                          </p:val>
                                        </p:tav>
                                      </p:tavLst>
                                    </p:anim>
                                    <p:anim calcmode="lin" valueType="num">
                                      <p:cBhvr additive="base">
                                        <p:cTn id="212" dur="500" fill="hold"/>
                                        <p:tgtEl>
                                          <p:spTgt spid="45"/>
                                        </p:tgtEl>
                                        <p:attrNameLst>
                                          <p:attrName>ppt_y</p:attrName>
                                        </p:attrNameLst>
                                      </p:cBhvr>
                                      <p:tavLst>
                                        <p:tav tm="0">
                                          <p:val>
                                            <p:strVal val="#ppt_y+.1"/>
                                          </p:val>
                                        </p:tav>
                                        <p:tav tm="100000">
                                          <p:val>
                                            <p:strVal val="#ppt_y"/>
                                          </p:val>
                                        </p:tav>
                                      </p:tavLst>
                                    </p:anim>
                                  </p:childTnLst>
                                </p:cTn>
                              </p:par>
                              <p:par>
                                <p:cTn id="213" presetID="42" presetClass="entr" presetSubtype="0" fill="hold" grpId="0" nodeType="withEffect">
                                  <p:stCondLst>
                                    <p:cond delay="840"/>
                                  </p:stCondLst>
                                  <p:childTnLst>
                                    <p:set>
                                      <p:cBhvr>
                                        <p:cTn id="214" dur="1" fill="hold">
                                          <p:stCondLst>
                                            <p:cond delay="0"/>
                                          </p:stCondLst>
                                        </p:cTn>
                                        <p:tgtEl>
                                          <p:spTgt spid="46"/>
                                        </p:tgtEl>
                                        <p:attrNameLst>
                                          <p:attrName>style.visibility</p:attrName>
                                        </p:attrNameLst>
                                      </p:cBhvr>
                                      <p:to>
                                        <p:strVal val="visible"/>
                                      </p:to>
                                    </p:set>
                                    <p:animEffect transition="in" filter="fade">
                                      <p:cBhvr>
                                        <p:cTn id="215" dur="500"/>
                                        <p:tgtEl>
                                          <p:spTgt spid="46"/>
                                        </p:tgtEl>
                                      </p:cBhvr>
                                    </p:animEffect>
                                    <p:anim calcmode="lin" valueType="num">
                                      <p:cBhvr additive="base">
                                        <p:cTn id="216" dur="500" fill="hold"/>
                                        <p:tgtEl>
                                          <p:spTgt spid="46"/>
                                        </p:tgtEl>
                                        <p:attrNameLst>
                                          <p:attrName>ppt_x</p:attrName>
                                        </p:attrNameLst>
                                      </p:cBhvr>
                                      <p:tavLst>
                                        <p:tav tm="0">
                                          <p:val>
                                            <p:strVal val="#ppt_x"/>
                                          </p:val>
                                        </p:tav>
                                        <p:tav tm="100000">
                                          <p:val>
                                            <p:strVal val="#ppt_x"/>
                                          </p:val>
                                        </p:tav>
                                      </p:tavLst>
                                    </p:anim>
                                    <p:anim calcmode="lin" valueType="num">
                                      <p:cBhvr additive="base">
                                        <p:cTn id="217" dur="500" fill="hold"/>
                                        <p:tgtEl>
                                          <p:spTgt spid="46"/>
                                        </p:tgtEl>
                                        <p:attrNameLst>
                                          <p:attrName>ppt_y</p:attrName>
                                        </p:attrNameLst>
                                      </p:cBhvr>
                                      <p:tavLst>
                                        <p:tav tm="0">
                                          <p:val>
                                            <p:strVal val="#ppt_y+.1"/>
                                          </p:val>
                                        </p:tav>
                                        <p:tav tm="100000">
                                          <p:val>
                                            <p:strVal val="#ppt_y"/>
                                          </p:val>
                                        </p:tav>
                                      </p:tavLst>
                                    </p:anim>
                                  </p:childTnLst>
                                </p:cTn>
                              </p:par>
                              <p:par>
                                <p:cTn id="218" presetID="42" presetClass="entr" presetSubtype="0" fill="hold" grpId="0" nodeType="withEffect">
                                  <p:stCondLst>
                                    <p:cond delay="840"/>
                                  </p:stCondLst>
                                  <p:childTnLst>
                                    <p:set>
                                      <p:cBhvr>
                                        <p:cTn id="219" dur="1" fill="hold">
                                          <p:stCondLst>
                                            <p:cond delay="0"/>
                                          </p:stCondLst>
                                        </p:cTn>
                                        <p:tgtEl>
                                          <p:spTgt spid="47"/>
                                        </p:tgtEl>
                                        <p:attrNameLst>
                                          <p:attrName>style.visibility</p:attrName>
                                        </p:attrNameLst>
                                      </p:cBhvr>
                                      <p:to>
                                        <p:strVal val="visible"/>
                                      </p:to>
                                    </p:set>
                                    <p:animEffect transition="in" filter="fade">
                                      <p:cBhvr>
                                        <p:cTn id="220" dur="500"/>
                                        <p:tgtEl>
                                          <p:spTgt spid="47"/>
                                        </p:tgtEl>
                                      </p:cBhvr>
                                    </p:animEffect>
                                    <p:anim calcmode="lin" valueType="num">
                                      <p:cBhvr additive="base">
                                        <p:cTn id="221" dur="500" fill="hold"/>
                                        <p:tgtEl>
                                          <p:spTgt spid="47"/>
                                        </p:tgtEl>
                                        <p:attrNameLst>
                                          <p:attrName>ppt_x</p:attrName>
                                        </p:attrNameLst>
                                      </p:cBhvr>
                                      <p:tavLst>
                                        <p:tav tm="0">
                                          <p:val>
                                            <p:strVal val="#ppt_x"/>
                                          </p:val>
                                        </p:tav>
                                        <p:tav tm="100000">
                                          <p:val>
                                            <p:strVal val="#ppt_x"/>
                                          </p:val>
                                        </p:tav>
                                      </p:tavLst>
                                    </p:anim>
                                    <p:anim calcmode="lin" valueType="num">
                                      <p:cBhvr additive="base">
                                        <p:cTn id="222" dur="500" fill="hold"/>
                                        <p:tgtEl>
                                          <p:spTgt spid="47"/>
                                        </p:tgtEl>
                                        <p:attrNameLst>
                                          <p:attrName>ppt_y</p:attrName>
                                        </p:attrNameLst>
                                      </p:cBhvr>
                                      <p:tavLst>
                                        <p:tav tm="0">
                                          <p:val>
                                            <p:strVal val="#ppt_y+.1"/>
                                          </p:val>
                                        </p:tav>
                                        <p:tav tm="100000">
                                          <p:val>
                                            <p:strVal val="#ppt_y"/>
                                          </p:val>
                                        </p:tav>
                                      </p:tavLst>
                                    </p:anim>
                                  </p:childTnLst>
                                </p:cTn>
                              </p:par>
                              <p:par>
                                <p:cTn id="223" presetID="42" presetClass="entr" presetSubtype="0" fill="hold" grpId="0" nodeType="withEffect">
                                  <p:stCondLst>
                                    <p:cond delay="840"/>
                                  </p:stCondLst>
                                  <p:childTnLst>
                                    <p:set>
                                      <p:cBhvr>
                                        <p:cTn id="224" dur="1" fill="hold">
                                          <p:stCondLst>
                                            <p:cond delay="0"/>
                                          </p:stCondLst>
                                        </p:cTn>
                                        <p:tgtEl>
                                          <p:spTgt spid="48"/>
                                        </p:tgtEl>
                                        <p:attrNameLst>
                                          <p:attrName>style.visibility</p:attrName>
                                        </p:attrNameLst>
                                      </p:cBhvr>
                                      <p:to>
                                        <p:strVal val="visible"/>
                                      </p:to>
                                    </p:set>
                                    <p:animEffect transition="in" filter="fade">
                                      <p:cBhvr>
                                        <p:cTn id="225" dur="500"/>
                                        <p:tgtEl>
                                          <p:spTgt spid="48"/>
                                        </p:tgtEl>
                                      </p:cBhvr>
                                    </p:animEffect>
                                    <p:anim calcmode="lin" valueType="num">
                                      <p:cBhvr additive="base">
                                        <p:cTn id="226" dur="500" fill="hold"/>
                                        <p:tgtEl>
                                          <p:spTgt spid="48"/>
                                        </p:tgtEl>
                                        <p:attrNameLst>
                                          <p:attrName>ppt_x</p:attrName>
                                        </p:attrNameLst>
                                      </p:cBhvr>
                                      <p:tavLst>
                                        <p:tav tm="0">
                                          <p:val>
                                            <p:strVal val="#ppt_x"/>
                                          </p:val>
                                        </p:tav>
                                        <p:tav tm="100000">
                                          <p:val>
                                            <p:strVal val="#ppt_x"/>
                                          </p:val>
                                        </p:tav>
                                      </p:tavLst>
                                    </p:anim>
                                    <p:anim calcmode="lin" valueType="num">
                                      <p:cBhvr additive="base">
                                        <p:cTn id="227" dur="5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6" grpId="0" animBg="1"/>
      <p:bldP spid="37" grpId="0" animBg="1"/>
      <p:bldP spid="39" grpId="0" animBg="1"/>
      <p:bldP spid="40" grpId="0" animBg="1"/>
      <p:bldP spid="42" grpId="0" animBg="1"/>
      <p:bldP spid="43" grpId="0" animBg="1"/>
      <p:bldP spid="45" grpId="0" animBg="1"/>
      <p:bldP spid="46"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3" name="Title 214"/>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Algorithm: matching riders along a route</a:t>
            </a:r>
            <a:endParaRPr lang="en-US" sz="3000" dirty="0"/>
          </a:p>
        </p:txBody>
      </p:sp>
      <p:sp>
        <p:nvSpPr>
          <p:cNvPr id="4" name="Text 215"/>
          <p:cNvSpPr/>
          <p:nvPr/>
        </p:nvSpPr>
        <p:spPr>
          <a:xfrm>
            <a:off x="548640" y="1280160"/>
            <a:ext cx="5669280" cy="3291840"/>
          </a:xfrm>
          <a:prstGeom prst="rect">
            <a:avLst/>
          </a:prstGeom>
          <a:noFill/>
          <a:ln/>
        </p:spPr>
        <p:txBody>
          <a:bodyPr wrap="square" lIns="0" tIns="0" rIns="0" bIns="0" rtlCol="0" anchor="t"/>
          <a:lstStyle/>
          <a:p>
            <a:pPr marL="203200" indent="-203200">
              <a:spcAft>
                <a:spcPts val="700"/>
              </a:spcAft>
              <a:buSzPct val="100000"/>
              <a:buChar char="•"/>
            </a:pPr>
            <a:r>
              <a:rPr lang="en-US" sz="1600" dirty="0">
                <a:solidFill>
                  <a:srgbClr val="1F2330"/>
                </a:solidFill>
                <a:latin typeface="Calibri" pitchFamily="34" charset="0"/>
                <a:ea typeface="Calibri" pitchFamily="34" charset="-122"/>
                <a:cs typeface="Calibri" pitchFamily="34" charset="-120"/>
              </a:rPr>
              <a:t>When a ride is posted, its road route from OSRM is stored as a GeoJSON LineString with a 2dsphere index</a:t>
            </a:r>
            <a:endParaRPr lang="en-US" sz="1600" dirty="0"/>
          </a:p>
          <a:p>
            <a:pPr marL="203200" indent="-203200">
              <a:spcAft>
                <a:spcPts val="700"/>
              </a:spcAft>
              <a:buSzPct val="100000"/>
              <a:buChar char="•"/>
            </a:pPr>
            <a:r>
              <a:rPr lang="en-US" sz="1600" dirty="0">
                <a:solidFill>
                  <a:srgbClr val="1F2330"/>
                </a:solidFill>
                <a:latin typeface="Calibri" pitchFamily="34" charset="0"/>
                <a:ea typeface="Calibri" pitchFamily="34" charset="-122"/>
                <a:cs typeface="Calibri" pitchFamily="34" charset="-120"/>
              </a:rPr>
              <a:t>Search runs $geoNear on the route near the rider's pickup (within 2 km of the line by default)</a:t>
            </a:r>
            <a:endParaRPr lang="en-US" sz="1600" dirty="0"/>
          </a:p>
          <a:p>
            <a:pPr marL="203200" indent="-203200">
              <a:spcAft>
                <a:spcPts val="700"/>
              </a:spcAft>
              <a:buSzPct val="100000"/>
              <a:buChar char="•"/>
            </a:pPr>
            <a:r>
              <a:rPr lang="en-US" sz="1600" dirty="0">
                <a:solidFill>
                  <a:srgbClr val="1F2330"/>
                </a:solidFill>
                <a:latin typeface="Calibri" pitchFamily="34" charset="0"/>
                <a:ea typeface="Calibri" pitchFamily="34" charset="-122"/>
                <a:cs typeface="Calibri" pitchFamily="34" charset="-120"/>
              </a:rPr>
              <a:t>Each candidate is projected onto the route: the pickup must come before the drop along the line (right direction)</a:t>
            </a:r>
            <a:endParaRPr lang="en-US" sz="1600" dirty="0"/>
          </a:p>
          <a:p>
            <a:pPr marL="203200" indent="-203200">
              <a:spcAft>
                <a:spcPts val="700"/>
              </a:spcAft>
              <a:buSzPct val="100000"/>
              <a:buChar char="•"/>
            </a:pPr>
            <a:r>
              <a:rPr lang="en-US" sz="1600" dirty="0">
                <a:solidFill>
                  <a:srgbClr val="1F2330"/>
                </a:solidFill>
                <a:latin typeface="Calibri" pitchFamily="34" charset="0"/>
                <a:ea typeface="Calibri" pitchFamily="34" charset="-122"/>
                <a:cs typeface="Calibri" pitchFamily="34" charset="-120"/>
              </a:rPr>
              <a:t>Candidates are ranked by a weighted score; the fare is the seat price, shown before booking</a:t>
            </a:r>
            <a:endParaRPr lang="en-US" sz="1600" dirty="0"/>
          </a:p>
        </p:txBody>
      </p:sp>
      <p:sp>
        <p:nvSpPr>
          <p:cNvPr id="5" name="Card 216"/>
          <p:cNvSpPr/>
          <p:nvPr/>
        </p:nvSpPr>
        <p:spPr>
          <a:xfrm>
            <a:off x="6583680" y="1280160"/>
            <a:ext cx="5029200" cy="4480560"/>
          </a:xfrm>
          <a:prstGeom prst="roundRect">
            <a:avLst>
              <a:gd name="adj" fmla="val 244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6" name="Weights head"/>
          <p:cNvSpPr/>
          <p:nvPr/>
        </p:nvSpPr>
        <p:spPr>
          <a:xfrm>
            <a:off x="6858000" y="1463040"/>
            <a:ext cx="4572000" cy="365760"/>
          </a:xfrm>
          <a:prstGeom prst="rect">
            <a:avLst/>
          </a:prstGeom>
          <a:noFill/>
          <a:ln/>
        </p:spPr>
        <p:txBody>
          <a:bodyPr wrap="square" lIns="0" tIns="0" rIns="0" bIns="0" rtlCol="0" anchor="t"/>
          <a:lstStyle/>
          <a:p>
            <a:pPr indent="0" marL="0">
              <a:buNone/>
            </a:pPr>
            <a:r>
              <a:rPr lang="en-US" sz="1700" b="1" dirty="0">
                <a:solidFill>
                  <a:srgbClr val="1B1446"/>
                </a:solidFill>
                <a:latin typeface="Arial" pitchFamily="34" charset="0"/>
                <a:ea typeface="Arial" pitchFamily="34" charset="-122"/>
                <a:cs typeface="Arial" pitchFamily="34" charset="-120"/>
              </a:rPr>
              <a:t>Match score weights</a:t>
            </a:r>
            <a:endParaRPr lang="en-US" sz="1700" dirty="0"/>
          </a:p>
        </p:txBody>
      </p:sp>
      <p:sp>
        <p:nvSpPr>
          <p:cNvPr id="7" name="Text 217"/>
          <p:cNvSpPr/>
          <p:nvPr/>
        </p:nvSpPr>
        <p:spPr>
          <a:xfrm>
            <a:off x="6858000" y="2057400"/>
            <a:ext cx="1920240" cy="365760"/>
          </a:xfrm>
          <a:prstGeom prst="rect">
            <a:avLst/>
          </a:prstGeom>
          <a:noFill/>
          <a:ln/>
        </p:spPr>
        <p:txBody>
          <a:bodyPr wrap="square" lIns="0" tIns="0" rIns="0" bIns="0" rtlCol="0" anchor="ctr"/>
          <a:lstStyle/>
          <a:p>
            <a:pPr indent="0" marL="0">
              <a:buNone/>
            </a:pPr>
            <a:r>
              <a:rPr lang="en-US" sz="1350" dirty="0">
                <a:solidFill>
                  <a:srgbClr val="1F2330"/>
                </a:solidFill>
                <a:latin typeface="Calibri" pitchFamily="34" charset="0"/>
                <a:ea typeface="Calibri" pitchFamily="34" charset="-122"/>
                <a:cs typeface="Calibri" pitchFamily="34" charset="-120"/>
              </a:rPr>
              <a:t>Pickup distance</a:t>
            </a:r>
            <a:endParaRPr lang="en-US" sz="1350" dirty="0"/>
          </a:p>
        </p:txBody>
      </p:sp>
      <p:sp>
        <p:nvSpPr>
          <p:cNvPr id="8" name="Weight bar 218"/>
          <p:cNvSpPr/>
          <p:nvPr/>
        </p:nvSpPr>
        <p:spPr>
          <a:xfrm>
            <a:off x="8778240" y="2112264"/>
            <a:ext cx="2267712" cy="274320"/>
          </a:xfrm>
          <a:prstGeom prst="rect">
            <a:avLst/>
          </a:prstGeom>
          <a:solidFill>
            <a:srgbClr val="D9468F"/>
          </a:solidFill>
          <a:ln w="12700">
            <a:solidFill>
              <a:srgbClr val="D9468F"/>
            </a:solidFill>
            <a:prstDash val="solid"/>
          </a:ln>
        </p:spPr>
      </p:sp>
      <p:sp>
        <p:nvSpPr>
          <p:cNvPr id="9" name="Text 219"/>
          <p:cNvSpPr/>
          <p:nvPr/>
        </p:nvSpPr>
        <p:spPr>
          <a:xfrm>
            <a:off x="11137392" y="2057400"/>
            <a:ext cx="731520" cy="365760"/>
          </a:xfrm>
          <a:prstGeom prst="rect">
            <a:avLst/>
          </a:prstGeom>
          <a:noFill/>
          <a:ln/>
        </p:spPr>
        <p:txBody>
          <a:bodyPr wrap="square" lIns="0" tIns="0" rIns="0" bIns="0" rtlCol="0" anchor="ctr"/>
          <a:lstStyle/>
          <a:p>
            <a:pPr indent="0" marL="0">
              <a:buNone/>
            </a:pPr>
            <a:r>
              <a:rPr lang="en-US" sz="1300" b="1" dirty="0">
                <a:solidFill>
                  <a:srgbClr val="1B1446"/>
                </a:solidFill>
                <a:latin typeface="Calibri" pitchFamily="34" charset="0"/>
                <a:ea typeface="Calibri" pitchFamily="34" charset="-122"/>
                <a:cs typeface="Calibri" pitchFamily="34" charset="-120"/>
              </a:rPr>
              <a:t>40%</a:t>
            </a:r>
            <a:endParaRPr lang="en-US" sz="1300" dirty="0"/>
          </a:p>
        </p:txBody>
      </p:sp>
      <p:sp>
        <p:nvSpPr>
          <p:cNvPr id="10" name="Text 220"/>
          <p:cNvSpPr/>
          <p:nvPr/>
        </p:nvSpPr>
        <p:spPr>
          <a:xfrm>
            <a:off x="6858000" y="2770632"/>
            <a:ext cx="1920240" cy="365760"/>
          </a:xfrm>
          <a:prstGeom prst="rect">
            <a:avLst/>
          </a:prstGeom>
          <a:noFill/>
          <a:ln/>
        </p:spPr>
        <p:txBody>
          <a:bodyPr wrap="square" lIns="0" tIns="0" rIns="0" bIns="0" rtlCol="0" anchor="ctr"/>
          <a:lstStyle/>
          <a:p>
            <a:pPr indent="0" marL="0">
              <a:buNone/>
            </a:pPr>
            <a:r>
              <a:rPr lang="en-US" sz="1350" dirty="0">
                <a:solidFill>
                  <a:srgbClr val="1F2330"/>
                </a:solidFill>
                <a:latin typeface="Calibri" pitchFamily="34" charset="0"/>
                <a:ea typeface="Calibri" pitchFamily="34" charset="-122"/>
                <a:cs typeface="Calibri" pitchFamily="34" charset="-120"/>
              </a:rPr>
              <a:t>Departure time</a:t>
            </a:r>
            <a:endParaRPr lang="en-US" sz="1350" dirty="0"/>
          </a:p>
        </p:txBody>
      </p:sp>
      <p:sp>
        <p:nvSpPr>
          <p:cNvPr id="11" name="Weight bar 221"/>
          <p:cNvSpPr/>
          <p:nvPr/>
        </p:nvSpPr>
        <p:spPr>
          <a:xfrm>
            <a:off x="8778240" y="2825496"/>
            <a:ext cx="1700784" cy="274320"/>
          </a:xfrm>
          <a:prstGeom prst="rect">
            <a:avLst/>
          </a:prstGeom>
          <a:solidFill>
            <a:srgbClr val="0B7A75"/>
          </a:solidFill>
          <a:ln w="12700">
            <a:solidFill>
              <a:srgbClr val="0B7A75"/>
            </a:solidFill>
            <a:prstDash val="solid"/>
          </a:ln>
        </p:spPr>
      </p:sp>
      <p:sp>
        <p:nvSpPr>
          <p:cNvPr id="12" name="Text 222"/>
          <p:cNvSpPr/>
          <p:nvPr/>
        </p:nvSpPr>
        <p:spPr>
          <a:xfrm>
            <a:off x="10570464" y="2770632"/>
            <a:ext cx="731520" cy="365760"/>
          </a:xfrm>
          <a:prstGeom prst="rect">
            <a:avLst/>
          </a:prstGeom>
          <a:noFill/>
          <a:ln/>
        </p:spPr>
        <p:txBody>
          <a:bodyPr wrap="square" lIns="0" tIns="0" rIns="0" bIns="0" rtlCol="0" anchor="ctr"/>
          <a:lstStyle/>
          <a:p>
            <a:pPr indent="0" marL="0">
              <a:buNone/>
            </a:pPr>
            <a:r>
              <a:rPr lang="en-US" sz="1300" b="1" dirty="0">
                <a:solidFill>
                  <a:srgbClr val="1B1446"/>
                </a:solidFill>
                <a:latin typeface="Calibri" pitchFamily="34" charset="0"/>
                <a:ea typeface="Calibri" pitchFamily="34" charset="-122"/>
                <a:cs typeface="Calibri" pitchFamily="34" charset="-120"/>
              </a:rPr>
              <a:t>30%</a:t>
            </a:r>
            <a:endParaRPr lang="en-US" sz="1300" dirty="0"/>
          </a:p>
        </p:txBody>
      </p:sp>
      <p:sp>
        <p:nvSpPr>
          <p:cNvPr id="13" name="Text 223"/>
          <p:cNvSpPr/>
          <p:nvPr/>
        </p:nvSpPr>
        <p:spPr>
          <a:xfrm>
            <a:off x="6858000" y="3483864"/>
            <a:ext cx="1920240" cy="365760"/>
          </a:xfrm>
          <a:prstGeom prst="rect">
            <a:avLst/>
          </a:prstGeom>
          <a:noFill/>
          <a:ln/>
        </p:spPr>
        <p:txBody>
          <a:bodyPr wrap="square" lIns="0" tIns="0" rIns="0" bIns="0" rtlCol="0" anchor="ctr"/>
          <a:lstStyle/>
          <a:p>
            <a:pPr indent="0" marL="0">
              <a:buNone/>
            </a:pPr>
            <a:r>
              <a:rPr lang="en-US" sz="1350" dirty="0">
                <a:solidFill>
                  <a:srgbClr val="1F2330"/>
                </a:solidFill>
                <a:latin typeface="Calibri" pitchFamily="34" charset="0"/>
                <a:ea typeface="Calibri" pitchFamily="34" charset="-122"/>
                <a:cs typeface="Calibri" pitchFamily="34" charset="-120"/>
              </a:rPr>
              <a:t>Driver rating</a:t>
            </a:r>
            <a:endParaRPr lang="en-US" sz="1350" dirty="0"/>
          </a:p>
        </p:txBody>
      </p:sp>
      <p:sp>
        <p:nvSpPr>
          <p:cNvPr id="14" name="Weight bar 224"/>
          <p:cNvSpPr/>
          <p:nvPr/>
        </p:nvSpPr>
        <p:spPr>
          <a:xfrm>
            <a:off x="8778240" y="3538728"/>
            <a:ext cx="850392" cy="274320"/>
          </a:xfrm>
          <a:prstGeom prst="rect">
            <a:avLst/>
          </a:prstGeom>
          <a:solidFill>
            <a:srgbClr val="0B7A75"/>
          </a:solidFill>
          <a:ln w="12700">
            <a:solidFill>
              <a:srgbClr val="0B7A75"/>
            </a:solidFill>
            <a:prstDash val="solid"/>
          </a:ln>
        </p:spPr>
      </p:sp>
      <p:sp>
        <p:nvSpPr>
          <p:cNvPr id="15" name="Text 225"/>
          <p:cNvSpPr/>
          <p:nvPr/>
        </p:nvSpPr>
        <p:spPr>
          <a:xfrm>
            <a:off x="9720072" y="3483864"/>
            <a:ext cx="731520" cy="365760"/>
          </a:xfrm>
          <a:prstGeom prst="rect">
            <a:avLst/>
          </a:prstGeom>
          <a:noFill/>
          <a:ln/>
        </p:spPr>
        <p:txBody>
          <a:bodyPr wrap="square" lIns="0" tIns="0" rIns="0" bIns="0" rtlCol="0" anchor="ctr"/>
          <a:lstStyle/>
          <a:p>
            <a:pPr indent="0" marL="0">
              <a:buNone/>
            </a:pPr>
            <a:r>
              <a:rPr lang="en-US" sz="1300" b="1" dirty="0">
                <a:solidFill>
                  <a:srgbClr val="1B1446"/>
                </a:solidFill>
                <a:latin typeface="Calibri" pitchFamily="34" charset="0"/>
                <a:ea typeface="Calibri" pitchFamily="34" charset="-122"/>
                <a:cs typeface="Calibri" pitchFamily="34" charset="-120"/>
              </a:rPr>
              <a:t>15%</a:t>
            </a:r>
            <a:endParaRPr lang="en-US" sz="1300" dirty="0"/>
          </a:p>
        </p:txBody>
      </p:sp>
      <p:sp>
        <p:nvSpPr>
          <p:cNvPr id="16" name="Text 226"/>
          <p:cNvSpPr/>
          <p:nvPr/>
        </p:nvSpPr>
        <p:spPr>
          <a:xfrm>
            <a:off x="6858000" y="4197096"/>
            <a:ext cx="1920240" cy="365760"/>
          </a:xfrm>
          <a:prstGeom prst="rect">
            <a:avLst/>
          </a:prstGeom>
          <a:noFill/>
          <a:ln/>
        </p:spPr>
        <p:txBody>
          <a:bodyPr wrap="square" lIns="0" tIns="0" rIns="0" bIns="0" rtlCol="0" anchor="ctr"/>
          <a:lstStyle/>
          <a:p>
            <a:pPr indent="0" marL="0">
              <a:buNone/>
            </a:pPr>
            <a:r>
              <a:rPr lang="en-US" sz="1350" dirty="0">
                <a:solidFill>
                  <a:srgbClr val="1F2330"/>
                </a:solidFill>
                <a:latin typeface="Calibri" pitchFamily="34" charset="0"/>
                <a:ea typeface="Calibri" pitchFamily="34" charset="-122"/>
                <a:cs typeface="Calibri" pitchFamily="34" charset="-120"/>
              </a:rPr>
              <a:t>Acceptance rate</a:t>
            </a:r>
            <a:endParaRPr lang="en-US" sz="1350" dirty="0"/>
          </a:p>
        </p:txBody>
      </p:sp>
      <p:sp>
        <p:nvSpPr>
          <p:cNvPr id="17" name="Weight bar 227"/>
          <p:cNvSpPr/>
          <p:nvPr/>
        </p:nvSpPr>
        <p:spPr>
          <a:xfrm>
            <a:off x="8778240" y="4251960"/>
            <a:ext cx="566928" cy="274320"/>
          </a:xfrm>
          <a:prstGeom prst="rect">
            <a:avLst/>
          </a:prstGeom>
          <a:solidFill>
            <a:srgbClr val="0B7A75"/>
          </a:solidFill>
          <a:ln w="12700">
            <a:solidFill>
              <a:srgbClr val="0B7A75"/>
            </a:solidFill>
            <a:prstDash val="solid"/>
          </a:ln>
        </p:spPr>
      </p:sp>
      <p:sp>
        <p:nvSpPr>
          <p:cNvPr id="18" name="Text 228"/>
          <p:cNvSpPr/>
          <p:nvPr/>
        </p:nvSpPr>
        <p:spPr>
          <a:xfrm>
            <a:off x="9436608" y="4197096"/>
            <a:ext cx="731520" cy="365760"/>
          </a:xfrm>
          <a:prstGeom prst="rect">
            <a:avLst/>
          </a:prstGeom>
          <a:noFill/>
          <a:ln/>
        </p:spPr>
        <p:txBody>
          <a:bodyPr wrap="square" lIns="0" tIns="0" rIns="0" bIns="0" rtlCol="0" anchor="ctr"/>
          <a:lstStyle/>
          <a:p>
            <a:pPr indent="0" marL="0">
              <a:buNone/>
            </a:pPr>
            <a:r>
              <a:rPr lang="en-US" sz="1300" b="1" dirty="0">
                <a:solidFill>
                  <a:srgbClr val="1B1446"/>
                </a:solidFill>
                <a:latin typeface="Calibri" pitchFamily="34" charset="0"/>
                <a:ea typeface="Calibri" pitchFamily="34" charset="-122"/>
                <a:cs typeface="Calibri" pitchFamily="34" charset="-120"/>
              </a:rPr>
              <a:t>10%</a:t>
            </a:r>
            <a:endParaRPr lang="en-US" sz="1300" dirty="0"/>
          </a:p>
        </p:txBody>
      </p:sp>
      <p:sp>
        <p:nvSpPr>
          <p:cNvPr id="19" name="Text 229"/>
          <p:cNvSpPr/>
          <p:nvPr/>
        </p:nvSpPr>
        <p:spPr>
          <a:xfrm>
            <a:off x="6858000" y="4910328"/>
            <a:ext cx="1920240" cy="365760"/>
          </a:xfrm>
          <a:prstGeom prst="rect">
            <a:avLst/>
          </a:prstGeom>
          <a:noFill/>
          <a:ln/>
        </p:spPr>
        <p:txBody>
          <a:bodyPr wrap="square" lIns="0" tIns="0" rIns="0" bIns="0" rtlCol="0" anchor="ctr"/>
          <a:lstStyle/>
          <a:p>
            <a:pPr indent="0" marL="0">
              <a:buNone/>
            </a:pPr>
            <a:r>
              <a:rPr lang="en-US" sz="1350" dirty="0">
                <a:solidFill>
                  <a:srgbClr val="1F2330"/>
                </a:solidFill>
                <a:latin typeface="Calibri" pitchFamily="34" charset="0"/>
                <a:ea typeface="Calibri" pitchFamily="34" charset="-122"/>
                <a:cs typeface="Calibri" pitchFamily="34" charset="-120"/>
              </a:rPr>
              <a:t>Low cancellations</a:t>
            </a:r>
            <a:endParaRPr lang="en-US" sz="1350" dirty="0"/>
          </a:p>
        </p:txBody>
      </p:sp>
      <p:sp>
        <p:nvSpPr>
          <p:cNvPr id="20" name="Weight bar 230"/>
          <p:cNvSpPr/>
          <p:nvPr/>
        </p:nvSpPr>
        <p:spPr>
          <a:xfrm>
            <a:off x="8778240" y="4965192"/>
            <a:ext cx="283464" cy="274320"/>
          </a:xfrm>
          <a:prstGeom prst="rect">
            <a:avLst/>
          </a:prstGeom>
          <a:solidFill>
            <a:srgbClr val="0B7A75"/>
          </a:solidFill>
          <a:ln w="12700">
            <a:solidFill>
              <a:srgbClr val="0B7A75"/>
            </a:solidFill>
            <a:prstDash val="solid"/>
          </a:ln>
        </p:spPr>
      </p:sp>
      <p:sp>
        <p:nvSpPr>
          <p:cNvPr id="21" name="Text 231"/>
          <p:cNvSpPr/>
          <p:nvPr/>
        </p:nvSpPr>
        <p:spPr>
          <a:xfrm>
            <a:off x="9153144" y="4910328"/>
            <a:ext cx="731520" cy="365760"/>
          </a:xfrm>
          <a:prstGeom prst="rect">
            <a:avLst/>
          </a:prstGeom>
          <a:noFill/>
          <a:ln/>
        </p:spPr>
        <p:txBody>
          <a:bodyPr wrap="square" lIns="0" tIns="0" rIns="0" bIns="0" rtlCol="0" anchor="ctr"/>
          <a:lstStyle/>
          <a:p>
            <a:pPr indent="0" marL="0">
              <a:buNone/>
            </a:pPr>
            <a:r>
              <a:rPr lang="en-US" sz="1300" b="1" dirty="0">
                <a:solidFill>
                  <a:srgbClr val="1B1446"/>
                </a:solidFill>
                <a:latin typeface="Calibri" pitchFamily="34" charset="0"/>
                <a:ea typeface="Calibri" pitchFamily="34" charset="-122"/>
                <a:cs typeface="Calibri" pitchFamily="34" charset="-120"/>
              </a:rPr>
              <a:t>5%</a:t>
            </a:r>
            <a:endParaRPr lang="en-US" sz="1300" dirty="0"/>
          </a:p>
        </p:txBody>
      </p:sp>
      <p:pic>
        <p:nvPicPr>
          <p:cNvPr id="22" name="Mark 232"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23" name="Text 19"/>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14</a:t>
            </a:r>
            <a:endParaRPr lang="en-US" sz="1100" dirty="0"/>
          </a:p>
        </p:txBody>
      </p:sp>
      <p:sp>
        <p:nvSpPr>
          <p:cNvPr id="24" name="Text 20"/>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5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3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22" presetClass="entr" presetSubtype="8" fill="hold" grpId="0" nodeType="withEffect">
                                  <p:stCondLst>
                                    <p:cond delay="30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600"/>
                                        <p:tgtEl>
                                          <p:spTgt spid="8"/>
                                        </p:tgtEl>
                                      </p:cBhvr>
                                    </p:animEffect>
                                  </p:childTnLst>
                                </p:cTn>
                              </p:par>
                              <p:par>
                                <p:cTn id="18" presetID="10" presetClass="entr" presetSubtype="0" fill="hold" grpId="0" nodeType="withEffect">
                                  <p:stCondLst>
                                    <p:cond delay="4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4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22" presetClass="entr" presetSubtype="8" fill="hold" grpId="0" nodeType="withEffect">
                                  <p:stCondLst>
                                    <p:cond delay="42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600"/>
                                        <p:tgtEl>
                                          <p:spTgt spid="11"/>
                                        </p:tgtEl>
                                      </p:cBhvr>
                                    </p:animEffect>
                                  </p:childTnLst>
                                </p:cTn>
                              </p:par>
                              <p:par>
                                <p:cTn id="27" presetID="10" presetClass="entr" presetSubtype="0" fill="hold" grpId="0" nodeType="withEffect">
                                  <p:stCondLst>
                                    <p:cond delay="5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54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22" presetClass="entr" presetSubtype="8" fill="hold" grpId="0" nodeType="withEffect">
                                  <p:stCondLst>
                                    <p:cond delay="54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600"/>
                                        <p:tgtEl>
                                          <p:spTgt spid="14"/>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22" presetClass="entr" presetSubtype="8" fill="hold" grpId="0" nodeType="withEffect">
                                  <p:stCondLst>
                                    <p:cond delay="66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600"/>
                                        <p:tgtEl>
                                          <p:spTgt spid="17"/>
                                        </p:tgtEl>
                                      </p:cBhvr>
                                    </p:animEffect>
                                  </p:childTnLst>
                                </p:cTn>
                              </p:par>
                              <p:par>
                                <p:cTn id="45" presetID="10" presetClass="entr" presetSubtype="0" fill="hold" grpId="0" nodeType="withEffect">
                                  <p:stCondLst>
                                    <p:cond delay="78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78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22" presetClass="entr" presetSubtype="8" fill="hold" grpId="0" nodeType="withEffect">
                                  <p:stCondLst>
                                    <p:cond delay="78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8" grpId="0" animBg="1"/>
      <p:bldP spid="10" grpId="0" animBg="1"/>
      <p:bldP spid="12" grpId="0" animBg="1"/>
      <p:bldP spid="11" grpId="0" animBg="1"/>
      <p:bldP spid="13" grpId="0" animBg="1"/>
      <p:bldP spid="15" grpId="0" animBg="1"/>
      <p:bldP spid="14" grpId="0" animBg="1"/>
      <p:bldP spid="16" grpId="0" animBg="1"/>
      <p:bldP spid="18" grpId="0" animBg="1"/>
      <p:bldP spid="17" grpId="0" animBg="1"/>
      <p:bldP spid="19" grpId="0" animBg="1"/>
      <p:bldP spid="21"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3" name="Title 233"/>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Fair prices, set against what people pay now</a:t>
            </a:r>
            <a:endParaRPr lang="en-US" sz="3000" dirty="0"/>
          </a:p>
        </p:txBody>
      </p:sp>
      <p:sp>
        <p:nvSpPr>
          <p:cNvPr id="4" name="Subtitle 234"/>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price = distance × rate(vehicle) × commute hours (+10%, not on public holidays) × surge (+20–50%) · drivers choose within ±30%</a:t>
            </a:r>
            <a:endParaRPr lang="en-US" sz="1600" dirty="0"/>
          </a:p>
        </p:txBody>
      </p:sp>
      <p:sp>
        <p:nvSpPr>
          <p:cNvPr id="5" name="Card 235"/>
          <p:cNvSpPr/>
          <p:nvPr/>
        </p:nvSpPr>
        <p:spPr>
          <a:xfrm>
            <a:off x="548640" y="1783080"/>
            <a:ext cx="5486400" cy="4160520"/>
          </a:xfrm>
          <a:prstGeom prst="roundRect">
            <a:avLst>
              <a:gd name="adj" fmla="val 263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6" name="Text 236"/>
          <p:cNvSpPr/>
          <p:nvPr/>
        </p:nvSpPr>
        <p:spPr>
          <a:xfrm>
            <a:off x="822960" y="1965960"/>
            <a:ext cx="4937760" cy="36576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Commuting in Harare</a:t>
            </a:r>
            <a:endParaRPr lang="en-US" sz="1600" dirty="0"/>
          </a:p>
        </p:txBody>
      </p:sp>
      <p:sp>
        <p:nvSpPr>
          <p:cNvPr id="7" name="Text 237"/>
          <p:cNvSpPr/>
          <p:nvPr/>
        </p:nvSpPr>
        <p:spPr>
          <a:xfrm>
            <a:off x="822960" y="2560320"/>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ZUPCO bus, up to 20 km</a:t>
            </a:r>
            <a:endParaRPr lang="en-US" sz="1250" dirty="0"/>
          </a:p>
        </p:txBody>
      </p:sp>
      <p:sp>
        <p:nvSpPr>
          <p:cNvPr id="8" name="Price bar 238"/>
          <p:cNvSpPr/>
          <p:nvPr/>
        </p:nvSpPr>
        <p:spPr>
          <a:xfrm>
            <a:off x="3154680" y="2679192"/>
            <a:ext cx="240030" cy="310896"/>
          </a:xfrm>
          <a:prstGeom prst="rect">
            <a:avLst/>
          </a:prstGeom>
          <a:solidFill>
            <a:srgbClr val="C9CFDA"/>
          </a:solidFill>
          <a:ln w="12700">
            <a:solidFill>
              <a:srgbClr val="C9CFDA"/>
            </a:solidFill>
            <a:prstDash val="solid"/>
          </a:ln>
        </p:spPr>
      </p:sp>
      <p:sp>
        <p:nvSpPr>
          <p:cNvPr id="9" name="Text 239"/>
          <p:cNvSpPr/>
          <p:nvPr/>
        </p:nvSpPr>
        <p:spPr>
          <a:xfrm>
            <a:off x="3486150" y="2560320"/>
            <a:ext cx="1005840" cy="548640"/>
          </a:xfrm>
          <a:prstGeom prst="rect">
            <a:avLst/>
          </a:prstGeom>
          <a:noFill/>
          <a:ln/>
        </p:spPr>
        <p:txBody>
          <a:bodyPr wrap="square" lIns="0" tIns="0" rIns="0" bIns="0"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US$0.50</a:t>
            </a:r>
            <a:endParaRPr lang="en-US" sz="1300" dirty="0"/>
          </a:p>
        </p:txBody>
      </p:sp>
      <p:sp>
        <p:nvSpPr>
          <p:cNvPr id="10" name="Text 240"/>
          <p:cNvSpPr/>
          <p:nvPr/>
        </p:nvSpPr>
        <p:spPr>
          <a:xfrm>
            <a:off x="822960" y="3364992"/>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Kombi</a:t>
            </a:r>
            <a:endParaRPr lang="en-US" sz="1250" dirty="0"/>
          </a:p>
        </p:txBody>
      </p:sp>
      <p:sp>
        <p:nvSpPr>
          <p:cNvPr id="11" name="Price bar 241"/>
          <p:cNvSpPr/>
          <p:nvPr/>
        </p:nvSpPr>
        <p:spPr>
          <a:xfrm>
            <a:off x="3154680" y="3483864"/>
            <a:ext cx="480060" cy="310896"/>
          </a:xfrm>
          <a:prstGeom prst="rect">
            <a:avLst/>
          </a:prstGeom>
          <a:solidFill>
            <a:srgbClr val="C9CFDA"/>
          </a:solidFill>
          <a:ln w="12700">
            <a:solidFill>
              <a:srgbClr val="C9CFDA"/>
            </a:solidFill>
            <a:prstDash val="solid"/>
          </a:ln>
        </p:spPr>
      </p:sp>
      <p:sp>
        <p:nvSpPr>
          <p:cNvPr id="12" name="Text 242"/>
          <p:cNvSpPr/>
          <p:nvPr/>
        </p:nvSpPr>
        <p:spPr>
          <a:xfrm>
            <a:off x="3726180" y="3364992"/>
            <a:ext cx="1005840" cy="548640"/>
          </a:xfrm>
          <a:prstGeom prst="rect">
            <a:avLst/>
          </a:prstGeom>
          <a:noFill/>
          <a:ln/>
        </p:spPr>
        <p:txBody>
          <a:bodyPr wrap="square" lIns="0" tIns="0" rIns="0" bIns="0"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US$0.50–1</a:t>
            </a:r>
            <a:endParaRPr lang="en-US" sz="1300" dirty="0"/>
          </a:p>
        </p:txBody>
      </p:sp>
      <p:sp>
        <p:nvSpPr>
          <p:cNvPr id="13" name="Text 243"/>
          <p:cNvSpPr/>
          <p:nvPr/>
        </p:nvSpPr>
        <p:spPr>
          <a:xfrm>
            <a:off x="822960" y="4169664"/>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Poolora seat, 15 km (car)</a:t>
            </a:r>
            <a:endParaRPr lang="en-US" sz="1250" dirty="0"/>
          </a:p>
        </p:txBody>
      </p:sp>
      <p:sp>
        <p:nvSpPr>
          <p:cNvPr id="14" name="Price bar 244"/>
          <p:cNvSpPr/>
          <p:nvPr/>
        </p:nvSpPr>
        <p:spPr>
          <a:xfrm>
            <a:off x="3154680" y="4288536"/>
            <a:ext cx="480060" cy="310896"/>
          </a:xfrm>
          <a:prstGeom prst="rect">
            <a:avLst/>
          </a:prstGeom>
          <a:solidFill>
            <a:srgbClr val="0B7A75"/>
          </a:solidFill>
          <a:ln w="12700">
            <a:solidFill>
              <a:srgbClr val="0B7A75"/>
            </a:solidFill>
            <a:prstDash val="solid"/>
          </a:ln>
        </p:spPr>
      </p:sp>
      <p:sp>
        <p:nvSpPr>
          <p:cNvPr id="15" name="Text 245"/>
          <p:cNvSpPr/>
          <p:nvPr/>
        </p:nvSpPr>
        <p:spPr>
          <a:xfrm>
            <a:off x="3726180" y="4169664"/>
            <a:ext cx="1005840" cy="548640"/>
          </a:xfrm>
          <a:prstGeom prst="rect">
            <a:avLst/>
          </a:prstGeom>
          <a:noFill/>
          <a:ln/>
        </p:spPr>
        <p:txBody>
          <a:bodyPr wrap="square" lIns="0" tIns="0" rIns="0" bIns="0" rtlCol="0" anchor="ctr"/>
          <a:lstStyle/>
          <a:p>
            <a:pPr indent="0" marL="0">
              <a:buNone/>
            </a:pPr>
            <a:r>
              <a:rPr lang="en-US" sz="1300" b="1" dirty="0">
                <a:solidFill>
                  <a:srgbClr val="08605C"/>
                </a:solidFill>
                <a:latin typeface="Calibri" pitchFamily="34" charset="0"/>
                <a:ea typeface="Calibri" pitchFamily="34" charset="-122"/>
                <a:cs typeface="Calibri" pitchFamily="34" charset="-120"/>
              </a:rPr>
              <a:t>US$1</a:t>
            </a:r>
            <a:endParaRPr lang="en-US" sz="1300" dirty="0"/>
          </a:p>
        </p:txBody>
      </p:sp>
      <p:sp>
        <p:nvSpPr>
          <p:cNvPr id="16" name="Text 246"/>
          <p:cNvSpPr/>
          <p:nvPr/>
        </p:nvSpPr>
        <p:spPr>
          <a:xfrm>
            <a:off x="822960" y="4974336"/>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Taxi app, 5 km</a:t>
            </a:r>
            <a:endParaRPr lang="en-US" sz="1250" dirty="0"/>
          </a:p>
        </p:txBody>
      </p:sp>
      <p:sp>
        <p:nvSpPr>
          <p:cNvPr id="17" name="Price bar 247"/>
          <p:cNvSpPr/>
          <p:nvPr/>
        </p:nvSpPr>
        <p:spPr>
          <a:xfrm>
            <a:off x="3154680" y="5093208"/>
            <a:ext cx="1440180" cy="310896"/>
          </a:xfrm>
          <a:prstGeom prst="rect">
            <a:avLst/>
          </a:prstGeom>
          <a:solidFill>
            <a:srgbClr val="C9CFDA"/>
          </a:solidFill>
          <a:ln w="12700">
            <a:solidFill>
              <a:srgbClr val="C9CFDA"/>
            </a:solidFill>
            <a:prstDash val="solid"/>
          </a:ln>
        </p:spPr>
      </p:sp>
      <p:sp>
        <p:nvSpPr>
          <p:cNvPr id="18" name="Text 248"/>
          <p:cNvSpPr/>
          <p:nvPr/>
        </p:nvSpPr>
        <p:spPr>
          <a:xfrm>
            <a:off x="4686300" y="4974336"/>
            <a:ext cx="1005840" cy="548640"/>
          </a:xfrm>
          <a:prstGeom prst="rect">
            <a:avLst/>
          </a:prstGeom>
          <a:noFill/>
          <a:ln/>
        </p:spPr>
        <p:txBody>
          <a:bodyPr wrap="square" lIns="0" tIns="0" rIns="0" bIns="0"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US$2–4</a:t>
            </a:r>
            <a:endParaRPr lang="en-US" sz="1300" dirty="0"/>
          </a:p>
        </p:txBody>
      </p:sp>
      <p:sp>
        <p:nvSpPr>
          <p:cNvPr id="19" name="Card 249"/>
          <p:cNvSpPr/>
          <p:nvPr/>
        </p:nvSpPr>
        <p:spPr>
          <a:xfrm>
            <a:off x="6172200" y="1783080"/>
            <a:ext cx="5486400" cy="4160520"/>
          </a:xfrm>
          <a:prstGeom prst="roundRect">
            <a:avLst>
              <a:gd name="adj" fmla="val 263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20" name="Text 250"/>
          <p:cNvSpPr/>
          <p:nvPr/>
        </p:nvSpPr>
        <p:spPr>
          <a:xfrm>
            <a:off x="6446520" y="1965960"/>
            <a:ext cx="4937760" cy="365760"/>
          </a:xfrm>
          <a:prstGeom prst="rect">
            <a:avLst/>
          </a:prstGeom>
          <a:noFill/>
          <a:ln/>
        </p:spPr>
        <p:txBody>
          <a:bodyPr wrap="square" lIns="0" tIns="0" rIns="0" bIns="0" rtlCol="0" anchor="t"/>
          <a:lstStyle/>
          <a:p>
            <a:pPr indent="0" marL="0">
              <a:buNone/>
            </a:pPr>
            <a:r>
              <a:rPr lang="en-US" sz="1600" b="1" dirty="0">
                <a:solidFill>
                  <a:srgbClr val="1B1446"/>
                </a:solidFill>
                <a:latin typeface="Arial" pitchFamily="34" charset="0"/>
                <a:ea typeface="Arial" pitchFamily="34" charset="-122"/>
                <a:cs typeface="Arial" pitchFamily="34" charset="-120"/>
              </a:rPr>
              <a:t>Harare to Bulawayo (439 km)</a:t>
            </a:r>
            <a:endParaRPr lang="en-US" sz="1600" dirty="0"/>
          </a:p>
        </p:txBody>
      </p:sp>
      <p:sp>
        <p:nvSpPr>
          <p:cNvPr id="21" name="Text 251"/>
          <p:cNvSpPr/>
          <p:nvPr/>
        </p:nvSpPr>
        <p:spPr>
          <a:xfrm>
            <a:off x="6446520" y="2560320"/>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Ordinary bus</a:t>
            </a:r>
            <a:endParaRPr lang="en-US" sz="1250" dirty="0"/>
          </a:p>
        </p:txBody>
      </p:sp>
      <p:sp>
        <p:nvSpPr>
          <p:cNvPr id="22" name="Price bar 252"/>
          <p:cNvSpPr/>
          <p:nvPr/>
        </p:nvSpPr>
        <p:spPr>
          <a:xfrm>
            <a:off x="8778240" y="2679192"/>
            <a:ext cx="757989" cy="310896"/>
          </a:xfrm>
          <a:prstGeom prst="rect">
            <a:avLst/>
          </a:prstGeom>
          <a:solidFill>
            <a:srgbClr val="C9CFDA"/>
          </a:solidFill>
          <a:ln w="12700">
            <a:solidFill>
              <a:srgbClr val="C9CFDA"/>
            </a:solidFill>
            <a:prstDash val="solid"/>
          </a:ln>
        </p:spPr>
      </p:sp>
      <p:sp>
        <p:nvSpPr>
          <p:cNvPr id="23" name="Text 253"/>
          <p:cNvSpPr/>
          <p:nvPr/>
        </p:nvSpPr>
        <p:spPr>
          <a:xfrm>
            <a:off x="9627669" y="2560320"/>
            <a:ext cx="1005840" cy="548640"/>
          </a:xfrm>
          <a:prstGeom prst="rect">
            <a:avLst/>
          </a:prstGeom>
          <a:noFill/>
          <a:ln/>
        </p:spPr>
        <p:txBody>
          <a:bodyPr wrap="square" lIns="0" tIns="0" rIns="0" bIns="0"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US$15</a:t>
            </a:r>
            <a:endParaRPr lang="en-US" sz="1300" dirty="0"/>
          </a:p>
        </p:txBody>
      </p:sp>
      <p:sp>
        <p:nvSpPr>
          <p:cNvPr id="24" name="Text 254"/>
          <p:cNvSpPr/>
          <p:nvPr/>
        </p:nvSpPr>
        <p:spPr>
          <a:xfrm>
            <a:off x="6446520" y="3364992"/>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Poolora seat, car</a:t>
            </a:r>
            <a:endParaRPr lang="en-US" sz="1250" dirty="0"/>
          </a:p>
        </p:txBody>
      </p:sp>
      <p:sp>
        <p:nvSpPr>
          <p:cNvPr id="25" name="Price bar 255"/>
          <p:cNvSpPr/>
          <p:nvPr/>
        </p:nvSpPr>
        <p:spPr>
          <a:xfrm>
            <a:off x="8778240" y="3483864"/>
            <a:ext cx="1339115" cy="310896"/>
          </a:xfrm>
          <a:prstGeom prst="rect">
            <a:avLst/>
          </a:prstGeom>
          <a:solidFill>
            <a:srgbClr val="0B7A75"/>
          </a:solidFill>
          <a:ln w="12700">
            <a:solidFill>
              <a:srgbClr val="0B7A75"/>
            </a:solidFill>
            <a:prstDash val="solid"/>
          </a:ln>
        </p:spPr>
      </p:sp>
      <p:sp>
        <p:nvSpPr>
          <p:cNvPr id="26" name="Text 256"/>
          <p:cNvSpPr/>
          <p:nvPr/>
        </p:nvSpPr>
        <p:spPr>
          <a:xfrm>
            <a:off x="10208795" y="3364992"/>
            <a:ext cx="1005840" cy="548640"/>
          </a:xfrm>
          <a:prstGeom prst="rect">
            <a:avLst/>
          </a:prstGeom>
          <a:noFill/>
          <a:ln/>
        </p:spPr>
        <p:txBody>
          <a:bodyPr wrap="square" lIns="0" tIns="0" rIns="0" bIns="0" rtlCol="0" anchor="ctr"/>
          <a:lstStyle/>
          <a:p>
            <a:pPr indent="0" marL="0">
              <a:buNone/>
            </a:pPr>
            <a:r>
              <a:rPr lang="en-US" sz="1300" b="1" dirty="0">
                <a:solidFill>
                  <a:srgbClr val="08605C"/>
                </a:solidFill>
                <a:latin typeface="Calibri" pitchFamily="34" charset="0"/>
                <a:ea typeface="Calibri" pitchFamily="34" charset="-122"/>
                <a:cs typeface="Calibri" pitchFamily="34" charset="-120"/>
              </a:rPr>
              <a:t>US$26.50</a:t>
            </a:r>
            <a:endParaRPr lang="en-US" sz="1300" dirty="0"/>
          </a:p>
        </p:txBody>
      </p:sp>
      <p:sp>
        <p:nvSpPr>
          <p:cNvPr id="27" name="Text 257"/>
          <p:cNvSpPr/>
          <p:nvPr/>
        </p:nvSpPr>
        <p:spPr>
          <a:xfrm>
            <a:off x="6446520" y="4169664"/>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Poolora seat, minivan</a:t>
            </a:r>
            <a:endParaRPr lang="en-US" sz="1250" dirty="0"/>
          </a:p>
        </p:txBody>
      </p:sp>
      <p:sp>
        <p:nvSpPr>
          <p:cNvPr id="28" name="Price bar 258"/>
          <p:cNvSpPr/>
          <p:nvPr/>
        </p:nvSpPr>
        <p:spPr>
          <a:xfrm>
            <a:off x="8778240" y="4288536"/>
            <a:ext cx="1440180" cy="310896"/>
          </a:xfrm>
          <a:prstGeom prst="rect">
            <a:avLst/>
          </a:prstGeom>
          <a:solidFill>
            <a:srgbClr val="0B7A75"/>
          </a:solidFill>
          <a:ln w="12700">
            <a:solidFill>
              <a:srgbClr val="0B7A75"/>
            </a:solidFill>
            <a:prstDash val="solid"/>
          </a:ln>
        </p:spPr>
      </p:sp>
      <p:sp>
        <p:nvSpPr>
          <p:cNvPr id="29" name="Text 259"/>
          <p:cNvSpPr/>
          <p:nvPr/>
        </p:nvSpPr>
        <p:spPr>
          <a:xfrm>
            <a:off x="10309860" y="4169664"/>
            <a:ext cx="1005840" cy="548640"/>
          </a:xfrm>
          <a:prstGeom prst="rect">
            <a:avLst/>
          </a:prstGeom>
          <a:noFill/>
          <a:ln/>
        </p:spPr>
        <p:txBody>
          <a:bodyPr wrap="square" lIns="0" tIns="0" rIns="0" bIns="0" rtlCol="0" anchor="ctr"/>
          <a:lstStyle/>
          <a:p>
            <a:pPr indent="0" marL="0">
              <a:buNone/>
            </a:pPr>
            <a:r>
              <a:rPr lang="en-US" sz="1300" b="1" dirty="0">
                <a:solidFill>
                  <a:srgbClr val="08605C"/>
                </a:solidFill>
                <a:latin typeface="Calibri" pitchFamily="34" charset="0"/>
                <a:ea typeface="Calibri" pitchFamily="34" charset="-122"/>
                <a:cs typeface="Calibri" pitchFamily="34" charset="-120"/>
              </a:rPr>
              <a:t>US$28.50</a:t>
            </a:r>
            <a:endParaRPr lang="en-US" sz="1300" dirty="0"/>
          </a:p>
        </p:txBody>
      </p:sp>
      <p:sp>
        <p:nvSpPr>
          <p:cNvPr id="30" name="Text 260"/>
          <p:cNvSpPr/>
          <p:nvPr/>
        </p:nvSpPr>
        <p:spPr>
          <a:xfrm>
            <a:off x="6446520" y="4974336"/>
            <a:ext cx="2240280" cy="548640"/>
          </a:xfrm>
          <a:prstGeom prst="rect">
            <a:avLst/>
          </a:prstGeom>
          <a:noFill/>
          <a:ln/>
        </p:spPr>
        <p:txBody>
          <a:bodyPr wrap="square" lIns="0" tIns="0" rIns="0" bIns="0" rtlCol="0" anchor="ctr"/>
          <a:lstStyle/>
          <a:p>
            <a:pPr indent="0" marL="0">
              <a:buNone/>
            </a:pPr>
            <a:r>
              <a:rPr lang="en-US" sz="1250" dirty="0">
                <a:solidFill>
                  <a:srgbClr val="1F2330"/>
                </a:solidFill>
                <a:latin typeface="Calibri" pitchFamily="34" charset="0"/>
                <a:ea typeface="Calibri" pitchFamily="34" charset="-122"/>
                <a:cs typeface="Calibri" pitchFamily="34" charset="-120"/>
              </a:rPr>
              <a:t>CityLink luxury coach</a:t>
            </a:r>
            <a:endParaRPr lang="en-US" sz="1250" dirty="0"/>
          </a:p>
        </p:txBody>
      </p:sp>
      <p:sp>
        <p:nvSpPr>
          <p:cNvPr id="31" name="Price bar 261"/>
          <p:cNvSpPr/>
          <p:nvPr/>
        </p:nvSpPr>
        <p:spPr>
          <a:xfrm>
            <a:off x="8778240" y="5093208"/>
            <a:ext cx="1768642" cy="310896"/>
          </a:xfrm>
          <a:prstGeom prst="rect">
            <a:avLst/>
          </a:prstGeom>
          <a:solidFill>
            <a:srgbClr val="C9CFDA"/>
          </a:solidFill>
          <a:ln w="12700">
            <a:solidFill>
              <a:srgbClr val="C9CFDA"/>
            </a:solidFill>
            <a:prstDash val="solid"/>
          </a:ln>
        </p:spPr>
      </p:sp>
      <p:sp>
        <p:nvSpPr>
          <p:cNvPr id="32" name="Text 262"/>
          <p:cNvSpPr/>
          <p:nvPr/>
        </p:nvSpPr>
        <p:spPr>
          <a:xfrm>
            <a:off x="10638322" y="4974336"/>
            <a:ext cx="1005840" cy="548640"/>
          </a:xfrm>
          <a:prstGeom prst="rect">
            <a:avLst/>
          </a:prstGeom>
          <a:noFill/>
          <a:ln/>
        </p:spPr>
        <p:txBody>
          <a:bodyPr wrap="square" lIns="0" tIns="0" rIns="0" bIns="0" rtlCol="0" anchor="ctr"/>
          <a:lstStyle/>
          <a:p>
            <a:pPr indent="0" marL="0">
              <a:buNone/>
            </a:pPr>
            <a:r>
              <a:rPr lang="en-US" sz="1300" b="1" dirty="0">
                <a:solidFill>
                  <a:srgbClr val="5B6475"/>
                </a:solidFill>
                <a:latin typeface="Calibri" pitchFamily="34" charset="0"/>
                <a:ea typeface="Calibri" pitchFamily="34" charset="-122"/>
                <a:cs typeface="Calibri" pitchFamily="34" charset="-120"/>
              </a:rPr>
              <a:t>US$35</a:t>
            </a:r>
            <a:endParaRPr lang="en-US" sz="1300" dirty="0"/>
          </a:p>
        </p:txBody>
      </p:sp>
      <p:sp>
        <p:nvSpPr>
          <p:cNvPr id="33" name="Rates note"/>
          <p:cNvSpPr/>
          <p:nvPr/>
        </p:nvSpPr>
        <p:spPr>
          <a:xfrm>
            <a:off x="548640" y="5989320"/>
            <a:ext cx="11094415" cy="365760"/>
          </a:xfrm>
          <a:prstGeom prst="rect">
            <a:avLst/>
          </a:prstGeom>
          <a:noFill/>
          <a:ln/>
        </p:spPr>
        <p:txBody>
          <a:bodyPr wrap="square" lIns="0" tIns="0" rIns="0" bIns="0" rtlCol="0" anchor="t"/>
          <a:lstStyle/>
          <a:p>
            <a:pPr indent="0" marL="0">
              <a:buNone/>
            </a:pPr>
            <a:r>
              <a:rPr lang="en-US" sz="1100" dirty="0">
                <a:solidFill>
                  <a:srgbClr val="5B6475"/>
                </a:solidFill>
                <a:latin typeface="Calibri" pitchFamily="34" charset="0"/>
                <a:ea typeface="Calibri" pitchFamily="34" charset="-122"/>
                <a:cs typeface="Calibri" pitchFamily="34" charset="-120"/>
              </a:rPr>
              <a:t>Rates a seat per km: bike US$0.04 · auto US$0.045 · hatchback US$0.05 · sedan US$0.06 · minivan US$0.065 · bakkie US$0.07 · SUV US$0.075. Never below US$1 or outside US$0.02–US$0.20 a km. Off-peak examples from the pricing code; market fares September 2026.</a:t>
            </a:r>
            <a:endParaRPr lang="en-US" sz="1100" dirty="0"/>
          </a:p>
        </p:txBody>
      </p:sp>
      <p:pic>
        <p:nvPicPr>
          <p:cNvPr id="34" name="Mark 263"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35" name="Text 3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15</a:t>
            </a:r>
            <a:endParaRPr lang="en-US" sz="1100" dirty="0"/>
          </a:p>
        </p:txBody>
      </p:sp>
      <p:sp>
        <p:nvSpPr>
          <p:cNvPr id="36" name="Text 3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0" fill="hold">
                      <p:stCondLst>
                        <p:cond delay="indefinite"/>
                        <p:cond evt="onBegin" delay="0">
                          <p:tn val="2"/>
                        </p:cond>
                      </p:stCondLst>
                      <p:childTnLst>
                        <p:par>
                          <p:cTn id="9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22" presetClass="entr" presetSubtype="8" fill="hold" grpId="0" nodeType="withEffect">
                                  <p:stCondLst>
                                    <p:cond delay="20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600"/>
                                        <p:tgtEl>
                                          <p:spTgt spid="8"/>
                                        </p:tgtEl>
                                      </p:cBhvr>
                                    </p:animEffect>
                                  </p:childTnLst>
                                </p:cTn>
                              </p:par>
                              <p:par>
                                <p:cTn id="15" presetID="10" presetClass="entr" presetSubtype="0" fill="hold" grpId="0" nodeType="withEffect">
                                  <p:stCondLst>
                                    <p:cond delay="35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22" presetClass="entr" presetSubtype="8" fill="hold" grpId="0" nodeType="withEffect">
                                  <p:stCondLst>
                                    <p:cond delay="35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600"/>
                                        <p:tgtEl>
                                          <p:spTgt spid="11"/>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600"/>
                                        <p:tgtEl>
                                          <p:spTgt spid="14"/>
                                        </p:tgtEl>
                                      </p:cBhvr>
                                    </p:animEffect>
                                  </p:childTnLst>
                                </p:cTn>
                              </p:par>
                              <p:par>
                                <p:cTn id="30" presetID="10" presetClass="entr" presetSubtype="0" fill="hold" grpId="0" nodeType="withEffect">
                                  <p:stCondLst>
                                    <p:cond delay="6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60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par>
                                <p:cTn id="36" presetID="10" presetClass="entr" presetSubtype="0" fill="hold" grpId="0" nodeType="withEffect">
                                  <p:stCondLst>
                                    <p:cond delay="65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65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22" presetClass="entr" presetSubtype="8" fill="hold" grpId="0" nodeType="withEffect">
                                  <p:stCondLst>
                                    <p:cond delay="65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600"/>
                                        <p:tgtEl>
                                          <p:spTgt spid="17"/>
                                        </p:tgtEl>
                                      </p:cBhvr>
                                    </p:animEffect>
                                  </p:childTnLst>
                                </p:cTn>
                              </p:par>
                              <p:par>
                                <p:cTn id="45" presetID="10" presetClass="entr" presetSubtype="0" fill="hold" grpId="0" nodeType="withEffect">
                                  <p:stCondLst>
                                    <p:cond delay="8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80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22" presetClass="entr" presetSubtype="8" fill="hold" grpId="0" nodeType="withEffect">
                                  <p:stCondLst>
                                    <p:cond delay="80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600"/>
                                        <p:tgtEl>
                                          <p:spTgt spid="22"/>
                                        </p:tgtEl>
                                      </p:cBhvr>
                                    </p:animEffect>
                                  </p:childTnLst>
                                </p:cTn>
                              </p:par>
                              <p:par>
                                <p:cTn id="54" presetID="10" presetClass="entr" presetSubtype="0" fill="hold" grpId="0" nodeType="withEffect">
                                  <p:stCondLst>
                                    <p:cond delay="95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95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22" presetClass="entr" presetSubtype="8" fill="hold" grpId="0" nodeType="withEffect">
                                  <p:stCondLst>
                                    <p:cond delay="950"/>
                                  </p:stCondLst>
                                  <p:childTnLst>
                                    <p:set>
                                      <p:cBhvr>
                                        <p:cTn id="61" dur="1" fill="hold">
                                          <p:stCondLst>
                                            <p:cond delay="0"/>
                                          </p:stCondLst>
                                        </p:cTn>
                                        <p:tgtEl>
                                          <p:spTgt spid="25"/>
                                        </p:tgtEl>
                                        <p:attrNameLst>
                                          <p:attrName>style.visibility</p:attrName>
                                        </p:attrNameLst>
                                      </p:cBhvr>
                                      <p:to>
                                        <p:strVal val="visible"/>
                                      </p:to>
                                    </p:set>
                                    <p:animEffect transition="in" filter="wipe(left)">
                                      <p:cBhvr>
                                        <p:cTn id="62" dur="600"/>
                                        <p:tgtEl>
                                          <p:spTgt spid="25"/>
                                        </p:tgtEl>
                                      </p:cBhvr>
                                    </p:animEffect>
                                  </p:childTnLst>
                                </p:cTn>
                              </p:par>
                              <p:par>
                                <p:cTn id="63" presetID="10" presetClass="entr" presetSubtype="0" fill="hold" grpId="0" nodeType="withEffect">
                                  <p:stCondLst>
                                    <p:cond delay="110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110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22" presetClass="entr" presetSubtype="8" fill="hold" grpId="0" nodeType="withEffect">
                                  <p:stCondLst>
                                    <p:cond delay="1100"/>
                                  </p:stCondLst>
                                  <p:childTnLst>
                                    <p:set>
                                      <p:cBhvr>
                                        <p:cTn id="70" dur="1" fill="hold">
                                          <p:stCondLst>
                                            <p:cond delay="0"/>
                                          </p:stCondLst>
                                        </p:cTn>
                                        <p:tgtEl>
                                          <p:spTgt spid="28"/>
                                        </p:tgtEl>
                                        <p:attrNameLst>
                                          <p:attrName>style.visibility</p:attrName>
                                        </p:attrNameLst>
                                      </p:cBhvr>
                                      <p:to>
                                        <p:strVal val="visible"/>
                                      </p:to>
                                    </p:set>
                                    <p:animEffect transition="in" filter="wipe(left)">
                                      <p:cBhvr>
                                        <p:cTn id="71" dur="600"/>
                                        <p:tgtEl>
                                          <p:spTgt spid="28"/>
                                        </p:tgtEl>
                                      </p:cBhvr>
                                    </p:animEffect>
                                  </p:childTnLst>
                                </p:cTn>
                              </p:par>
                              <p:par>
                                <p:cTn id="72" presetID="10" presetClass="entr" presetSubtype="0" fill="hold" grpId="0" nodeType="withEffect">
                                  <p:stCondLst>
                                    <p:cond delay="125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125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22" presetClass="entr" presetSubtype="8" fill="hold" grpId="0" nodeType="withEffect">
                                  <p:stCondLst>
                                    <p:cond delay="1250"/>
                                  </p:stCondLst>
                                  <p:childTnLst>
                                    <p:set>
                                      <p:cBhvr>
                                        <p:cTn id="79" dur="1" fill="hold">
                                          <p:stCondLst>
                                            <p:cond delay="0"/>
                                          </p:stCondLst>
                                        </p:cTn>
                                        <p:tgtEl>
                                          <p:spTgt spid="31"/>
                                        </p:tgtEl>
                                        <p:attrNameLst>
                                          <p:attrName>style.visibility</p:attrName>
                                        </p:attrNameLst>
                                      </p:cBhvr>
                                      <p:to>
                                        <p:strVal val="visible"/>
                                      </p:to>
                                    </p:set>
                                    <p:animEffect transition="in" filter="wipe(left)">
                                      <p:cBhvr>
                                        <p:cTn id="80" dur="600"/>
                                        <p:tgtEl>
                                          <p:spTgt spid="31"/>
                                        </p:tgtEl>
                                      </p:cBhvr>
                                    </p:animEffect>
                                  </p:childTnLst>
                                </p:cTn>
                              </p:par>
                              <p:par>
                                <p:cTn id="81" presetID="10" presetClass="entr" presetSubtype="0" fill="hold" grpId="0" nodeType="withEffect">
                                  <p:stCondLst>
                                    <p:cond delay="140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150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155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9" grpId="0" animBg="1"/>
      <p:bldP spid="13" grpId="0" animBg="1"/>
      <p:bldP spid="14" grpId="0" animBg="1"/>
      <p:bldP spid="19" grpId="0" animBg="1"/>
      <p:bldP spid="20" grpId="0" animBg="1"/>
      <p:bldP spid="12" grpId="0" animBg="1"/>
      <p:bldP spid="16" grpId="0" animBg="1"/>
      <p:bldP spid="17" grpId="0" animBg="1"/>
      <p:bldP spid="15" grpId="0" animBg="1"/>
      <p:bldP spid="21" grpId="0" animBg="1"/>
      <p:bldP spid="22" grpId="0" animBg="1"/>
      <p:bldP spid="18" grpId="0" animBg="1"/>
      <p:bldP spid="24" grpId="0" animBg="1"/>
      <p:bldP spid="25" grpId="0" animBg="1"/>
      <p:bldP spid="23" grpId="0" animBg="1"/>
      <p:bldP spid="27" grpId="0" animBg="1"/>
      <p:bldP spid="28" grpId="0" animBg="1"/>
      <p:bldP spid="26" grpId="0" animBg="1"/>
      <p:bldP spid="30" grpId="0" animBg="1"/>
      <p:bldP spid="31" grpId="0" animBg="1"/>
      <p:bldP spid="29" grpId="0" animBg="1"/>
      <p:bldP spid="33" grpId="0" animBg="1"/>
      <p:bldP spid="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3" name="Title 264"/>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Cancellations and refunds</a:t>
            </a:r>
            <a:endParaRPr lang="en-US" sz="3000" dirty="0"/>
          </a:p>
        </p:txBody>
      </p:sp>
      <p:sp>
        <p:nvSpPr>
          <p:cNvPr id="4" name="Subtitle 265"/>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Clear rules shown before the rider confirms; refunds land in the wallet at once.</a:t>
            </a:r>
            <a:endParaRPr lang="en-US" sz="1600" dirty="0"/>
          </a:p>
        </p:txBody>
      </p:sp>
      <p:sp>
        <p:nvSpPr>
          <p:cNvPr id="5" name="Tier 266"/>
          <p:cNvSpPr/>
          <p:nvPr/>
        </p:nvSpPr>
        <p:spPr>
          <a:xfrm>
            <a:off x="822960" y="1920240"/>
            <a:ext cx="3796479" cy="685800"/>
          </a:xfrm>
          <a:prstGeom prst="rect">
            <a:avLst/>
          </a:prstGeom>
          <a:solidFill>
            <a:srgbClr val="0B7A75"/>
          </a:solidFill>
          <a:ln w="25400">
            <a:solidFill>
              <a:srgbClr val="FFFFFF"/>
            </a:solidFill>
            <a:prstDash val="solid"/>
          </a:ln>
        </p:spPr>
      </p:sp>
      <p:sp>
        <p:nvSpPr>
          <p:cNvPr id="6" name="Text 267"/>
          <p:cNvSpPr/>
          <p:nvPr/>
        </p:nvSpPr>
        <p:spPr>
          <a:xfrm>
            <a:off x="822960" y="1920240"/>
            <a:ext cx="3796479"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100% back</a:t>
            </a:r>
            <a:endParaRPr lang="en-US" sz="1800" dirty="0"/>
          </a:p>
        </p:txBody>
      </p:sp>
      <p:sp>
        <p:nvSpPr>
          <p:cNvPr id="7" name="Text 268"/>
          <p:cNvSpPr/>
          <p:nvPr/>
        </p:nvSpPr>
        <p:spPr>
          <a:xfrm>
            <a:off x="822960" y="2697480"/>
            <a:ext cx="3796479" cy="365760"/>
          </a:xfrm>
          <a:prstGeom prst="rect">
            <a:avLst/>
          </a:prstGeom>
          <a:noFill/>
          <a:ln/>
        </p:spPr>
        <p:txBody>
          <a:bodyPr wrap="square" lIns="0" tIns="0" rIns="0" bIns="0" rtlCol="0" anchor="t"/>
          <a:lstStyle/>
          <a:p>
            <a:pPr algn="ctr" indent="0" marL="0">
              <a:buNone/>
            </a:pPr>
            <a:r>
              <a:rPr lang="en-US" sz="1300" dirty="0">
                <a:solidFill>
                  <a:srgbClr val="5B6475"/>
                </a:solidFill>
                <a:latin typeface="Calibri" pitchFamily="34" charset="0"/>
                <a:ea typeface="Calibri" pitchFamily="34" charset="-122"/>
                <a:cs typeface="Calibri" pitchFamily="34" charset="-120"/>
              </a:rPr>
              <a:t>24 h or more before</a:t>
            </a:r>
            <a:endParaRPr lang="en-US" sz="1300" dirty="0"/>
          </a:p>
        </p:txBody>
      </p:sp>
      <p:sp>
        <p:nvSpPr>
          <p:cNvPr id="8" name="Tier 269"/>
          <p:cNvSpPr/>
          <p:nvPr/>
        </p:nvSpPr>
        <p:spPr>
          <a:xfrm>
            <a:off x="4619439" y="1920240"/>
            <a:ext cx="4640141" cy="685800"/>
          </a:xfrm>
          <a:prstGeom prst="rect">
            <a:avLst/>
          </a:prstGeom>
          <a:solidFill>
            <a:srgbClr val="E8A33D"/>
          </a:solidFill>
          <a:ln w="25400">
            <a:solidFill>
              <a:srgbClr val="FFFFFF"/>
            </a:solidFill>
            <a:prstDash val="solid"/>
          </a:ln>
        </p:spPr>
      </p:sp>
      <p:sp>
        <p:nvSpPr>
          <p:cNvPr id="9" name="Text 270"/>
          <p:cNvSpPr/>
          <p:nvPr/>
        </p:nvSpPr>
        <p:spPr>
          <a:xfrm>
            <a:off x="4619439" y="1920240"/>
            <a:ext cx="4640141"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50% back</a:t>
            </a:r>
            <a:endParaRPr lang="en-US" sz="1800" dirty="0"/>
          </a:p>
        </p:txBody>
      </p:sp>
      <p:sp>
        <p:nvSpPr>
          <p:cNvPr id="10" name="Text 271"/>
          <p:cNvSpPr/>
          <p:nvPr/>
        </p:nvSpPr>
        <p:spPr>
          <a:xfrm>
            <a:off x="4619439" y="2697480"/>
            <a:ext cx="4640141" cy="365760"/>
          </a:xfrm>
          <a:prstGeom prst="rect">
            <a:avLst/>
          </a:prstGeom>
          <a:noFill/>
          <a:ln/>
        </p:spPr>
        <p:txBody>
          <a:bodyPr wrap="square" lIns="0" tIns="0" rIns="0" bIns="0" rtlCol="0" anchor="t"/>
          <a:lstStyle/>
          <a:p>
            <a:pPr algn="ctr" indent="0" marL="0">
              <a:buNone/>
            </a:pPr>
            <a:r>
              <a:rPr lang="en-US" sz="1300" dirty="0">
                <a:solidFill>
                  <a:srgbClr val="5B6475"/>
                </a:solidFill>
                <a:latin typeface="Calibri" pitchFamily="34" charset="0"/>
                <a:ea typeface="Calibri" pitchFamily="34" charset="-122"/>
                <a:cs typeface="Calibri" pitchFamily="34" charset="-120"/>
              </a:rPr>
              <a:t>2–24 h before</a:t>
            </a:r>
            <a:endParaRPr lang="en-US" sz="1300" dirty="0"/>
          </a:p>
        </p:txBody>
      </p:sp>
      <p:sp>
        <p:nvSpPr>
          <p:cNvPr id="11" name="Tier 272"/>
          <p:cNvSpPr/>
          <p:nvPr/>
        </p:nvSpPr>
        <p:spPr>
          <a:xfrm>
            <a:off x="9259580" y="1920240"/>
            <a:ext cx="2109155" cy="685800"/>
          </a:xfrm>
          <a:prstGeom prst="rect">
            <a:avLst/>
          </a:prstGeom>
          <a:solidFill>
            <a:srgbClr val="D9468F"/>
          </a:solidFill>
          <a:ln w="25400">
            <a:solidFill>
              <a:srgbClr val="FFFFFF"/>
            </a:solidFill>
            <a:prstDash val="solid"/>
          </a:ln>
        </p:spPr>
      </p:sp>
      <p:sp>
        <p:nvSpPr>
          <p:cNvPr id="12" name="Text 273"/>
          <p:cNvSpPr/>
          <p:nvPr/>
        </p:nvSpPr>
        <p:spPr>
          <a:xfrm>
            <a:off x="9259580" y="1920240"/>
            <a:ext cx="2109155"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 back</a:t>
            </a:r>
            <a:endParaRPr lang="en-US" sz="1800" dirty="0"/>
          </a:p>
        </p:txBody>
      </p:sp>
      <p:sp>
        <p:nvSpPr>
          <p:cNvPr id="13" name="Text 274"/>
          <p:cNvSpPr/>
          <p:nvPr/>
        </p:nvSpPr>
        <p:spPr>
          <a:xfrm>
            <a:off x="9259580" y="2697480"/>
            <a:ext cx="2109155" cy="365760"/>
          </a:xfrm>
          <a:prstGeom prst="rect">
            <a:avLst/>
          </a:prstGeom>
          <a:noFill/>
          <a:ln/>
        </p:spPr>
        <p:txBody>
          <a:bodyPr wrap="square" lIns="0" tIns="0" rIns="0" bIns="0" rtlCol="0" anchor="t"/>
          <a:lstStyle/>
          <a:p>
            <a:pPr algn="ctr" indent="0" marL="0">
              <a:buNone/>
            </a:pPr>
            <a:r>
              <a:rPr lang="en-US" sz="1300" dirty="0">
                <a:solidFill>
                  <a:srgbClr val="5B6475"/>
                </a:solidFill>
                <a:latin typeface="Calibri" pitchFamily="34" charset="0"/>
                <a:ea typeface="Calibri" pitchFamily="34" charset="-122"/>
                <a:cs typeface="Calibri" pitchFamily="34" charset="-120"/>
              </a:rPr>
              <a:t>Under 2 h</a:t>
            </a:r>
            <a:endParaRPr lang="en-US" sz="1300" dirty="0"/>
          </a:p>
        </p:txBody>
      </p:sp>
      <p:sp>
        <p:nvSpPr>
          <p:cNvPr id="14" name="Timeline end"/>
          <p:cNvSpPr/>
          <p:nvPr/>
        </p:nvSpPr>
        <p:spPr>
          <a:xfrm>
            <a:off x="9997135" y="1554480"/>
            <a:ext cx="1371600" cy="320040"/>
          </a:xfrm>
          <a:prstGeom prst="rect">
            <a:avLst/>
          </a:prstGeom>
          <a:noFill/>
          <a:ln/>
        </p:spPr>
        <p:txBody>
          <a:bodyPr wrap="square" lIns="0" tIns="0" rIns="0" bIns="0" rtlCol="0" anchor="t"/>
          <a:lstStyle/>
          <a:p>
            <a:pPr algn="r" indent="0" marL="0">
              <a:buNone/>
            </a:pPr>
            <a:r>
              <a:rPr lang="en-US" sz="1200" dirty="0">
                <a:solidFill>
                  <a:srgbClr val="5B6475"/>
                </a:solidFill>
                <a:latin typeface="Calibri" pitchFamily="34" charset="0"/>
                <a:ea typeface="Calibri" pitchFamily="34" charset="-122"/>
                <a:cs typeface="Calibri" pitchFamily="34" charset="-120"/>
              </a:rPr>
              <a:t>Departure →</a:t>
            </a:r>
            <a:endParaRPr lang="en-US" sz="1200" dirty="0"/>
          </a:p>
        </p:txBody>
      </p:sp>
      <p:pic>
        <p:nvPicPr>
          <p:cNvPr id="15" name="Rule icon 275" descr="preencoded.png">    </p:cNvPr>
          <p:cNvPicPr>
            <a:picLocks noChangeAspect="1"/>
          </p:cNvPicPr>
          <p:nvPr/>
        </p:nvPicPr>
        <p:blipFill>
          <a:blip r:embed="rId1"/>
          <a:stretch>
            <a:fillRect/>
          </a:stretch>
        </p:blipFill>
        <p:spPr>
          <a:xfrm>
            <a:off x="822960" y="3474720"/>
            <a:ext cx="329184" cy="329184"/>
          </a:xfrm>
          <a:prstGeom prst="rect">
            <a:avLst/>
          </a:prstGeom>
        </p:spPr>
      </p:pic>
      <p:sp>
        <p:nvSpPr>
          <p:cNvPr id="16" name="Text 276"/>
          <p:cNvSpPr/>
          <p:nvPr/>
        </p:nvSpPr>
        <p:spPr>
          <a:xfrm>
            <a:off x="1325880" y="3429000"/>
            <a:ext cx="10058400" cy="457200"/>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Free for 30 minutes after the driver accepts, while the ride is 1 hour or more away</a:t>
            </a:r>
            <a:endParaRPr lang="en-US" sz="1500" dirty="0"/>
          </a:p>
        </p:txBody>
      </p:sp>
      <p:pic>
        <p:nvPicPr>
          <p:cNvPr id="17" name="Rule icon 277" descr="preencoded.png">    </p:cNvPr>
          <p:cNvPicPr>
            <a:picLocks noChangeAspect="1"/>
          </p:cNvPicPr>
          <p:nvPr/>
        </p:nvPicPr>
        <p:blipFill>
          <a:blip r:embed="rId2"/>
          <a:stretch>
            <a:fillRect/>
          </a:stretch>
        </p:blipFill>
        <p:spPr>
          <a:xfrm>
            <a:off x="822960" y="4078224"/>
            <a:ext cx="329184" cy="329184"/>
          </a:xfrm>
          <a:prstGeom prst="rect">
            <a:avLst/>
          </a:prstGeom>
        </p:spPr>
      </p:pic>
      <p:sp>
        <p:nvSpPr>
          <p:cNvPr id="18" name="Text 278"/>
          <p:cNvSpPr/>
          <p:nvPr/>
        </p:nvSpPr>
        <p:spPr>
          <a:xfrm>
            <a:off x="1325880" y="4032504"/>
            <a:ext cx="10058400" cy="457200"/>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Everything back before the driver accepts, if the driver cancels, or if the driver moves the time</a:t>
            </a:r>
            <a:endParaRPr lang="en-US" sz="1500" dirty="0"/>
          </a:p>
        </p:txBody>
      </p:sp>
      <p:pic>
        <p:nvPicPr>
          <p:cNvPr id="19" name="Rule icon 279" descr="preencoded.png">    </p:cNvPr>
          <p:cNvPicPr>
            <a:picLocks noChangeAspect="1"/>
          </p:cNvPicPr>
          <p:nvPr/>
        </p:nvPicPr>
        <p:blipFill>
          <a:blip r:embed="rId3"/>
          <a:stretch>
            <a:fillRect/>
          </a:stretch>
        </p:blipFill>
        <p:spPr>
          <a:xfrm>
            <a:off x="822960" y="4681728"/>
            <a:ext cx="329184" cy="329184"/>
          </a:xfrm>
          <a:prstGeom prst="rect">
            <a:avLst/>
          </a:prstGeom>
        </p:spPr>
      </p:pic>
      <p:sp>
        <p:nvSpPr>
          <p:cNvPr id="20" name="Text 280"/>
          <p:cNvSpPr/>
          <p:nvPr/>
        </p:nvSpPr>
        <p:spPr>
          <a:xfrm>
            <a:off x="1325880" y="4636008"/>
            <a:ext cx="10058400" cy="457200"/>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No-show: the driver waits 10 minutes at the pickup; then the fare goes to the driver, less the fee</a:t>
            </a:r>
            <a:endParaRPr lang="en-US" sz="1500" dirty="0"/>
          </a:p>
        </p:txBody>
      </p:sp>
      <p:pic>
        <p:nvPicPr>
          <p:cNvPr id="21" name="Rule icon 281" descr="preencoded.png">    </p:cNvPr>
          <p:cNvPicPr>
            <a:picLocks noChangeAspect="1"/>
          </p:cNvPicPr>
          <p:nvPr/>
        </p:nvPicPr>
        <p:blipFill>
          <a:blip r:embed="rId4"/>
          <a:stretch>
            <a:fillRect/>
          </a:stretch>
        </p:blipFill>
        <p:spPr>
          <a:xfrm>
            <a:off x="822960" y="5285232"/>
            <a:ext cx="329184" cy="329184"/>
          </a:xfrm>
          <a:prstGeom prst="rect">
            <a:avLst/>
          </a:prstGeom>
        </p:spPr>
      </p:pic>
      <p:sp>
        <p:nvSpPr>
          <p:cNvPr id="22" name="Text 282"/>
          <p:cNvSpPr/>
          <p:nvPr/>
        </p:nvSpPr>
        <p:spPr>
          <a:xfrm>
            <a:off x="1325880" y="5239512"/>
            <a:ext cx="10058400" cy="457200"/>
          </a:xfrm>
          <a:prstGeom prst="rect">
            <a:avLst/>
          </a:prstGeom>
          <a:noFill/>
          <a:ln/>
        </p:spPr>
        <p:txBody>
          <a:bodyPr wrap="square" lIns="0" tIns="0" rIns="0" bIns="0" rtlCol="0" anchor="ctr"/>
          <a:lstStyle/>
          <a:p>
            <a:pPr indent="0" marL="0">
              <a:buNone/>
            </a:pPr>
            <a:r>
              <a:rPr lang="en-US" sz="1500" dirty="0">
                <a:solidFill>
                  <a:srgbClr val="1F2330"/>
                </a:solidFill>
                <a:latin typeface="Calibri" pitchFamily="34" charset="0"/>
                <a:ea typeface="Calibri" pitchFamily="34" charset="-122"/>
                <a:cs typeface="Calibri" pitchFamily="34" charset="-120"/>
              </a:rPr>
              <a:t>Refunds go to the Poolora wallet at once and can be withdrawn to EcoCash, OneMoney or InnBucks</a:t>
            </a:r>
            <a:endParaRPr lang="en-US" sz="1500" dirty="0"/>
          </a:p>
        </p:txBody>
      </p:sp>
      <p:pic>
        <p:nvPicPr>
          <p:cNvPr id="23" name="Mark 283" descr="/home/ghost/Desktop/Projects/Poolora/branding/poolora-icon.png">    </p:cNvPr>
          <p:cNvPicPr>
            <a:picLocks noChangeAspect="1"/>
          </p:cNvPicPr>
          <p:nvPr/>
        </p:nvPicPr>
        <p:blipFill>
          <a:blip r:embed="rId5"/>
          <a:stretch>
            <a:fillRect/>
          </a:stretch>
        </p:blipFill>
        <p:spPr>
          <a:xfrm>
            <a:off x="11368735" y="6355080"/>
            <a:ext cx="310896" cy="310896"/>
          </a:xfrm>
          <a:prstGeom prst="rect">
            <a:avLst/>
          </a:prstGeom>
        </p:spPr>
      </p:pic>
      <p:sp>
        <p:nvSpPr>
          <p:cNvPr id="24" name="Text 16"/>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16</a:t>
            </a:r>
            <a:endParaRPr lang="en-US" sz="1100" dirty="0"/>
          </a:p>
        </p:txBody>
      </p:sp>
      <p:sp>
        <p:nvSpPr>
          <p:cNvPr id="25" name="Text 17"/>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4"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wipe(left)">
                                      <p:cBhvr>
                                        <p:cTn id="5" dur="500"/>
                                        <p:tgtEl>
                                          <p:spTgt spid="5"/>
                                        </p:tgtEl>
                                      </p:cBhvr>
                                    </p:animEffect>
                                  </p:childTnLst>
                                </p:cTn>
                              </p:par>
                              <p:par>
                                <p:cTn id="6" presetID="22" presetClass="entr" presetSubtype="8" fill="hold" grpId="0" nodeType="withEffect">
                                  <p:stCondLst>
                                    <p:cond delay="200"/>
                                  </p:stCondLst>
                                  <p:childTnLst>
                                    <p:set>
                                      <p:cBhvr>
                                        <p:cTn id="7" dur="1" fill="hold">
                                          <p:stCondLst>
                                            <p:cond delay="0"/>
                                          </p:stCondLst>
                                        </p:cTn>
                                        <p:tgtEl>
                                          <p:spTgt spid="8"/>
                                        </p:tgtEl>
                                        <p:attrNameLst>
                                          <p:attrName>style.visibility</p:attrName>
                                        </p:attrNameLst>
                                      </p:cBhvr>
                                      <p:to>
                                        <p:strVal val="visible"/>
                                      </p:to>
                                    </p:set>
                                    <p:animEffect transition="in" filter="wipe(left)">
                                      <p:cBhvr>
                                        <p:cTn id="8" dur="500"/>
                                        <p:tgtEl>
                                          <p:spTgt spid="8"/>
                                        </p:tgtEl>
                                      </p:cBhvr>
                                    </p:animEffect>
                                  </p:childTnLst>
                                </p:cTn>
                              </p:par>
                              <p:par>
                                <p:cTn id="9" presetID="10" presetClass="entr" presetSubtype="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25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22" presetClass="entr" presetSubtype="8" fill="hold" grpId="0" nodeType="withEffect">
                                  <p:stCondLst>
                                    <p:cond delay="40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45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65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6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70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42" presetClass="entr" presetSubtype="0" fill="hold" grpId="0" nodeType="withEffect">
                                  <p:stCondLst>
                                    <p:cond delay="9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90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105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10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12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2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35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135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6" grpId="0" animBg="1"/>
      <p:bldP spid="7" grpId="0" animBg="1"/>
      <p:bldP spid="11" grpId="0" animBg="1"/>
      <p:bldP spid="9" grpId="0" animBg="1"/>
      <p:bldP spid="10" grpId="0" animBg="1"/>
      <p:bldP spid="12" grpId="0" animBg="1"/>
      <p:bldP spid="13" grpId="0" animBg="1"/>
      <p:bldP spid="14" grpId="0" animBg="1"/>
      <p:bldP spid="16" grpId="0" animBg="1"/>
      <p:bldP spid="18" grpId="0" animBg="1"/>
      <p:bldP spid="20"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446"/>
        </a:solidFill>
      </p:bgPr>
    </p:bg>
    <p:spTree>
      <p:nvGrpSpPr>
        <p:cNvPr id="1" name=""/>
        <p:cNvGrpSpPr/>
        <p:nvPr/>
      </p:nvGrpSpPr>
      <p:grpSpPr>
        <a:xfrm>
          <a:off x="0" y="0"/>
          <a:ext cx="0" cy="0"/>
          <a:chOff x="0" y="0"/>
          <a:chExt cx="0" cy="0"/>
        </a:xfrm>
      </p:grpSpPr>
      <p:sp>
        <p:nvSpPr>
          <p:cNvPr id="3" name="Title 284"/>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Safety by design</a:t>
            </a:r>
            <a:endParaRPr lang="en-US" sz="3000" dirty="0"/>
          </a:p>
        </p:txBody>
      </p:sp>
      <p:sp>
        <p:nvSpPr>
          <p:cNvPr id="4" name="Subtitle 285"/>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B9B4D9"/>
                </a:solidFill>
                <a:latin typeface="Calibri" pitchFamily="34" charset="0"/>
                <a:ea typeface="Calibri" pitchFamily="34" charset="-122"/>
                <a:cs typeface="Calibri" pitchFamily="34" charset="-120"/>
              </a:rPr>
              <a:t>For riders and drivers alike: the reason to choose Poolora.</a:t>
            </a:r>
            <a:endParaRPr lang="en-US" sz="1600" dirty="0"/>
          </a:p>
        </p:txBody>
      </p:sp>
      <p:sp>
        <p:nvSpPr>
          <p:cNvPr id="5" name="Card 286"/>
          <p:cNvSpPr/>
          <p:nvPr/>
        </p:nvSpPr>
        <p:spPr>
          <a:xfrm>
            <a:off x="548640" y="164592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6" name="Icon 287"/>
          <p:cNvSpPr/>
          <p:nvPr/>
        </p:nvSpPr>
        <p:spPr>
          <a:xfrm>
            <a:off x="822960" y="1920240"/>
            <a:ext cx="685800" cy="685800"/>
          </a:xfrm>
          <a:prstGeom prst="ellipse">
            <a:avLst/>
          </a:prstGeom>
          <a:solidFill>
            <a:srgbClr val="D9468F"/>
          </a:solidFill>
          <a:ln w="12700">
            <a:solidFill>
              <a:srgbClr val="D9468F"/>
            </a:solidFill>
            <a:prstDash val="solid"/>
          </a:ln>
        </p:spPr>
      </p:sp>
      <p:pic>
        <p:nvPicPr>
          <p:cNvPr id="7" name="Icon 287 glyph" descr="preencoded.png">    </p:cNvPr>
          <p:cNvPicPr>
            <a:picLocks noChangeAspect="1"/>
          </p:cNvPicPr>
          <p:nvPr/>
        </p:nvPicPr>
        <p:blipFill>
          <a:blip r:embed="rId1"/>
          <a:stretch>
            <a:fillRect/>
          </a:stretch>
        </p:blipFill>
        <p:spPr>
          <a:xfrm>
            <a:off x="973836" y="2071116"/>
            <a:ext cx="384048" cy="384048"/>
          </a:xfrm>
          <a:prstGeom prst="rect">
            <a:avLst/>
          </a:prstGeom>
        </p:spPr>
      </p:pic>
      <p:sp>
        <p:nvSpPr>
          <p:cNvPr id="8" name="Text 288"/>
          <p:cNvSpPr/>
          <p:nvPr/>
        </p:nvSpPr>
        <p:spPr>
          <a:xfrm>
            <a:off x="1691640" y="199339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SOS in 3 seconds</a:t>
            </a:r>
            <a:endParaRPr lang="en-US" sz="1700" dirty="0"/>
          </a:p>
        </p:txBody>
      </p:sp>
      <p:sp>
        <p:nvSpPr>
          <p:cNvPr id="9" name="Text 289"/>
          <p:cNvSpPr/>
          <p:nvPr/>
        </p:nvSpPr>
        <p:spPr>
          <a:xfrm>
            <a:off x="822960" y="274320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Safety desk alerted at once; family get a live link 10 s later. No GPS needed; offline, it texts them from the phone</a:t>
            </a:r>
            <a:endParaRPr lang="en-US" sz="1300" dirty="0"/>
          </a:p>
        </p:txBody>
      </p:sp>
      <p:sp>
        <p:nvSpPr>
          <p:cNvPr id="10" name="Card 290"/>
          <p:cNvSpPr/>
          <p:nvPr/>
        </p:nvSpPr>
        <p:spPr>
          <a:xfrm>
            <a:off x="4297680" y="164592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11" name="Icon 291"/>
          <p:cNvSpPr/>
          <p:nvPr/>
        </p:nvSpPr>
        <p:spPr>
          <a:xfrm>
            <a:off x="4572000" y="1920240"/>
            <a:ext cx="685800" cy="685800"/>
          </a:xfrm>
          <a:prstGeom prst="ellipse">
            <a:avLst/>
          </a:prstGeom>
          <a:solidFill>
            <a:srgbClr val="0B7A75"/>
          </a:solidFill>
          <a:ln w="12700">
            <a:solidFill>
              <a:srgbClr val="0B7A75"/>
            </a:solidFill>
            <a:prstDash val="solid"/>
          </a:ln>
        </p:spPr>
      </p:sp>
      <p:pic>
        <p:nvPicPr>
          <p:cNvPr id="12" name="Icon 291 glyph" descr="preencoded.png">    </p:cNvPr>
          <p:cNvPicPr>
            <a:picLocks noChangeAspect="1"/>
          </p:cNvPicPr>
          <p:nvPr/>
        </p:nvPicPr>
        <p:blipFill>
          <a:blip r:embed="rId2"/>
          <a:stretch>
            <a:fillRect/>
          </a:stretch>
        </p:blipFill>
        <p:spPr>
          <a:xfrm>
            <a:off x="4722876" y="2071116"/>
            <a:ext cx="384048" cy="384048"/>
          </a:xfrm>
          <a:prstGeom prst="rect">
            <a:avLst/>
          </a:prstGeom>
        </p:spPr>
      </p:pic>
      <p:sp>
        <p:nvSpPr>
          <p:cNvPr id="13" name="Text 292"/>
          <p:cNvSpPr/>
          <p:nvPr/>
        </p:nvSpPr>
        <p:spPr>
          <a:xfrm>
            <a:off x="5440680" y="199339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Pickup code</a:t>
            </a:r>
            <a:endParaRPr lang="en-US" sz="1700" dirty="0"/>
          </a:p>
        </p:txBody>
      </p:sp>
      <p:sp>
        <p:nvSpPr>
          <p:cNvPr id="14" name="Text 293"/>
          <p:cNvSpPr/>
          <p:nvPr/>
        </p:nvSpPr>
        <p:spPr>
          <a:xfrm>
            <a:off x="4572000" y="274320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The rider gets in only when the driver has entered their 4-digit code: never the wrong car</a:t>
            </a:r>
            <a:endParaRPr lang="en-US" sz="1300" dirty="0"/>
          </a:p>
        </p:txBody>
      </p:sp>
      <p:sp>
        <p:nvSpPr>
          <p:cNvPr id="15" name="Card 294"/>
          <p:cNvSpPr/>
          <p:nvPr/>
        </p:nvSpPr>
        <p:spPr>
          <a:xfrm>
            <a:off x="8046720" y="164592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16" name="Icon 295"/>
          <p:cNvSpPr/>
          <p:nvPr/>
        </p:nvSpPr>
        <p:spPr>
          <a:xfrm>
            <a:off x="8321040" y="1920240"/>
            <a:ext cx="685800" cy="685800"/>
          </a:xfrm>
          <a:prstGeom prst="ellipse">
            <a:avLst/>
          </a:prstGeom>
          <a:solidFill>
            <a:srgbClr val="0B7A75"/>
          </a:solidFill>
          <a:ln w="12700">
            <a:solidFill>
              <a:srgbClr val="0B7A75"/>
            </a:solidFill>
            <a:prstDash val="solid"/>
          </a:ln>
        </p:spPr>
      </p:sp>
      <p:pic>
        <p:nvPicPr>
          <p:cNvPr id="17" name="Icon 295 glyph" descr="preencoded.png">    </p:cNvPr>
          <p:cNvPicPr>
            <a:picLocks noChangeAspect="1"/>
          </p:cNvPicPr>
          <p:nvPr/>
        </p:nvPicPr>
        <p:blipFill>
          <a:blip r:embed="rId3"/>
          <a:stretch>
            <a:fillRect/>
          </a:stretch>
        </p:blipFill>
        <p:spPr>
          <a:xfrm>
            <a:off x="8471916" y="2071116"/>
            <a:ext cx="384048" cy="384048"/>
          </a:xfrm>
          <a:prstGeom prst="rect">
            <a:avLst/>
          </a:prstGeom>
        </p:spPr>
      </p:pic>
      <p:sp>
        <p:nvSpPr>
          <p:cNvPr id="18" name="Text 296"/>
          <p:cNvSpPr/>
          <p:nvPr/>
        </p:nvSpPr>
        <p:spPr>
          <a:xfrm>
            <a:off x="9189720" y="199339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Every phone traced</a:t>
            </a:r>
            <a:endParaRPr lang="en-US" sz="1700" dirty="0"/>
          </a:p>
        </p:txBody>
      </p:sp>
      <p:sp>
        <p:nvSpPr>
          <p:cNvPr id="19" name="Text 297"/>
          <p:cNvSpPr/>
          <p:nvPr/>
        </p:nvSpPr>
        <p:spPr>
          <a:xfrm>
            <a:off x="8321040" y="274320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The car and each rider during the ride, screen off too. Kept 30 days, or with any incident</a:t>
            </a:r>
            <a:endParaRPr lang="en-US" sz="1300" dirty="0"/>
          </a:p>
        </p:txBody>
      </p:sp>
      <p:sp>
        <p:nvSpPr>
          <p:cNvPr id="20" name="Card 298"/>
          <p:cNvSpPr/>
          <p:nvPr/>
        </p:nvSpPr>
        <p:spPr>
          <a:xfrm>
            <a:off x="548640" y="388620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21" name="Icon 299"/>
          <p:cNvSpPr/>
          <p:nvPr/>
        </p:nvSpPr>
        <p:spPr>
          <a:xfrm>
            <a:off x="822960" y="4160520"/>
            <a:ext cx="685800" cy="685800"/>
          </a:xfrm>
          <a:prstGeom prst="ellipse">
            <a:avLst/>
          </a:prstGeom>
          <a:solidFill>
            <a:srgbClr val="0B7A75"/>
          </a:solidFill>
          <a:ln w="12700">
            <a:solidFill>
              <a:srgbClr val="0B7A75"/>
            </a:solidFill>
            <a:prstDash val="solid"/>
          </a:ln>
        </p:spPr>
      </p:sp>
      <p:pic>
        <p:nvPicPr>
          <p:cNvPr id="22" name="Icon 299 glyph" descr="preencoded.png">    </p:cNvPr>
          <p:cNvPicPr>
            <a:picLocks noChangeAspect="1"/>
          </p:cNvPicPr>
          <p:nvPr/>
        </p:nvPicPr>
        <p:blipFill>
          <a:blip r:embed="rId4"/>
          <a:stretch>
            <a:fillRect/>
          </a:stretch>
        </p:blipFill>
        <p:spPr>
          <a:xfrm>
            <a:off x="973836" y="4311396"/>
            <a:ext cx="384048" cy="384048"/>
          </a:xfrm>
          <a:prstGeom prst="rect">
            <a:avLst/>
          </a:prstGeom>
        </p:spPr>
      </p:pic>
      <p:sp>
        <p:nvSpPr>
          <p:cNvPr id="23" name="Text 300"/>
          <p:cNvSpPr/>
          <p:nvPr/>
        </p:nvSpPr>
        <p:spPr>
          <a:xfrm>
            <a:off x="1691640" y="423367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Car trackers</a:t>
            </a:r>
            <a:endParaRPr lang="en-US" sz="1700" dirty="0"/>
          </a:p>
        </p:txBody>
      </p:sp>
      <p:sp>
        <p:nvSpPr>
          <p:cNvPr id="24" name="Text 301"/>
          <p:cNvSpPr/>
          <p:nvPr/>
        </p:nvSpPr>
        <p:spPr>
          <a:xfrm>
            <a:off x="822960" y="498348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A GPS tracker in the car keeps it traceable with every phone off; its panic button raises an SOS</a:t>
            </a:r>
            <a:endParaRPr lang="en-US" sz="1300" dirty="0"/>
          </a:p>
        </p:txBody>
      </p:sp>
      <p:sp>
        <p:nvSpPr>
          <p:cNvPr id="25" name="Card 302"/>
          <p:cNvSpPr/>
          <p:nvPr/>
        </p:nvSpPr>
        <p:spPr>
          <a:xfrm>
            <a:off x="4297680" y="388620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26" name="Icon 303"/>
          <p:cNvSpPr/>
          <p:nvPr/>
        </p:nvSpPr>
        <p:spPr>
          <a:xfrm>
            <a:off x="4572000" y="4160520"/>
            <a:ext cx="685800" cy="685800"/>
          </a:xfrm>
          <a:prstGeom prst="ellipse">
            <a:avLst/>
          </a:prstGeom>
          <a:solidFill>
            <a:srgbClr val="0B7A75"/>
          </a:solidFill>
          <a:ln w="12700">
            <a:solidFill>
              <a:srgbClr val="0B7A75"/>
            </a:solidFill>
            <a:prstDash val="solid"/>
          </a:ln>
        </p:spPr>
      </p:sp>
      <p:pic>
        <p:nvPicPr>
          <p:cNvPr id="27" name="Icon 303 glyph" descr="preencoded.png">    </p:cNvPr>
          <p:cNvPicPr>
            <a:picLocks noChangeAspect="1"/>
          </p:cNvPicPr>
          <p:nvPr/>
        </p:nvPicPr>
        <p:blipFill>
          <a:blip r:embed="rId5"/>
          <a:stretch>
            <a:fillRect/>
          </a:stretch>
        </p:blipFill>
        <p:spPr>
          <a:xfrm>
            <a:off x="4722876" y="4311396"/>
            <a:ext cx="384048" cy="384048"/>
          </a:xfrm>
          <a:prstGeom prst="rect">
            <a:avLst/>
          </a:prstGeom>
        </p:spPr>
      </p:pic>
      <p:sp>
        <p:nvSpPr>
          <p:cNvPr id="28" name="Text 304"/>
          <p:cNvSpPr/>
          <p:nvPr/>
        </p:nvSpPr>
        <p:spPr>
          <a:xfrm>
            <a:off x="5440680" y="423367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Women-only, verified</a:t>
            </a:r>
            <a:endParaRPr lang="en-US" sz="1700" dirty="0"/>
          </a:p>
        </p:txBody>
      </p:sp>
      <p:sp>
        <p:nvSpPr>
          <p:cNvPr id="29" name="Text 305"/>
          <p:cNvSpPr/>
          <p:nvPr/>
        </p:nvSpPr>
        <p:spPr>
          <a:xfrm>
            <a:off x="4572000" y="498348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Our team checks an ID and a selfie: only verified women post, find or book these rides</a:t>
            </a:r>
            <a:endParaRPr lang="en-US" sz="1300" dirty="0"/>
          </a:p>
        </p:txBody>
      </p:sp>
      <p:sp>
        <p:nvSpPr>
          <p:cNvPr id="30" name="Card 306"/>
          <p:cNvSpPr/>
          <p:nvPr/>
        </p:nvSpPr>
        <p:spPr>
          <a:xfrm>
            <a:off x="8046720" y="3886200"/>
            <a:ext cx="3520440" cy="2057400"/>
          </a:xfrm>
          <a:prstGeom prst="roundRect">
            <a:avLst>
              <a:gd name="adj" fmla="val 5333"/>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31" name="Icon 307"/>
          <p:cNvSpPr/>
          <p:nvPr/>
        </p:nvSpPr>
        <p:spPr>
          <a:xfrm>
            <a:off x="8321040" y="4160520"/>
            <a:ext cx="685800" cy="685800"/>
          </a:xfrm>
          <a:prstGeom prst="ellipse">
            <a:avLst/>
          </a:prstGeom>
          <a:solidFill>
            <a:srgbClr val="0B7A75"/>
          </a:solidFill>
          <a:ln w="12700">
            <a:solidFill>
              <a:srgbClr val="0B7A75"/>
            </a:solidFill>
            <a:prstDash val="solid"/>
          </a:ln>
        </p:spPr>
      </p:sp>
      <p:pic>
        <p:nvPicPr>
          <p:cNvPr id="32" name="Icon 307 glyph" descr="preencoded.png">    </p:cNvPr>
          <p:cNvPicPr>
            <a:picLocks noChangeAspect="1"/>
          </p:cNvPicPr>
          <p:nvPr/>
        </p:nvPicPr>
        <p:blipFill>
          <a:blip r:embed="rId6"/>
          <a:stretch>
            <a:fillRect/>
          </a:stretch>
        </p:blipFill>
        <p:spPr>
          <a:xfrm>
            <a:off x="8471916" y="4311396"/>
            <a:ext cx="384048" cy="384048"/>
          </a:xfrm>
          <a:prstGeom prst="rect">
            <a:avLst/>
          </a:prstGeom>
        </p:spPr>
      </p:pic>
      <p:sp>
        <p:nvSpPr>
          <p:cNvPr id="33" name="Text 308"/>
          <p:cNvSpPr/>
          <p:nvPr/>
        </p:nvSpPr>
        <p:spPr>
          <a:xfrm>
            <a:off x="9189720" y="4233672"/>
            <a:ext cx="2240280" cy="4572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Check-ins and alerts</a:t>
            </a:r>
            <a:endParaRPr lang="en-US" sz="1700" dirty="0"/>
          </a:p>
        </p:txBody>
      </p:sp>
      <p:sp>
        <p:nvSpPr>
          <p:cNvPr id="34" name="Text 309"/>
          <p:cNvSpPr/>
          <p:nvPr/>
        </p:nvSpPr>
        <p:spPr>
          <a:xfrm>
            <a:off x="8321040" y="4983480"/>
            <a:ext cx="3017520" cy="960120"/>
          </a:xfrm>
          <a:prstGeom prst="rect">
            <a:avLst/>
          </a:prstGeom>
          <a:noFill/>
          <a:ln/>
        </p:spPr>
        <p:txBody>
          <a:bodyPr wrap="square" lIns="0" tIns="0" rIns="0" bIns="0" rtlCol="0" anchor="t"/>
          <a:lstStyle/>
          <a:p>
            <a:pPr indent="0" marL="0">
              <a:buNone/>
            </a:pPr>
            <a:r>
              <a:rPr lang="en-US" sz="1300" dirty="0">
                <a:solidFill>
                  <a:srgbClr val="B9B4D9"/>
                </a:solidFill>
                <a:latin typeface="Calibri" pitchFamily="34" charset="0"/>
                <a:ea typeface="Calibri" pitchFamily="34" charset="-122"/>
                <a:cs typeface="Calibri" pitchFamily="34" charset="-120"/>
              </a:rPr>
              <a:t>"Are you OK?" every 30 min, route-deviation alerts, and a live trip link for family</a:t>
            </a:r>
            <a:endParaRPr lang="en-US" sz="1300" dirty="0"/>
          </a:p>
        </p:txBody>
      </p:sp>
      <p:pic>
        <p:nvPicPr>
          <p:cNvPr id="35" name="Mark 310" descr="/home/ghost/Desktop/Projects/Poolora/branding/poolora-icon.png">    </p:cNvPr>
          <p:cNvPicPr>
            <a:picLocks noChangeAspect="1"/>
          </p:cNvPicPr>
          <p:nvPr/>
        </p:nvPicPr>
        <p:blipFill>
          <a:blip r:embed="rId7"/>
          <a:stretch>
            <a:fillRect/>
          </a:stretch>
        </p:blipFill>
        <p:spPr>
          <a:xfrm>
            <a:off x="11368735" y="6355080"/>
            <a:ext cx="310896" cy="310896"/>
          </a:xfrm>
          <a:prstGeom prst="rect">
            <a:avLst/>
          </a:prstGeom>
        </p:spPr>
      </p:pic>
      <p:sp>
        <p:nvSpPr>
          <p:cNvPr id="36" name="Text 26"/>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17</a:t>
            </a:r>
            <a:endParaRPr lang="en-US" sz="1100" dirty="0"/>
          </a:p>
        </p:txBody>
      </p:sp>
      <p:sp>
        <p:nvSpPr>
          <p:cNvPr id="37" name="Text 27"/>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3" fill="hold">
                      <p:stCondLst>
                        <p:cond delay="indefinite"/>
                        <p:cond evt="onBegin" delay="0">
                          <p:tn val="2"/>
                        </p:cond>
                      </p:stCondLst>
                      <p:childTnLst>
                        <p:par>
                          <p:cTn id="15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2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12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12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12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12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24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24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24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24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24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36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36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p:tgtEl>
                                          <p:spTgt spid="21"/>
                                        </p:tgtEl>
                                        <p:attrNameLst>
                                          <p:attrName>ppt_x</p:attrName>
                                        </p:attrNameLst>
                                      </p:cBhvr>
                                      <p:tavLst>
                                        <p:tav tm="0">
                                          <p:val>
                                            <p:strVal val="#ppt_x"/>
                                          </p:val>
                                        </p:tav>
                                        <p:tav tm="100000">
                                          <p:val>
                                            <p:strVal val="#ppt_x"/>
                                          </p:val>
                                        </p:tav>
                                      </p:tavLst>
                                    </p:anim>
                                    <p:anim calcmode="lin" valueType="num">
                                      <p:cBhvr additive="base">
                                        <p:cTn id="87" dur="500" fill="hold"/>
                                        <p:tgtEl>
                                          <p:spTgt spid="2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36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36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additive="base">
                                        <p:cTn id="96" dur="500" fill="hold"/>
                                        <p:tgtEl>
                                          <p:spTgt spid="23"/>
                                        </p:tgtEl>
                                        <p:attrNameLst>
                                          <p:attrName>ppt_x</p:attrName>
                                        </p:attrNameLst>
                                      </p:cBhvr>
                                      <p:tavLst>
                                        <p:tav tm="0">
                                          <p:val>
                                            <p:strVal val="#ppt_x"/>
                                          </p:val>
                                        </p:tav>
                                        <p:tav tm="100000">
                                          <p:val>
                                            <p:strVal val="#ppt_x"/>
                                          </p:val>
                                        </p:tav>
                                      </p:tavLst>
                                    </p:anim>
                                    <p:anim calcmode="lin" valueType="num">
                                      <p:cBhvr additive="base">
                                        <p:cTn id="97" dur="5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36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additive="base">
                                        <p:cTn id="101" dur="500" fill="hold"/>
                                        <p:tgtEl>
                                          <p:spTgt spid="24"/>
                                        </p:tgtEl>
                                        <p:attrNameLst>
                                          <p:attrName>ppt_x</p:attrName>
                                        </p:attrNameLst>
                                      </p:cBhvr>
                                      <p:tavLst>
                                        <p:tav tm="0">
                                          <p:val>
                                            <p:strVal val="#ppt_x"/>
                                          </p:val>
                                        </p:tav>
                                        <p:tav tm="100000">
                                          <p:val>
                                            <p:strVal val="#ppt_x"/>
                                          </p:val>
                                        </p:tav>
                                      </p:tavLst>
                                    </p:anim>
                                    <p:anim calcmode="lin" valueType="num">
                                      <p:cBhvr additive="base">
                                        <p:cTn id="102" dur="5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48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additive="base">
                                        <p:cTn id="106" dur="500" fill="hold"/>
                                        <p:tgtEl>
                                          <p:spTgt spid="25"/>
                                        </p:tgtEl>
                                        <p:attrNameLst>
                                          <p:attrName>ppt_x</p:attrName>
                                        </p:attrNameLst>
                                      </p:cBhvr>
                                      <p:tavLst>
                                        <p:tav tm="0">
                                          <p:val>
                                            <p:strVal val="#ppt_x"/>
                                          </p:val>
                                        </p:tav>
                                        <p:tav tm="100000">
                                          <p:val>
                                            <p:strVal val="#ppt_x"/>
                                          </p:val>
                                        </p:tav>
                                      </p:tavLst>
                                    </p:anim>
                                    <p:anim calcmode="lin" valueType="num">
                                      <p:cBhvr additive="base">
                                        <p:cTn id="107" dur="5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48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additive="base">
                                        <p:cTn id="111" dur="500" fill="hold"/>
                                        <p:tgtEl>
                                          <p:spTgt spid="26"/>
                                        </p:tgtEl>
                                        <p:attrNameLst>
                                          <p:attrName>ppt_x</p:attrName>
                                        </p:attrNameLst>
                                      </p:cBhvr>
                                      <p:tavLst>
                                        <p:tav tm="0">
                                          <p:val>
                                            <p:strVal val="#ppt_x"/>
                                          </p:val>
                                        </p:tav>
                                        <p:tav tm="100000">
                                          <p:val>
                                            <p:strVal val="#ppt_x"/>
                                          </p:val>
                                        </p:tav>
                                      </p:tavLst>
                                    </p:anim>
                                    <p:anim calcmode="lin" valueType="num">
                                      <p:cBhvr additive="base">
                                        <p:cTn id="112" dur="5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48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additive="base">
                                        <p:cTn id="116" dur="500" fill="hold"/>
                                        <p:tgtEl>
                                          <p:spTgt spid="27"/>
                                        </p:tgtEl>
                                        <p:attrNameLst>
                                          <p:attrName>ppt_x</p:attrName>
                                        </p:attrNameLst>
                                      </p:cBhvr>
                                      <p:tavLst>
                                        <p:tav tm="0">
                                          <p:val>
                                            <p:strVal val="#ppt_x"/>
                                          </p:val>
                                        </p:tav>
                                        <p:tav tm="100000">
                                          <p:val>
                                            <p:strVal val="#ppt_x"/>
                                          </p:val>
                                        </p:tav>
                                      </p:tavLst>
                                    </p:anim>
                                    <p:anim calcmode="lin" valueType="num">
                                      <p:cBhvr additive="base">
                                        <p:cTn id="117" dur="500" fill="hold"/>
                                        <p:tgtEl>
                                          <p:spTgt spid="2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48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additive="base">
                                        <p:cTn id="121" dur="500" fill="hold"/>
                                        <p:tgtEl>
                                          <p:spTgt spid="28"/>
                                        </p:tgtEl>
                                        <p:attrNameLst>
                                          <p:attrName>ppt_x</p:attrName>
                                        </p:attrNameLst>
                                      </p:cBhvr>
                                      <p:tavLst>
                                        <p:tav tm="0">
                                          <p:val>
                                            <p:strVal val="#ppt_x"/>
                                          </p:val>
                                        </p:tav>
                                        <p:tav tm="100000">
                                          <p:val>
                                            <p:strVal val="#ppt_x"/>
                                          </p:val>
                                        </p:tav>
                                      </p:tavLst>
                                    </p:anim>
                                    <p:anim calcmode="lin" valueType="num">
                                      <p:cBhvr additive="base">
                                        <p:cTn id="122" dur="500" fill="hold"/>
                                        <p:tgtEl>
                                          <p:spTgt spid="28"/>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48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additive="base">
                                        <p:cTn id="126" dur="500" fill="hold"/>
                                        <p:tgtEl>
                                          <p:spTgt spid="29"/>
                                        </p:tgtEl>
                                        <p:attrNameLst>
                                          <p:attrName>ppt_x</p:attrName>
                                        </p:attrNameLst>
                                      </p:cBhvr>
                                      <p:tavLst>
                                        <p:tav tm="0">
                                          <p:val>
                                            <p:strVal val="#ppt_x"/>
                                          </p:val>
                                        </p:tav>
                                        <p:tav tm="100000">
                                          <p:val>
                                            <p:strVal val="#ppt_x"/>
                                          </p:val>
                                        </p:tav>
                                      </p:tavLst>
                                    </p:anim>
                                    <p:anim calcmode="lin" valueType="num">
                                      <p:cBhvr additive="base">
                                        <p:cTn id="127" dur="500" fill="hold"/>
                                        <p:tgtEl>
                                          <p:spTgt spid="29"/>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60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00"/>
                                        <p:tgtEl>
                                          <p:spTgt spid="30"/>
                                        </p:tgtEl>
                                      </p:cBhvr>
                                    </p:animEffect>
                                    <p:anim calcmode="lin" valueType="num">
                                      <p:cBhvr additive="base">
                                        <p:cTn id="131" dur="500" fill="hold"/>
                                        <p:tgtEl>
                                          <p:spTgt spid="30"/>
                                        </p:tgtEl>
                                        <p:attrNameLst>
                                          <p:attrName>ppt_x</p:attrName>
                                        </p:attrNameLst>
                                      </p:cBhvr>
                                      <p:tavLst>
                                        <p:tav tm="0">
                                          <p:val>
                                            <p:strVal val="#ppt_x"/>
                                          </p:val>
                                        </p:tav>
                                        <p:tav tm="100000">
                                          <p:val>
                                            <p:strVal val="#ppt_x"/>
                                          </p:val>
                                        </p:tav>
                                      </p:tavLst>
                                    </p:anim>
                                    <p:anim calcmode="lin" valueType="num">
                                      <p:cBhvr additive="base">
                                        <p:cTn id="132" dur="500" fill="hold"/>
                                        <p:tgtEl>
                                          <p:spTgt spid="30"/>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600"/>
                                  </p:stCondLst>
                                  <p:childTnLst>
                                    <p:set>
                                      <p:cBhvr>
                                        <p:cTn id="134" dur="1" fill="hold">
                                          <p:stCondLst>
                                            <p:cond delay="0"/>
                                          </p:stCondLst>
                                        </p:cTn>
                                        <p:tgtEl>
                                          <p:spTgt spid="31"/>
                                        </p:tgtEl>
                                        <p:attrNameLst>
                                          <p:attrName>style.visibility</p:attrName>
                                        </p:attrNameLst>
                                      </p:cBhvr>
                                      <p:to>
                                        <p:strVal val="visible"/>
                                      </p:to>
                                    </p:set>
                                    <p:animEffect transition="in" filter="fade">
                                      <p:cBhvr>
                                        <p:cTn id="135" dur="500"/>
                                        <p:tgtEl>
                                          <p:spTgt spid="31"/>
                                        </p:tgtEl>
                                      </p:cBhvr>
                                    </p:animEffect>
                                    <p:anim calcmode="lin" valueType="num">
                                      <p:cBhvr additive="base">
                                        <p:cTn id="136" dur="500" fill="hold"/>
                                        <p:tgtEl>
                                          <p:spTgt spid="31"/>
                                        </p:tgtEl>
                                        <p:attrNameLst>
                                          <p:attrName>ppt_x</p:attrName>
                                        </p:attrNameLst>
                                      </p:cBhvr>
                                      <p:tavLst>
                                        <p:tav tm="0">
                                          <p:val>
                                            <p:strVal val="#ppt_x"/>
                                          </p:val>
                                        </p:tav>
                                        <p:tav tm="100000">
                                          <p:val>
                                            <p:strVal val="#ppt_x"/>
                                          </p:val>
                                        </p:tav>
                                      </p:tavLst>
                                    </p:anim>
                                    <p:anim calcmode="lin" valueType="num">
                                      <p:cBhvr additive="base">
                                        <p:cTn id="137" dur="500" fill="hold"/>
                                        <p:tgtEl>
                                          <p:spTgt spid="31"/>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60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anim calcmode="lin" valueType="num">
                                      <p:cBhvr additive="base">
                                        <p:cTn id="141" dur="500" fill="hold"/>
                                        <p:tgtEl>
                                          <p:spTgt spid="32"/>
                                        </p:tgtEl>
                                        <p:attrNameLst>
                                          <p:attrName>ppt_x</p:attrName>
                                        </p:attrNameLst>
                                      </p:cBhvr>
                                      <p:tavLst>
                                        <p:tav tm="0">
                                          <p:val>
                                            <p:strVal val="#ppt_x"/>
                                          </p:val>
                                        </p:tav>
                                        <p:tav tm="100000">
                                          <p:val>
                                            <p:strVal val="#ppt_x"/>
                                          </p:val>
                                        </p:tav>
                                      </p:tavLst>
                                    </p:anim>
                                    <p:anim calcmode="lin" valueType="num">
                                      <p:cBhvr additive="base">
                                        <p:cTn id="142" dur="500" fill="hold"/>
                                        <p:tgtEl>
                                          <p:spTgt spid="32"/>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60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500"/>
                                        <p:tgtEl>
                                          <p:spTgt spid="33"/>
                                        </p:tgtEl>
                                      </p:cBhvr>
                                    </p:animEffect>
                                    <p:anim calcmode="lin" valueType="num">
                                      <p:cBhvr additive="base">
                                        <p:cTn id="146" dur="500" fill="hold"/>
                                        <p:tgtEl>
                                          <p:spTgt spid="33"/>
                                        </p:tgtEl>
                                        <p:attrNameLst>
                                          <p:attrName>ppt_x</p:attrName>
                                        </p:attrNameLst>
                                      </p:cBhvr>
                                      <p:tavLst>
                                        <p:tav tm="0">
                                          <p:val>
                                            <p:strVal val="#ppt_x"/>
                                          </p:val>
                                        </p:tav>
                                        <p:tav tm="100000">
                                          <p:val>
                                            <p:strVal val="#ppt_x"/>
                                          </p:val>
                                        </p:tav>
                                      </p:tavLst>
                                    </p:anim>
                                    <p:anim calcmode="lin" valueType="num">
                                      <p:cBhvr additive="base">
                                        <p:cTn id="147" dur="500" fill="hold"/>
                                        <p:tgtEl>
                                          <p:spTgt spid="33"/>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600"/>
                                  </p:stCondLst>
                                  <p:childTnLst>
                                    <p:set>
                                      <p:cBhvr>
                                        <p:cTn id="149" dur="1" fill="hold">
                                          <p:stCondLst>
                                            <p:cond delay="0"/>
                                          </p:stCondLst>
                                        </p:cTn>
                                        <p:tgtEl>
                                          <p:spTgt spid="34"/>
                                        </p:tgtEl>
                                        <p:attrNameLst>
                                          <p:attrName>style.visibility</p:attrName>
                                        </p:attrNameLst>
                                      </p:cBhvr>
                                      <p:to>
                                        <p:strVal val="visible"/>
                                      </p:to>
                                    </p:set>
                                    <p:animEffect transition="in" filter="fade">
                                      <p:cBhvr>
                                        <p:cTn id="150" dur="500"/>
                                        <p:tgtEl>
                                          <p:spTgt spid="34"/>
                                        </p:tgtEl>
                                      </p:cBhvr>
                                    </p:animEffect>
                                    <p:anim calcmode="lin" valueType="num">
                                      <p:cBhvr additive="base">
                                        <p:cTn id="151" dur="500" fill="hold"/>
                                        <p:tgtEl>
                                          <p:spTgt spid="34"/>
                                        </p:tgtEl>
                                        <p:attrNameLst>
                                          <p:attrName>ppt_x</p:attrName>
                                        </p:attrNameLst>
                                      </p:cBhvr>
                                      <p:tavLst>
                                        <p:tav tm="0">
                                          <p:val>
                                            <p:strVal val="#ppt_x"/>
                                          </p:val>
                                        </p:tav>
                                        <p:tav tm="100000">
                                          <p:val>
                                            <p:strVal val="#ppt_x"/>
                                          </p:val>
                                        </p:tav>
                                      </p:tavLst>
                                    </p:anim>
                                    <p:anim calcmode="lin" valueType="num">
                                      <p:cBhvr additive="base">
                                        <p:cTn id="152"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446"/>
        </a:solidFill>
      </p:bgPr>
    </p:bg>
    <p:spTree>
      <p:nvGrpSpPr>
        <p:cNvPr id="1" name=""/>
        <p:cNvGrpSpPr/>
        <p:nvPr/>
      </p:nvGrpSpPr>
      <p:grpSpPr>
        <a:xfrm>
          <a:off x="0" y="0"/>
          <a:ext cx="0" cy="0"/>
          <a:chOff x="0" y="0"/>
          <a:chExt cx="0" cy="0"/>
        </a:xfrm>
      </p:grpSpPr>
      <p:sp>
        <p:nvSpPr>
          <p:cNvPr id="3" name="Title 311"/>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When an SOS is raised</a:t>
            </a:r>
            <a:endParaRPr lang="en-US" sz="3000" dirty="0"/>
          </a:p>
        </p:txBody>
      </p:sp>
      <p:sp>
        <p:nvSpPr>
          <p:cNvPr id="4" name="Subtitle 312"/>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B9B4D9"/>
                </a:solidFill>
                <a:latin typeface="Calibri" pitchFamily="34" charset="0"/>
                <a:ea typeface="Calibri" pitchFamily="34" charset="-122"/>
                <a:cs typeface="Calibri" pitchFamily="34" charset="-120"/>
              </a:rPr>
              <a:t>Rider or driver, second by second, and even when a phone is switched off.</a:t>
            </a:r>
            <a:endParaRPr lang="en-US" sz="1600" dirty="0"/>
          </a:p>
        </p:txBody>
      </p:sp>
      <p:sp>
        <p:nvSpPr>
          <p:cNvPr id="5" name="Icon 313"/>
          <p:cNvSpPr/>
          <p:nvPr/>
        </p:nvSpPr>
        <p:spPr>
          <a:xfrm>
            <a:off x="1261872" y="1691640"/>
            <a:ext cx="640080" cy="640080"/>
          </a:xfrm>
          <a:prstGeom prst="ellipse">
            <a:avLst/>
          </a:prstGeom>
          <a:solidFill>
            <a:srgbClr val="D9468F"/>
          </a:solidFill>
          <a:ln w="12700">
            <a:solidFill>
              <a:srgbClr val="D9468F"/>
            </a:solidFill>
            <a:prstDash val="solid"/>
          </a:ln>
        </p:spPr>
      </p:sp>
      <p:pic>
        <p:nvPicPr>
          <p:cNvPr id="6" name="Icon 313 glyph" descr="preencoded.png">    </p:cNvPr>
          <p:cNvPicPr>
            <a:picLocks noChangeAspect="1"/>
          </p:cNvPicPr>
          <p:nvPr/>
        </p:nvPicPr>
        <p:blipFill>
          <a:blip r:embed="rId1"/>
          <a:stretch>
            <a:fillRect/>
          </a:stretch>
        </p:blipFill>
        <p:spPr>
          <a:xfrm>
            <a:off x="1402690" y="1832458"/>
            <a:ext cx="358445" cy="358445"/>
          </a:xfrm>
          <a:prstGeom prst="rect">
            <a:avLst/>
          </a:prstGeom>
        </p:spPr>
      </p:pic>
      <p:sp>
        <p:nvSpPr>
          <p:cNvPr id="7" name="Text 314"/>
          <p:cNvSpPr/>
          <p:nvPr/>
        </p:nvSpPr>
        <p:spPr>
          <a:xfrm>
            <a:off x="548640" y="2423160"/>
            <a:ext cx="20574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0 s</a:t>
            </a:r>
            <a:endParaRPr lang="en-US" sz="2000" dirty="0"/>
          </a:p>
        </p:txBody>
      </p:sp>
      <p:sp>
        <p:nvSpPr>
          <p:cNvPr id="8" name="Text 315"/>
          <p:cNvSpPr/>
          <p:nvPr/>
        </p:nvSpPr>
        <p:spPr>
          <a:xfrm>
            <a:off x="548640" y="2852928"/>
            <a:ext cx="2057400" cy="1097280"/>
          </a:xfrm>
          <a:prstGeom prst="rect">
            <a:avLst/>
          </a:prstGeom>
          <a:noFill/>
          <a:ln/>
        </p:spPr>
        <p:txBody>
          <a:bodyPr wrap="square" lIns="0" tIns="0" rIns="0" bIns="0" rtlCol="0" anchor="t"/>
          <a:lstStyle/>
          <a:p>
            <a:pPr algn="ctr" indent="0" marL="0">
              <a:buNone/>
            </a:pPr>
            <a:r>
              <a:rPr lang="en-US" sz="1250" dirty="0">
                <a:solidFill>
                  <a:srgbClr val="B9B4D9"/>
                </a:solidFill>
                <a:latin typeface="Calibri" pitchFamily="34" charset="0"/>
                <a:ea typeface="Calibri" pitchFamily="34" charset="-122"/>
                <a:cs typeface="Calibri" pitchFamily="34" charset="-120"/>
              </a:rPr>
              <a:t>Hold 3 s. The safety desk is paged by push and SMS and sees it live</a:t>
            </a:r>
            <a:endParaRPr lang="en-US" sz="1250" dirty="0"/>
          </a:p>
        </p:txBody>
      </p:sp>
      <p:sp>
        <p:nvSpPr>
          <p:cNvPr id="9" name="Icon 316"/>
          <p:cNvSpPr/>
          <p:nvPr/>
        </p:nvSpPr>
        <p:spPr>
          <a:xfrm>
            <a:off x="3520440" y="1691640"/>
            <a:ext cx="640080" cy="640080"/>
          </a:xfrm>
          <a:prstGeom prst="ellipse">
            <a:avLst/>
          </a:prstGeom>
          <a:solidFill>
            <a:srgbClr val="0B7A75"/>
          </a:solidFill>
          <a:ln w="12700">
            <a:solidFill>
              <a:srgbClr val="0B7A75"/>
            </a:solidFill>
            <a:prstDash val="solid"/>
          </a:ln>
        </p:spPr>
      </p:sp>
      <p:pic>
        <p:nvPicPr>
          <p:cNvPr id="10" name="Icon 316 glyph" descr="preencoded.png">    </p:cNvPr>
          <p:cNvPicPr>
            <a:picLocks noChangeAspect="1"/>
          </p:cNvPicPr>
          <p:nvPr/>
        </p:nvPicPr>
        <p:blipFill>
          <a:blip r:embed="rId2"/>
          <a:stretch>
            <a:fillRect/>
          </a:stretch>
        </p:blipFill>
        <p:spPr>
          <a:xfrm>
            <a:off x="3661258" y="1832458"/>
            <a:ext cx="358445" cy="358445"/>
          </a:xfrm>
          <a:prstGeom prst="rect">
            <a:avLst/>
          </a:prstGeom>
        </p:spPr>
      </p:pic>
      <p:sp>
        <p:nvSpPr>
          <p:cNvPr id="11" name="Text 317"/>
          <p:cNvSpPr/>
          <p:nvPr/>
        </p:nvSpPr>
        <p:spPr>
          <a:xfrm>
            <a:off x="2807208" y="2423160"/>
            <a:ext cx="20574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10 s</a:t>
            </a:r>
            <a:endParaRPr lang="en-US" sz="2000" dirty="0"/>
          </a:p>
        </p:txBody>
      </p:sp>
      <p:sp>
        <p:nvSpPr>
          <p:cNvPr id="12" name="Text 318"/>
          <p:cNvSpPr/>
          <p:nvPr/>
        </p:nvSpPr>
        <p:spPr>
          <a:xfrm>
            <a:off x="2807208" y="2852928"/>
            <a:ext cx="2057400" cy="1097280"/>
          </a:xfrm>
          <a:prstGeom prst="rect">
            <a:avLst/>
          </a:prstGeom>
          <a:noFill/>
          <a:ln/>
        </p:spPr>
        <p:txBody>
          <a:bodyPr wrap="square" lIns="0" tIns="0" rIns="0" bIns="0" rtlCol="0" anchor="t"/>
          <a:lstStyle/>
          <a:p>
            <a:pPr algn="ctr" indent="0" marL="0">
              <a:buNone/>
            </a:pPr>
            <a:r>
              <a:rPr lang="en-US" sz="1250" dirty="0">
                <a:solidFill>
                  <a:srgbClr val="B9B4D9"/>
                </a:solidFill>
                <a:latin typeface="Calibri" pitchFamily="34" charset="0"/>
                <a:ea typeface="Calibri" pitchFamily="34" charset="-122"/>
                <a:cs typeface="Calibri" pitchFamily="34" charset="-120"/>
              </a:rPr>
              <a:t>Family get a link: where they are, the car and its plate. Cancel before then if pressed by mistake</a:t>
            </a:r>
            <a:endParaRPr lang="en-US" sz="1250" dirty="0"/>
          </a:p>
        </p:txBody>
      </p:sp>
      <p:sp>
        <p:nvSpPr>
          <p:cNvPr id="13" name="Icon 319"/>
          <p:cNvSpPr/>
          <p:nvPr/>
        </p:nvSpPr>
        <p:spPr>
          <a:xfrm>
            <a:off x="5779008" y="1691640"/>
            <a:ext cx="640080" cy="640080"/>
          </a:xfrm>
          <a:prstGeom prst="ellipse">
            <a:avLst/>
          </a:prstGeom>
          <a:solidFill>
            <a:srgbClr val="0B7A75"/>
          </a:solidFill>
          <a:ln w="12700">
            <a:solidFill>
              <a:srgbClr val="0B7A75"/>
            </a:solidFill>
            <a:prstDash val="solid"/>
          </a:ln>
        </p:spPr>
      </p:sp>
      <p:pic>
        <p:nvPicPr>
          <p:cNvPr id="14" name="Icon 319 glyph" descr="preencoded.png">    </p:cNvPr>
          <p:cNvPicPr>
            <a:picLocks noChangeAspect="1"/>
          </p:cNvPicPr>
          <p:nvPr/>
        </p:nvPicPr>
        <p:blipFill>
          <a:blip r:embed="rId3"/>
          <a:stretch>
            <a:fillRect/>
          </a:stretch>
        </p:blipFill>
        <p:spPr>
          <a:xfrm>
            <a:off x="5919826" y="1832458"/>
            <a:ext cx="358445" cy="358445"/>
          </a:xfrm>
          <a:prstGeom prst="rect">
            <a:avLst/>
          </a:prstGeom>
        </p:spPr>
      </p:pic>
      <p:sp>
        <p:nvSpPr>
          <p:cNvPr id="15" name="Text 320"/>
          <p:cNvSpPr/>
          <p:nvPr/>
        </p:nvSpPr>
        <p:spPr>
          <a:xfrm>
            <a:off x="5065776" y="2423160"/>
            <a:ext cx="20574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Every 5 s</a:t>
            </a:r>
            <a:endParaRPr lang="en-US" sz="2000" dirty="0"/>
          </a:p>
        </p:txBody>
      </p:sp>
      <p:sp>
        <p:nvSpPr>
          <p:cNvPr id="16" name="Text 321"/>
          <p:cNvSpPr/>
          <p:nvPr/>
        </p:nvSpPr>
        <p:spPr>
          <a:xfrm>
            <a:off x="5065776" y="2852928"/>
            <a:ext cx="2057400" cy="1097280"/>
          </a:xfrm>
          <a:prstGeom prst="rect">
            <a:avLst/>
          </a:prstGeom>
          <a:noFill/>
          <a:ln/>
        </p:spPr>
        <p:txBody>
          <a:bodyPr wrap="square" lIns="0" tIns="0" rIns="0" bIns="0" rtlCol="0" anchor="t"/>
          <a:lstStyle/>
          <a:p>
            <a:pPr algn="ctr" indent="0" marL="0">
              <a:buNone/>
            </a:pPr>
            <a:r>
              <a:rPr lang="en-US" sz="1250" dirty="0">
                <a:solidFill>
                  <a:srgbClr val="B9B4D9"/>
                </a:solidFill>
                <a:latin typeface="Calibri" pitchFamily="34" charset="0"/>
                <a:ea typeface="Calibri" pitchFamily="34" charset="-122"/>
                <a:cs typeface="Calibri" pitchFamily="34" charset="-120"/>
              </a:rPr>
              <a:t>Every phone on the ride and the car's own tracker report, screen off too</a:t>
            </a:r>
            <a:endParaRPr lang="en-US" sz="1250" dirty="0"/>
          </a:p>
        </p:txBody>
      </p:sp>
      <p:sp>
        <p:nvSpPr>
          <p:cNvPr id="17" name="Icon 322"/>
          <p:cNvSpPr/>
          <p:nvPr/>
        </p:nvSpPr>
        <p:spPr>
          <a:xfrm>
            <a:off x="8037576" y="1691640"/>
            <a:ext cx="640080" cy="640080"/>
          </a:xfrm>
          <a:prstGeom prst="ellipse">
            <a:avLst/>
          </a:prstGeom>
          <a:solidFill>
            <a:srgbClr val="0B7A75"/>
          </a:solidFill>
          <a:ln w="12700">
            <a:solidFill>
              <a:srgbClr val="0B7A75"/>
            </a:solidFill>
            <a:prstDash val="solid"/>
          </a:ln>
        </p:spPr>
      </p:sp>
      <p:pic>
        <p:nvPicPr>
          <p:cNvPr id="18" name="Icon 322 glyph" descr="preencoded.png">    </p:cNvPr>
          <p:cNvPicPr>
            <a:picLocks noChangeAspect="1"/>
          </p:cNvPicPr>
          <p:nvPr/>
        </p:nvPicPr>
        <p:blipFill>
          <a:blip r:embed="rId4"/>
          <a:stretch>
            <a:fillRect/>
          </a:stretch>
        </p:blipFill>
        <p:spPr>
          <a:xfrm>
            <a:off x="8178394" y="1832458"/>
            <a:ext cx="358445" cy="358445"/>
          </a:xfrm>
          <a:prstGeom prst="rect">
            <a:avLst/>
          </a:prstGeom>
        </p:spPr>
      </p:pic>
      <p:sp>
        <p:nvSpPr>
          <p:cNvPr id="19" name="Text 323"/>
          <p:cNvSpPr/>
          <p:nvPr/>
        </p:nvSpPr>
        <p:spPr>
          <a:xfrm>
            <a:off x="7324344" y="2423160"/>
            <a:ext cx="20574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Phone off?</a:t>
            </a:r>
            <a:endParaRPr lang="en-US" sz="2000" dirty="0"/>
          </a:p>
        </p:txBody>
      </p:sp>
      <p:sp>
        <p:nvSpPr>
          <p:cNvPr id="20" name="Text 324"/>
          <p:cNvSpPr/>
          <p:nvPr/>
        </p:nvSpPr>
        <p:spPr>
          <a:xfrm>
            <a:off x="7324344" y="2852928"/>
            <a:ext cx="2057400" cy="1097280"/>
          </a:xfrm>
          <a:prstGeom prst="rect">
            <a:avLst/>
          </a:prstGeom>
          <a:noFill/>
          <a:ln/>
        </p:spPr>
        <p:txBody>
          <a:bodyPr wrap="square" lIns="0" tIns="0" rIns="0" bIns="0" rtlCol="0" anchor="t"/>
          <a:lstStyle/>
          <a:p>
            <a:pPr algn="ctr" indent="0" marL="0">
              <a:buNone/>
            </a:pPr>
            <a:r>
              <a:rPr lang="en-US" sz="1250" dirty="0">
                <a:solidFill>
                  <a:srgbClr val="B9B4D9"/>
                </a:solidFill>
                <a:latin typeface="Calibri" pitchFamily="34" charset="0"/>
                <a:ea typeface="Calibri" pitchFamily="34" charset="-122"/>
                <a:cs typeface="Calibri" pitchFamily="34" charset="-120"/>
              </a:rPr>
              <a:t>Its battery says why: ran out, or switched off. The car and other phones still report</a:t>
            </a:r>
            <a:endParaRPr lang="en-US" sz="1250" dirty="0"/>
          </a:p>
        </p:txBody>
      </p:sp>
      <p:sp>
        <p:nvSpPr>
          <p:cNvPr id="21" name="Icon 325"/>
          <p:cNvSpPr/>
          <p:nvPr/>
        </p:nvSpPr>
        <p:spPr>
          <a:xfrm>
            <a:off x="10296144" y="1691640"/>
            <a:ext cx="640080" cy="640080"/>
          </a:xfrm>
          <a:prstGeom prst="ellipse">
            <a:avLst/>
          </a:prstGeom>
          <a:solidFill>
            <a:srgbClr val="0B7A75"/>
          </a:solidFill>
          <a:ln w="12700">
            <a:solidFill>
              <a:srgbClr val="0B7A75"/>
            </a:solidFill>
            <a:prstDash val="solid"/>
          </a:ln>
        </p:spPr>
      </p:sp>
      <p:pic>
        <p:nvPicPr>
          <p:cNvPr id="22" name="Icon 325 glyph" descr="preencoded.png">    </p:cNvPr>
          <p:cNvPicPr>
            <a:picLocks noChangeAspect="1"/>
          </p:cNvPicPr>
          <p:nvPr/>
        </p:nvPicPr>
        <p:blipFill>
          <a:blip r:embed="rId5"/>
          <a:stretch>
            <a:fillRect/>
          </a:stretch>
        </p:blipFill>
        <p:spPr>
          <a:xfrm>
            <a:off x="10436962" y="1832458"/>
            <a:ext cx="358445" cy="358445"/>
          </a:xfrm>
          <a:prstGeom prst="rect">
            <a:avLst/>
          </a:prstGeom>
        </p:spPr>
      </p:pic>
      <p:sp>
        <p:nvSpPr>
          <p:cNvPr id="23" name="Text 326"/>
          <p:cNvSpPr/>
          <p:nvPr/>
        </p:nvSpPr>
        <p:spPr>
          <a:xfrm>
            <a:off x="9582912" y="2423160"/>
            <a:ext cx="205740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5 min</a:t>
            </a:r>
            <a:endParaRPr lang="en-US" sz="2000" dirty="0"/>
          </a:p>
        </p:txBody>
      </p:sp>
      <p:sp>
        <p:nvSpPr>
          <p:cNvPr id="24" name="Text 327"/>
          <p:cNvSpPr/>
          <p:nvPr/>
        </p:nvSpPr>
        <p:spPr>
          <a:xfrm>
            <a:off x="9582912" y="2852928"/>
            <a:ext cx="2057400" cy="1097280"/>
          </a:xfrm>
          <a:prstGeom prst="rect">
            <a:avLst/>
          </a:prstGeom>
          <a:noFill/>
          <a:ln/>
        </p:spPr>
        <p:txBody>
          <a:bodyPr wrap="square" lIns="0" tIns="0" rIns="0" bIns="0" rtlCol="0" anchor="t"/>
          <a:lstStyle/>
          <a:p>
            <a:pPr algn="ctr" indent="0" marL="0">
              <a:buNone/>
            </a:pPr>
            <a:r>
              <a:rPr lang="en-US" sz="1250" dirty="0">
                <a:solidFill>
                  <a:srgbClr val="B9B4D9"/>
                </a:solidFill>
                <a:latin typeface="Calibri" pitchFamily="34" charset="0"/>
                <a:ea typeface="Calibri" pitchFamily="34" charset="-122"/>
                <a:cs typeface="Calibri" pitchFamily="34" charset="-120"/>
              </a:rPr>
              <a:t>Nobody has taken it? Every admin is paged again until someone does</a:t>
            </a:r>
            <a:endParaRPr lang="en-US" sz="1250" dirty="0"/>
          </a:p>
        </p:txBody>
      </p:sp>
      <p:sp>
        <p:nvSpPr>
          <p:cNvPr id="25" name="Card 328"/>
          <p:cNvSpPr/>
          <p:nvPr/>
        </p:nvSpPr>
        <p:spPr>
          <a:xfrm>
            <a:off x="548640" y="4160520"/>
            <a:ext cx="11094415" cy="1874520"/>
          </a:xfrm>
          <a:prstGeom prst="roundRect">
            <a:avLst>
              <a:gd name="adj" fmla="val 5854"/>
            </a:avLst>
          </a:prstGeom>
          <a:solidFill>
            <a:srgbClr val="251D62"/>
          </a:solidFill>
          <a:ln w="9525">
            <a:solidFill>
              <a:srgbClr val="3A3182"/>
            </a:solidFill>
            <a:prstDash val="solid"/>
          </a:ln>
          <a:effectLst>
            <a:outerShdw sx="100000" sy="100000" kx="0" ky="0" algn="bl" rotWithShape="0" blurRad="76200" dist="25400" dir="5400000">
              <a:srgbClr val="000000">
                <a:alpha val="8000"/>
              </a:srgbClr>
            </a:outerShdw>
          </a:effectLst>
        </p:spPr>
      </p:sp>
      <p:sp>
        <p:nvSpPr>
          <p:cNvPr id="26" name="Text 329"/>
          <p:cNvSpPr/>
          <p:nvPr/>
        </p:nvSpPr>
        <p:spPr>
          <a:xfrm>
            <a:off x="868680" y="4315968"/>
            <a:ext cx="731520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What the safety team sees, to find everyone</a:t>
            </a:r>
            <a:endParaRPr lang="en-US" sz="1600" dirty="0"/>
          </a:p>
        </p:txBody>
      </p:sp>
      <p:sp>
        <p:nvSpPr>
          <p:cNvPr id="27" name="Text 330"/>
          <p:cNvSpPr/>
          <p:nvPr/>
        </p:nvSpPr>
        <p:spPr>
          <a:xfrm>
            <a:off x="868680" y="4754880"/>
            <a:ext cx="5120640" cy="118872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Both people: photo, ID check, licence, mobile money numbers (registered to a name)</a:t>
            </a:r>
            <a:endParaRPr lang="en-US" sz="1300" dirty="0"/>
          </a:p>
          <a:p>
            <a:pPr marL="203200" indent="-2032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car: make, colour, plate, photos, and its tracker</a:t>
            </a:r>
            <a:endParaRPr lang="en-US" sz="1300" dirty="0"/>
          </a:p>
        </p:txBody>
      </p:sp>
      <p:sp>
        <p:nvSpPr>
          <p:cNvPr id="28" name="Text 331"/>
          <p:cNvSpPr/>
          <p:nvPr/>
        </p:nvSpPr>
        <p:spPr>
          <a:xfrm>
            <a:off x="6263640" y="4754880"/>
            <a:ext cx="5120640" cy="118872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Every other rider on the ride, and the messages and calls between them</a:t>
            </a:r>
            <a:endParaRPr lang="en-US" sz="1300" dirty="0"/>
          </a:p>
          <a:p>
            <a:pPr marL="203200" indent="-2032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Who the danger is, if they said: the driver, a passenger, someone outside, medical</a:t>
            </a:r>
            <a:endParaRPr lang="en-US" sz="1300" dirty="0"/>
          </a:p>
        </p:txBody>
      </p:sp>
      <p:pic>
        <p:nvPicPr>
          <p:cNvPr id="29" name="Mark 332" descr="/home/ghost/Desktop/Projects/Poolora/branding/poolora-icon.png">    </p:cNvPr>
          <p:cNvPicPr>
            <a:picLocks noChangeAspect="1"/>
          </p:cNvPicPr>
          <p:nvPr/>
        </p:nvPicPr>
        <p:blipFill>
          <a:blip r:embed="rId6"/>
          <a:stretch>
            <a:fillRect/>
          </a:stretch>
        </p:blipFill>
        <p:spPr>
          <a:xfrm>
            <a:off x="11368735" y="6355080"/>
            <a:ext cx="310896" cy="310896"/>
          </a:xfrm>
          <a:prstGeom prst="rect">
            <a:avLst/>
          </a:prstGeom>
        </p:spPr>
      </p:pic>
      <p:sp>
        <p:nvSpPr>
          <p:cNvPr id="30" name="Text 21"/>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18</a:t>
            </a:r>
            <a:endParaRPr lang="en-US" sz="1100" dirty="0"/>
          </a:p>
        </p:txBody>
      </p:sp>
      <p:sp>
        <p:nvSpPr>
          <p:cNvPr id="31" name="Text 22"/>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3" fill="hold">
                      <p:stCondLst>
                        <p:cond delay="indefinite"/>
                        <p:cond evt="onBegin" delay="0">
                          <p:tn val="2"/>
                        </p:cond>
                      </p:stCondLst>
                      <p:childTnLst>
                        <p:par>
                          <p:cTn id="12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2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2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20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40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4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40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40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6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6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60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60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anim calcmode="lin" valueType="num">
                                      <p:cBhvr additive="base">
                                        <p:cTn id="81" dur="500" fill="hold"/>
                                        <p:tgtEl>
                                          <p:spTgt spid="20"/>
                                        </p:tgtEl>
                                        <p:attrNameLst>
                                          <p:attrName>ppt_x</p:attrName>
                                        </p:attrNameLst>
                                      </p:cBhvr>
                                      <p:tavLst>
                                        <p:tav tm="0">
                                          <p:val>
                                            <p:strVal val="#ppt_x"/>
                                          </p:val>
                                        </p:tav>
                                        <p:tav tm="100000">
                                          <p:val>
                                            <p:strVal val="#ppt_x"/>
                                          </p:val>
                                        </p:tav>
                                      </p:tavLst>
                                    </p:anim>
                                    <p:anim calcmode="lin" valueType="num">
                                      <p:cBhvr additive="base">
                                        <p:cTn id="82" dur="500" fill="hold"/>
                                        <p:tgtEl>
                                          <p:spTgt spid="20"/>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80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p:tgtEl>
                                          <p:spTgt spid="21"/>
                                        </p:tgtEl>
                                        <p:attrNameLst>
                                          <p:attrName>ppt_x</p:attrName>
                                        </p:attrNameLst>
                                      </p:cBhvr>
                                      <p:tavLst>
                                        <p:tav tm="0">
                                          <p:val>
                                            <p:strVal val="#ppt_x"/>
                                          </p:val>
                                        </p:tav>
                                        <p:tav tm="100000">
                                          <p:val>
                                            <p:strVal val="#ppt_x"/>
                                          </p:val>
                                        </p:tav>
                                      </p:tavLst>
                                    </p:anim>
                                    <p:anim calcmode="lin" valueType="num">
                                      <p:cBhvr additive="base">
                                        <p:cTn id="87" dur="500" fill="hold"/>
                                        <p:tgtEl>
                                          <p:spTgt spid="2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8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80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additive="base">
                                        <p:cTn id="96" dur="500" fill="hold"/>
                                        <p:tgtEl>
                                          <p:spTgt spid="23"/>
                                        </p:tgtEl>
                                        <p:attrNameLst>
                                          <p:attrName>ppt_x</p:attrName>
                                        </p:attrNameLst>
                                      </p:cBhvr>
                                      <p:tavLst>
                                        <p:tav tm="0">
                                          <p:val>
                                            <p:strVal val="#ppt_x"/>
                                          </p:val>
                                        </p:tav>
                                        <p:tav tm="100000">
                                          <p:val>
                                            <p:strVal val="#ppt_x"/>
                                          </p:val>
                                        </p:tav>
                                      </p:tavLst>
                                    </p:anim>
                                    <p:anim calcmode="lin" valueType="num">
                                      <p:cBhvr additive="base">
                                        <p:cTn id="97" dur="5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80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00"/>
                                        <p:tgtEl>
                                          <p:spTgt spid="24"/>
                                        </p:tgtEl>
                                      </p:cBhvr>
                                    </p:animEffect>
                                    <p:anim calcmode="lin" valueType="num">
                                      <p:cBhvr additive="base">
                                        <p:cTn id="101" dur="500" fill="hold"/>
                                        <p:tgtEl>
                                          <p:spTgt spid="24"/>
                                        </p:tgtEl>
                                        <p:attrNameLst>
                                          <p:attrName>ppt_x</p:attrName>
                                        </p:attrNameLst>
                                      </p:cBhvr>
                                      <p:tavLst>
                                        <p:tav tm="0">
                                          <p:val>
                                            <p:strVal val="#ppt_x"/>
                                          </p:val>
                                        </p:tav>
                                        <p:tav tm="100000">
                                          <p:val>
                                            <p:strVal val="#ppt_x"/>
                                          </p:val>
                                        </p:tav>
                                      </p:tavLst>
                                    </p:anim>
                                    <p:anim calcmode="lin" valueType="num">
                                      <p:cBhvr additive="base">
                                        <p:cTn id="102" dur="500" fill="hold"/>
                                        <p:tgtEl>
                                          <p:spTgt spid="2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120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additive="base">
                                        <p:cTn id="106" dur="500" fill="hold"/>
                                        <p:tgtEl>
                                          <p:spTgt spid="25"/>
                                        </p:tgtEl>
                                        <p:attrNameLst>
                                          <p:attrName>ppt_x</p:attrName>
                                        </p:attrNameLst>
                                      </p:cBhvr>
                                      <p:tavLst>
                                        <p:tav tm="0">
                                          <p:val>
                                            <p:strVal val="#ppt_x"/>
                                          </p:val>
                                        </p:tav>
                                        <p:tav tm="100000">
                                          <p:val>
                                            <p:strVal val="#ppt_x"/>
                                          </p:val>
                                        </p:tav>
                                      </p:tavLst>
                                    </p:anim>
                                    <p:anim calcmode="lin" valueType="num">
                                      <p:cBhvr additive="base">
                                        <p:cTn id="107" dur="500" fill="hold"/>
                                        <p:tgtEl>
                                          <p:spTgt spid="25"/>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120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500"/>
                                        <p:tgtEl>
                                          <p:spTgt spid="26"/>
                                        </p:tgtEl>
                                      </p:cBhvr>
                                    </p:animEffect>
                                    <p:anim calcmode="lin" valueType="num">
                                      <p:cBhvr additive="base">
                                        <p:cTn id="111" dur="500" fill="hold"/>
                                        <p:tgtEl>
                                          <p:spTgt spid="26"/>
                                        </p:tgtEl>
                                        <p:attrNameLst>
                                          <p:attrName>ppt_x</p:attrName>
                                        </p:attrNameLst>
                                      </p:cBhvr>
                                      <p:tavLst>
                                        <p:tav tm="0">
                                          <p:val>
                                            <p:strVal val="#ppt_x"/>
                                          </p:val>
                                        </p:tav>
                                        <p:tav tm="100000">
                                          <p:val>
                                            <p:strVal val="#ppt_x"/>
                                          </p:val>
                                        </p:tav>
                                      </p:tavLst>
                                    </p:anim>
                                    <p:anim calcmode="lin" valueType="num">
                                      <p:cBhvr additive="base">
                                        <p:cTn id="112" dur="500" fill="hold"/>
                                        <p:tgtEl>
                                          <p:spTgt spid="26"/>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120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anim calcmode="lin" valueType="num">
                                      <p:cBhvr additive="base">
                                        <p:cTn id="116" dur="500" fill="hold"/>
                                        <p:tgtEl>
                                          <p:spTgt spid="27"/>
                                        </p:tgtEl>
                                        <p:attrNameLst>
                                          <p:attrName>ppt_x</p:attrName>
                                        </p:attrNameLst>
                                      </p:cBhvr>
                                      <p:tavLst>
                                        <p:tav tm="0">
                                          <p:val>
                                            <p:strVal val="#ppt_x"/>
                                          </p:val>
                                        </p:tav>
                                        <p:tav tm="100000">
                                          <p:val>
                                            <p:strVal val="#ppt_x"/>
                                          </p:val>
                                        </p:tav>
                                      </p:tavLst>
                                    </p:anim>
                                    <p:anim calcmode="lin" valueType="num">
                                      <p:cBhvr additive="base">
                                        <p:cTn id="117" dur="500" fill="hold"/>
                                        <p:tgtEl>
                                          <p:spTgt spid="27"/>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1200"/>
                                  </p:stCondLst>
                                  <p:childTnLst>
                                    <p:set>
                                      <p:cBhvr>
                                        <p:cTn id="119" dur="1" fill="hold">
                                          <p:stCondLst>
                                            <p:cond delay="0"/>
                                          </p:stCondLst>
                                        </p:cTn>
                                        <p:tgtEl>
                                          <p:spTgt spid="28"/>
                                        </p:tgtEl>
                                        <p:attrNameLst>
                                          <p:attrName>style.visibility</p:attrName>
                                        </p:attrNameLst>
                                      </p:cBhvr>
                                      <p:to>
                                        <p:strVal val="visible"/>
                                      </p:to>
                                    </p:set>
                                    <p:animEffect transition="in" filter="fade">
                                      <p:cBhvr>
                                        <p:cTn id="120" dur="500"/>
                                        <p:tgtEl>
                                          <p:spTgt spid="28"/>
                                        </p:tgtEl>
                                      </p:cBhvr>
                                    </p:animEffect>
                                    <p:anim calcmode="lin" valueType="num">
                                      <p:cBhvr additive="base">
                                        <p:cTn id="121" dur="500" fill="hold"/>
                                        <p:tgtEl>
                                          <p:spTgt spid="28"/>
                                        </p:tgtEl>
                                        <p:attrNameLst>
                                          <p:attrName>ppt_x</p:attrName>
                                        </p:attrNameLst>
                                      </p:cBhvr>
                                      <p:tavLst>
                                        <p:tav tm="0">
                                          <p:val>
                                            <p:strVal val="#ppt_x"/>
                                          </p:val>
                                        </p:tav>
                                        <p:tav tm="100000">
                                          <p:val>
                                            <p:strVal val="#ppt_x"/>
                                          </p:val>
                                        </p:tav>
                                      </p:tavLst>
                                    </p:anim>
                                    <p:anim calcmode="lin" valueType="num">
                                      <p:cBhvr additive="base">
                                        <p:cTn id="122"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6" grpId="0" animBg="1"/>
      <p:bldP spid="27" grpId="0" animBg="1"/>
      <p:bldP spid="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0A2C"/>
        </a:solidFill>
      </p:bgPr>
    </p:bg>
    <p:spTree>
      <p:nvGrpSpPr>
        <p:cNvPr id="1" name=""/>
        <p:cNvGrpSpPr/>
        <p:nvPr/>
      </p:nvGrpSpPr>
      <p:grpSpPr>
        <a:xfrm>
          <a:off x="0" y="0"/>
          <a:ext cx="0" cy="0"/>
          <a:chOff x="0" y="0"/>
          <a:chExt cx="0" cy="0"/>
        </a:xfrm>
      </p:grpSpPr>
      <p:sp>
        <p:nvSpPr>
          <p:cNvPr id="3" name="Title 333"/>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Built for Zimbabwe first</a:t>
            </a:r>
            <a:endParaRPr lang="en-US" sz="3000" dirty="0"/>
          </a:p>
        </p:txBody>
      </p:sp>
      <p:sp>
        <p:nvSpPr>
          <p:cNvPr id="4" name="Subtitle 334"/>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B9B4D9"/>
                </a:solidFill>
                <a:latin typeface="Calibri" pitchFamily="34" charset="0"/>
                <a:ea typeface="Calibri" pitchFamily="34" charset="-122"/>
                <a:cs typeface="Calibri" pitchFamily="34" charset="-120"/>
              </a:rPr>
              <a:t>Everything country-specific lives in one market registry; a new country is an entry, not a rewrite.</a:t>
            </a:r>
            <a:endParaRPr lang="en-US" sz="1600" dirty="0"/>
          </a:p>
        </p:txBody>
      </p:sp>
      <p:pic>
        <p:nvPicPr>
          <p:cNvPr id="5" name="Map clip" descr="/home/ghost/Desktop/Projects/Poolora/Doc/presentation/media/map.gif">    </p:cNvPr>
          <p:cNvPicPr>
            <a:picLocks noChangeAspect="1"/>
          </p:cNvPicPr>
          <p:nvPr/>
        </p:nvPicPr>
        <p:blipFill>
          <a:blip r:embed="rId1"/>
          <a:stretch>
            <a:fillRect/>
          </a:stretch>
        </p:blipFill>
        <p:spPr>
          <a:xfrm>
            <a:off x="365760" y="1600200"/>
            <a:ext cx="6766560" cy="3806190"/>
          </a:xfrm>
          <a:prstGeom prst="rect">
            <a:avLst/>
          </a:prstGeom>
        </p:spPr>
      </p:pic>
      <p:pic>
        <p:nvPicPr>
          <p:cNvPr id="6" name="Zw icon 335" descr="preencoded.png">    </p:cNvPr>
          <p:cNvPicPr>
            <a:picLocks noChangeAspect="1"/>
          </p:cNvPicPr>
          <p:nvPr/>
        </p:nvPicPr>
        <p:blipFill>
          <a:blip r:embed="rId2"/>
          <a:stretch>
            <a:fillRect/>
          </a:stretch>
        </p:blipFill>
        <p:spPr>
          <a:xfrm>
            <a:off x="7406640" y="1700784"/>
            <a:ext cx="384048" cy="384048"/>
          </a:xfrm>
          <a:prstGeom prst="rect">
            <a:avLst/>
          </a:prstGeom>
        </p:spPr>
      </p:pic>
      <p:sp>
        <p:nvSpPr>
          <p:cNvPr id="7" name="Text 336"/>
          <p:cNvSpPr/>
          <p:nvPr/>
        </p:nvSpPr>
        <p:spPr>
          <a:xfrm>
            <a:off x="7955280" y="1645920"/>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US dollars, ZiG when enabled; EcoCash, OneMoney, InnBucks and cards through Paynow</a:t>
            </a:r>
            <a:endParaRPr lang="en-US" sz="1350" dirty="0"/>
          </a:p>
        </p:txBody>
      </p:sp>
      <p:pic>
        <p:nvPicPr>
          <p:cNvPr id="8" name="Zw icon 337" descr="preencoded.png">    </p:cNvPr>
          <p:cNvPicPr>
            <a:picLocks noChangeAspect="1"/>
          </p:cNvPicPr>
          <p:nvPr/>
        </p:nvPicPr>
        <p:blipFill>
          <a:blip r:embed="rId3"/>
          <a:stretch>
            <a:fillRect/>
          </a:stretch>
        </p:blipFill>
        <p:spPr>
          <a:xfrm>
            <a:off x="7406640" y="2414016"/>
            <a:ext cx="384048" cy="384048"/>
          </a:xfrm>
          <a:prstGeom prst="rect">
            <a:avLst/>
          </a:prstGeom>
        </p:spPr>
      </p:pic>
      <p:sp>
        <p:nvSpPr>
          <p:cNvPr id="9" name="Text 338"/>
          <p:cNvSpPr/>
          <p:nvPr/>
        </p:nvSpPr>
        <p:spPr>
          <a:xfrm>
            <a:off x="7955280" y="2359152"/>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+263 numbers (Econet, NetOne, Telecel), shown as +263 77 123 4567</a:t>
            </a:r>
            <a:endParaRPr lang="en-US" sz="1350" dirty="0"/>
          </a:p>
        </p:txBody>
      </p:sp>
      <p:pic>
        <p:nvPicPr>
          <p:cNvPr id="10" name="Zw icon 339" descr="preencoded.png">    </p:cNvPr>
          <p:cNvPicPr>
            <a:picLocks noChangeAspect="1"/>
          </p:cNvPicPr>
          <p:nvPr/>
        </p:nvPicPr>
        <p:blipFill>
          <a:blip r:embed="rId4"/>
          <a:stretch>
            <a:fillRect/>
          </a:stretch>
        </p:blipFill>
        <p:spPr>
          <a:xfrm>
            <a:off x="7406640" y="3127248"/>
            <a:ext cx="384048" cy="384048"/>
          </a:xfrm>
          <a:prstGeom prst="rect">
            <a:avLst/>
          </a:prstGeom>
        </p:spPr>
      </p:pic>
      <p:sp>
        <p:nvSpPr>
          <p:cNvPr id="11" name="Text 340"/>
          <p:cNvSpPr/>
          <p:nvPr/>
        </p:nvSpPr>
        <p:spPr>
          <a:xfrm>
            <a:off x="7955280" y="3072384"/>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13 public holidays, Easter and Heroes' Day included, feed the demand forecast</a:t>
            </a:r>
            <a:endParaRPr lang="en-US" sz="1350" dirty="0"/>
          </a:p>
        </p:txBody>
      </p:sp>
      <p:pic>
        <p:nvPicPr>
          <p:cNvPr id="12" name="Zw icon 341" descr="preencoded.png">    </p:cNvPr>
          <p:cNvPicPr>
            <a:picLocks noChangeAspect="1"/>
          </p:cNvPicPr>
          <p:nvPr/>
        </p:nvPicPr>
        <p:blipFill>
          <a:blip r:embed="rId5"/>
          <a:stretch>
            <a:fillRect/>
          </a:stretch>
        </p:blipFill>
        <p:spPr>
          <a:xfrm>
            <a:off x="7406640" y="3840480"/>
            <a:ext cx="384048" cy="384048"/>
          </a:xfrm>
          <a:prstGeom prst="rect">
            <a:avLst/>
          </a:prstGeom>
        </p:spPr>
      </p:pic>
      <p:sp>
        <p:nvSpPr>
          <p:cNvPr id="13" name="Text 342"/>
          <p:cNvSpPr/>
          <p:nvPr/>
        </p:nvSpPr>
        <p:spPr>
          <a:xfrm>
            <a:off x="7955280" y="3785616"/>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Harare time (CAT) everywhere, 24-hour clock</a:t>
            </a:r>
            <a:endParaRPr lang="en-US" sz="1350" dirty="0"/>
          </a:p>
        </p:txBody>
      </p:sp>
      <p:pic>
        <p:nvPicPr>
          <p:cNvPr id="14" name="Zw icon 343" descr="preencoded.png">    </p:cNvPr>
          <p:cNvPicPr>
            <a:picLocks noChangeAspect="1"/>
          </p:cNvPicPr>
          <p:nvPr/>
        </p:nvPicPr>
        <p:blipFill>
          <a:blip r:embed="rId6"/>
          <a:stretch>
            <a:fillRect/>
          </a:stretch>
        </p:blipFill>
        <p:spPr>
          <a:xfrm>
            <a:off x="7406640" y="4553712"/>
            <a:ext cx="384048" cy="384048"/>
          </a:xfrm>
          <a:prstGeom prst="rect">
            <a:avLst/>
          </a:prstGeom>
        </p:spPr>
      </p:pic>
      <p:sp>
        <p:nvSpPr>
          <p:cNvPr id="15" name="Text 344"/>
          <p:cNvSpPr/>
          <p:nvPr/>
        </p:nvSpPr>
        <p:spPr>
          <a:xfrm>
            <a:off x="7955280" y="4498848"/>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Emergency 999, police 995, ambulance 994</a:t>
            </a:r>
            <a:endParaRPr lang="en-US" sz="1350" dirty="0"/>
          </a:p>
        </p:txBody>
      </p:sp>
      <p:pic>
        <p:nvPicPr>
          <p:cNvPr id="16" name="Zw icon 345" descr="preencoded.png">    </p:cNvPr>
          <p:cNvPicPr>
            <a:picLocks noChangeAspect="1"/>
          </p:cNvPicPr>
          <p:nvPr/>
        </p:nvPicPr>
        <p:blipFill>
          <a:blip r:embed="rId7"/>
          <a:stretch>
            <a:fillRect/>
          </a:stretch>
        </p:blipFill>
        <p:spPr>
          <a:xfrm>
            <a:off x="7406640" y="5266944"/>
            <a:ext cx="384048" cy="384048"/>
          </a:xfrm>
          <a:prstGeom prst="rect">
            <a:avLst/>
          </a:prstGeom>
        </p:spPr>
      </p:pic>
      <p:sp>
        <p:nvSpPr>
          <p:cNvPr id="17" name="Text 346"/>
          <p:cNvSpPr/>
          <p:nvPr/>
        </p:nvSpPr>
        <p:spPr>
          <a:xfrm>
            <a:off x="7955280" y="5212080"/>
            <a:ext cx="384048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Car, SUV and bakkie, minivan, auto (tuk-tuk), bike; Zimbabwe number plates</a:t>
            </a:r>
            <a:endParaRPr lang="en-US" sz="1350" dirty="0"/>
          </a:p>
        </p:txBody>
      </p:sp>
      <p:pic>
        <p:nvPicPr>
          <p:cNvPr id="18" name="Mark 347" descr="/home/ghost/Desktop/Projects/Poolora/branding/poolora-icon.png">    </p:cNvPr>
          <p:cNvPicPr>
            <a:picLocks noChangeAspect="1"/>
          </p:cNvPicPr>
          <p:nvPr/>
        </p:nvPicPr>
        <p:blipFill>
          <a:blip r:embed="rId8"/>
          <a:stretch>
            <a:fillRect/>
          </a:stretch>
        </p:blipFill>
        <p:spPr>
          <a:xfrm>
            <a:off x="11368735" y="6355080"/>
            <a:ext cx="310896" cy="310896"/>
          </a:xfrm>
          <a:prstGeom prst="rect">
            <a:avLst/>
          </a:prstGeom>
        </p:spPr>
      </p:pic>
      <p:sp>
        <p:nvSpPr>
          <p:cNvPr id="19" name="Text 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19</a:t>
            </a:r>
            <a:endParaRPr lang="en-US" sz="1100" dirty="0"/>
          </a:p>
        </p:txBody>
      </p:sp>
      <p:sp>
        <p:nvSpPr>
          <p:cNvPr id="20" name="Text 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6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900"/>
                                        <p:tgtEl>
                                          <p:spTgt spid="5"/>
                                        </p:tgtEl>
                                      </p:cBhvr>
                                    </p:animEffect>
                                  </p:childTnLst>
                                </p:cTn>
                              </p:par>
                              <p:par>
                                <p:cTn id="6" presetID="42" presetClass="entr" presetSubtype="0" fill="hold" grpId="0" nodeType="withEffect">
                                  <p:stCondLst>
                                    <p:cond delay="50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anim calcmode="lin" valueType="num">
                                      <p:cBhvr additive="base">
                                        <p:cTn id="9" dur="500" fill="hold"/>
                                        <p:tgtEl>
                                          <p:spTgt spid="6"/>
                                        </p:tgtEl>
                                        <p:attrNameLst>
                                          <p:attrName>ppt_x</p:attrName>
                                        </p:attrNameLst>
                                      </p:cBhvr>
                                      <p:tavLst>
                                        <p:tav tm="0">
                                          <p:val>
                                            <p:strVal val="#ppt_x"/>
                                          </p:val>
                                        </p:tav>
                                        <p:tav tm="100000">
                                          <p:val>
                                            <p:strVal val="#ppt_x"/>
                                          </p:val>
                                        </p:tav>
                                      </p:tavLst>
                                    </p:anim>
                                    <p:anim calcmode="lin" valueType="num">
                                      <p:cBhvr additive="base">
                                        <p:cTn id="10" dur="500" fill="hold"/>
                                        <p:tgtEl>
                                          <p:spTgt spid="6"/>
                                        </p:tgtEl>
                                        <p:attrNameLst>
                                          <p:attrName>ppt_y</p:attrName>
                                        </p:attrNameLst>
                                      </p:cBhvr>
                                      <p:tavLst>
                                        <p:tav tm="0">
                                          <p:val>
                                            <p:strVal val="#ppt_y+.1"/>
                                          </p:val>
                                        </p:tav>
                                        <p:tav tm="100000">
                                          <p:val>
                                            <p:strVal val="#ppt_y"/>
                                          </p:val>
                                        </p:tav>
                                      </p:tavLst>
                                    </p:anim>
                                  </p:childTnLst>
                                </p:cTn>
                              </p:par>
                              <p:par>
                                <p:cTn id="11" presetID="42" presetClass="entr" presetSubtype="0" fill="hold" grpId="0" nodeType="withEffect">
                                  <p:stCondLst>
                                    <p:cond delay="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63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63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76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76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89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89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102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102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115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115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anim calcmode="lin" valueType="num">
                                      <p:cBhvr additive="base">
                                        <p:cTn id="64" dur="500" fill="hold"/>
                                        <p:tgtEl>
                                          <p:spTgt spid="17"/>
                                        </p:tgtEl>
                                        <p:attrNameLst>
                                          <p:attrName>ppt_x</p:attrName>
                                        </p:attrNameLst>
                                      </p:cBhvr>
                                      <p:tavLst>
                                        <p:tav tm="0">
                                          <p:val>
                                            <p:strVal val="#ppt_x"/>
                                          </p:val>
                                        </p:tav>
                                        <p:tav tm="100000">
                                          <p:val>
                                            <p:strVal val="#ppt_x"/>
                                          </p:val>
                                        </p:tav>
                                      </p:tavLst>
                                    </p:anim>
                                    <p:anim calcmode="lin" valueType="num">
                                      <p:cBhvr additive="base">
                                        <p:cTn id="6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3" name="Title 348"/>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Admin dashboard (web)</a:t>
            </a:r>
            <a:endParaRPr lang="en-US" sz="3000" dirty="0"/>
          </a:p>
        </p:txBody>
      </p:sp>
      <p:sp>
        <p:nvSpPr>
          <p:cNvPr id="4" name="Subtitle 349"/>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Live figures, SOS desk, driver checks, disputes, payouts and settings; every change is logged.</a:t>
            </a:r>
            <a:endParaRPr lang="en-US" sz="1600" dirty="0"/>
          </a:p>
        </p:txBody>
      </p:sp>
      <p:pic>
        <p:nvPicPr>
          <p:cNvPr id="5" name="Admin 1" descr="/home/ghost/Desktop/Projects/Poolora/Doc/presentation/screens/frames/admin_dashboard.png">    </p:cNvPr>
          <p:cNvPicPr>
            <a:picLocks noChangeAspect="1"/>
          </p:cNvPicPr>
          <p:nvPr/>
        </p:nvPicPr>
        <p:blipFill>
          <a:blip r:embed="rId1"/>
          <a:stretch>
            <a:fillRect/>
          </a:stretch>
        </p:blipFill>
        <p:spPr>
          <a:xfrm>
            <a:off x="411480" y="1463040"/>
            <a:ext cx="6949440" cy="4711179"/>
          </a:xfrm>
          <a:prstGeom prst="rect">
            <a:avLst/>
          </a:prstGeom>
        </p:spPr>
      </p:pic>
      <p:pic>
        <p:nvPicPr>
          <p:cNvPr id="6" name="Admin 2" descr="/home/ghost/Desktop/Projects/Poolora/Doc/presentation/screens/frames/admin_settings.png">    </p:cNvPr>
          <p:cNvPicPr>
            <a:picLocks noChangeAspect="1"/>
          </p:cNvPicPr>
          <p:nvPr/>
        </p:nvPicPr>
        <p:blipFill>
          <a:blip r:embed="rId2"/>
          <a:stretch>
            <a:fillRect/>
          </a:stretch>
        </p:blipFill>
        <p:spPr>
          <a:xfrm>
            <a:off x="7086600" y="3063240"/>
            <a:ext cx="4754880" cy="3223438"/>
          </a:xfrm>
          <a:prstGeom prst="rect">
            <a:avLst/>
          </a:prstGeom>
        </p:spPr>
      </p:pic>
      <p:sp>
        <p:nvSpPr>
          <p:cNvPr id="7" name="Text 350"/>
          <p:cNvSpPr/>
          <p:nvPr/>
        </p:nvSpPr>
        <p:spPr>
          <a:xfrm>
            <a:off x="7498080" y="1554480"/>
            <a:ext cx="4206240" cy="109728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Settings such as fees and refund tiers need a second admin's approval and can be reverted for 24 hours.</a:t>
            </a:r>
            <a:endParaRPr lang="en-US" sz="1400" dirty="0"/>
          </a:p>
        </p:txBody>
      </p:sp>
      <p:pic>
        <p:nvPicPr>
          <p:cNvPr id="8" name="Mark 351" descr="/home/ghost/Desktop/Projects/Poolora/branding/poolora-icon.png">    </p:cNvPr>
          <p:cNvPicPr>
            <a:picLocks noChangeAspect="1"/>
          </p:cNvPicPr>
          <p:nvPr/>
        </p:nvPicPr>
        <p:blipFill>
          <a:blip r:embed="rId3"/>
          <a:stretch>
            <a:fillRect/>
          </a:stretch>
        </p:blipFill>
        <p:spPr>
          <a:xfrm>
            <a:off x="11368735" y="6355080"/>
            <a:ext cx="310896" cy="310896"/>
          </a:xfrm>
          <a:prstGeom prst="rect">
            <a:avLst/>
          </a:prstGeom>
        </p:spPr>
      </p:pic>
      <p:sp>
        <p:nvSpPr>
          <p:cNvPr id="9" name="Text 3"/>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20</a:t>
            </a:r>
            <a:endParaRPr lang="en-US" sz="1100" dirty="0"/>
          </a:p>
        </p:txBody>
      </p:sp>
      <p:sp>
        <p:nvSpPr>
          <p:cNvPr id="10" name="Text 4"/>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7"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 calcmode="lin" valueType="num">
                                      <p:cBhvr additive="base">
                                        <p:cTn id="5" dur="600" fill="hold"/>
                                        <p:tgtEl>
                                          <p:spTgt spid="5"/>
                                        </p:tgtEl>
                                        <p:attrNameLst>
                                          <p:attrName>ppt_w</p:attrName>
                                        </p:attrNameLst>
                                      </p:cBhvr>
                                      <p:tavLst>
                                        <p:tav tm="0">
                                          <p:val>
                                            <p:strVal val="0"/>
                                          </p:val>
                                        </p:tav>
                                        <p:tav tm="100000">
                                          <p:val>
                                            <p:strVal val="#ppt_w"/>
                                          </p:val>
                                        </p:tav>
                                      </p:tavLst>
                                    </p:anim>
                                    <p:anim calcmode="lin" valueType="num">
                                      <p:cBhvr additive="base">
                                        <p:cTn id="6" dur="600" fill="hold"/>
                                        <p:tgtEl>
                                          <p:spTgt spid="5"/>
                                        </p:tgtEl>
                                        <p:attrNameLst>
                                          <p:attrName>ppt_h</p:attrName>
                                        </p:attrNameLst>
                                      </p:cBhvr>
                                      <p:tavLst>
                                        <p:tav tm="0">
                                          <p:val>
                                            <p:strVal val="0"/>
                                          </p:val>
                                        </p:tav>
                                        <p:tav tm="100000">
                                          <p:val>
                                            <p:strVal val="#ppt_h"/>
                                          </p:val>
                                        </p:tav>
                                      </p:tavLst>
                                    </p:anim>
                                    <p:animEffect transition="in" filter="fade">
                                      <p:cBhvr>
                                        <p:cTn id="7" dur="600"/>
                                        <p:tgtEl>
                                          <p:spTgt spid="5"/>
                                        </p:tgtEl>
                                      </p:cBhvr>
                                    </p:animEffect>
                                  </p:childTnLst>
                                </p:cTn>
                              </p:par>
                              <p:par>
                                <p:cTn id="8" presetID="42" presetClass="entr" presetSubtype="0" fill="hold" grpId="0" nodeType="withEffect">
                                  <p:stCondLst>
                                    <p:cond delay="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anim calcmode="lin" valueType="num">
                                      <p:cBhvr additive="base">
                                        <p:cTn id="11" dur="600" fill="hold"/>
                                        <p:tgtEl>
                                          <p:spTgt spid="6"/>
                                        </p:tgtEl>
                                        <p:attrNameLst>
                                          <p:attrName>ppt_x</p:attrName>
                                        </p:attrNameLst>
                                      </p:cBhvr>
                                      <p:tavLst>
                                        <p:tav tm="0">
                                          <p:val>
                                            <p:strVal val="#ppt_x"/>
                                          </p:val>
                                        </p:tav>
                                        <p:tav tm="100000">
                                          <p:val>
                                            <p:strVal val="#ppt_x"/>
                                          </p:val>
                                        </p:tav>
                                      </p:tavLst>
                                    </p:anim>
                                    <p:anim calcmode="lin" valueType="num">
                                      <p:cBhvr additive="base">
                                        <p:cTn id="12" dur="600" fill="hold"/>
                                        <p:tgtEl>
                                          <p:spTgt spid="6"/>
                                        </p:tgtEl>
                                        <p:attrNameLst>
                                          <p:attrName>ppt_y</p:attrName>
                                        </p:attrNameLst>
                                      </p:cBhvr>
                                      <p:tavLst>
                                        <p:tav tm="0">
                                          <p:val>
                                            <p:strVal val="#ppt_y+.1"/>
                                          </p:val>
                                        </p:tav>
                                        <p:tav tm="100000">
                                          <p:val>
                                            <p:strVal val="#ppt_y"/>
                                          </p:val>
                                        </p:tav>
                                      </p:tavLst>
                                    </p:anim>
                                  </p:childTnLst>
                                </p:cTn>
                              </p:par>
                              <p:par>
                                <p:cTn id="13" presetID="10" presetClass="entr" presetSubtype="0" fill="hold" grpId="0" nodeType="withEffect">
                                  <p:stCondLst>
                                    <p:cond delay="9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3" name="Title 352"/>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Database design</a:t>
            </a:r>
            <a:endParaRPr lang="en-US" sz="3000" dirty="0"/>
          </a:p>
        </p:txBody>
      </p:sp>
      <p:sp>
        <p:nvSpPr>
          <p:cNvPr id="4" name="Subtitle 353"/>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MongoDB, 34 collections. Places are GeoJSON points and lines with 2dsphere indexes.</a:t>
            </a:r>
            <a:endParaRPr lang="en-US" sz="1600" dirty="0"/>
          </a:p>
        </p:txBody>
      </p:sp>
      <p:sp>
        <p:nvSpPr>
          <p:cNvPr id="5" name="Card 354"/>
          <p:cNvSpPr/>
          <p:nvPr/>
        </p:nvSpPr>
        <p:spPr>
          <a:xfrm>
            <a:off x="548640" y="1783080"/>
            <a:ext cx="2103120" cy="393192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6" name="Text 355"/>
          <p:cNvSpPr/>
          <p:nvPr/>
        </p:nvSpPr>
        <p:spPr>
          <a:xfrm>
            <a:off x="731520" y="1920240"/>
            <a:ext cx="1737360" cy="411480"/>
          </a:xfrm>
          <a:prstGeom prst="rect">
            <a:avLst/>
          </a:prstGeom>
          <a:noFill/>
          <a:ln/>
        </p:spPr>
        <p:txBody>
          <a:bodyPr wrap="square" lIns="0" tIns="0" rIns="0" bIns="0" rtlCol="0" anchor="t"/>
          <a:lstStyle/>
          <a:p>
            <a:pPr indent="0" marL="0">
              <a:buNone/>
            </a:pPr>
            <a:r>
              <a:rPr lang="en-US" sz="1700" b="1" dirty="0">
                <a:solidFill>
                  <a:srgbClr val="0B7A75"/>
                </a:solidFill>
                <a:latin typeface="Arial" pitchFamily="34" charset="0"/>
                <a:ea typeface="Arial" pitchFamily="34" charset="-122"/>
                <a:cs typeface="Arial" pitchFamily="34" charset="-120"/>
              </a:rPr>
              <a:t>Core</a:t>
            </a:r>
            <a:endParaRPr lang="en-US" sz="1700" dirty="0"/>
          </a:p>
        </p:txBody>
      </p:sp>
      <p:sp>
        <p:nvSpPr>
          <p:cNvPr id="7" name="Text 356"/>
          <p:cNvSpPr/>
          <p:nvPr/>
        </p:nvSpPr>
        <p:spPr>
          <a:xfrm>
            <a:off x="731520" y="2423160"/>
            <a:ext cx="1783080" cy="320040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User (profile, KYC, vehicles, contacts)</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Ride (route line, stops, vehicle)</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Booking (pickup, drop, fare, refunds)</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Rating, Message</a:t>
            </a:r>
            <a:endParaRPr lang="en-US" sz="1250" dirty="0"/>
          </a:p>
        </p:txBody>
      </p:sp>
      <p:sp>
        <p:nvSpPr>
          <p:cNvPr id="8" name="Card 357"/>
          <p:cNvSpPr/>
          <p:nvPr/>
        </p:nvSpPr>
        <p:spPr>
          <a:xfrm>
            <a:off x="2816352" y="1783080"/>
            <a:ext cx="2103120" cy="393192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9" name="Text 358"/>
          <p:cNvSpPr/>
          <p:nvPr/>
        </p:nvSpPr>
        <p:spPr>
          <a:xfrm>
            <a:off x="2999232" y="1920240"/>
            <a:ext cx="1737360" cy="411480"/>
          </a:xfrm>
          <a:prstGeom prst="rect">
            <a:avLst/>
          </a:prstGeom>
          <a:noFill/>
          <a:ln/>
        </p:spPr>
        <p:txBody>
          <a:bodyPr wrap="square" lIns="0" tIns="0" rIns="0" bIns="0" rtlCol="0" anchor="t"/>
          <a:lstStyle/>
          <a:p>
            <a:pPr indent="0" marL="0">
              <a:buNone/>
            </a:pPr>
            <a:r>
              <a:rPr lang="en-US" sz="1700" b="1" dirty="0">
                <a:solidFill>
                  <a:srgbClr val="D9468F"/>
                </a:solidFill>
                <a:latin typeface="Arial" pitchFamily="34" charset="0"/>
                <a:ea typeface="Arial" pitchFamily="34" charset="-122"/>
                <a:cs typeface="Arial" pitchFamily="34" charset="-120"/>
              </a:rPr>
              <a:t>Money</a:t>
            </a:r>
            <a:endParaRPr lang="en-US" sz="1700" dirty="0"/>
          </a:p>
        </p:txBody>
      </p:sp>
      <p:sp>
        <p:nvSpPr>
          <p:cNvPr id="10" name="Text 359"/>
          <p:cNvSpPr/>
          <p:nvPr/>
        </p:nvSpPr>
        <p:spPr>
          <a:xfrm>
            <a:off x="2999232" y="2423160"/>
            <a:ext cx="1783080" cy="320040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Payment, GatewayCharge (Paynow)</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Wallet, WalletTransaction</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CoinLedger, WithdrawalRequest</a:t>
            </a:r>
            <a:endParaRPr lang="en-US" sz="1250" dirty="0"/>
          </a:p>
        </p:txBody>
      </p:sp>
      <p:sp>
        <p:nvSpPr>
          <p:cNvPr id="11" name="Card 360"/>
          <p:cNvSpPr/>
          <p:nvPr/>
        </p:nvSpPr>
        <p:spPr>
          <a:xfrm>
            <a:off x="5084064" y="1783080"/>
            <a:ext cx="2103120" cy="393192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2" name="Text 361"/>
          <p:cNvSpPr/>
          <p:nvPr/>
        </p:nvSpPr>
        <p:spPr>
          <a:xfrm>
            <a:off x="5266944" y="1920240"/>
            <a:ext cx="1737360" cy="411480"/>
          </a:xfrm>
          <a:prstGeom prst="rect">
            <a:avLst/>
          </a:prstGeom>
          <a:noFill/>
          <a:ln/>
        </p:spPr>
        <p:txBody>
          <a:bodyPr wrap="square" lIns="0" tIns="0" rIns="0" bIns="0" rtlCol="0" anchor="t"/>
          <a:lstStyle/>
          <a:p>
            <a:pPr indent="0" marL="0">
              <a:buNone/>
            </a:pPr>
            <a:r>
              <a:rPr lang="en-US" sz="1700" b="1" dirty="0">
                <a:solidFill>
                  <a:srgbClr val="0B7A75"/>
                </a:solidFill>
                <a:latin typeface="Arial" pitchFamily="34" charset="0"/>
                <a:ea typeface="Arial" pitchFamily="34" charset="-122"/>
                <a:cs typeface="Arial" pitchFamily="34" charset="-120"/>
              </a:rPr>
              <a:t>Safety</a:t>
            </a:r>
            <a:endParaRPr lang="en-US" sz="1700" dirty="0"/>
          </a:p>
        </p:txBody>
      </p:sp>
      <p:sp>
        <p:nvSpPr>
          <p:cNvPr id="13" name="Text 362"/>
          <p:cNvSpPr/>
          <p:nvPr/>
        </p:nvSpPr>
        <p:spPr>
          <a:xfrm>
            <a:off x="5266944" y="2423160"/>
            <a:ext cx="1783080" cy="320040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EmergencyRecord, EmergencyToken</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TripShare, Dispute, Appeal</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SupportTicket</a:t>
            </a:r>
            <a:endParaRPr lang="en-US" sz="1250" dirty="0"/>
          </a:p>
        </p:txBody>
      </p:sp>
      <p:sp>
        <p:nvSpPr>
          <p:cNvPr id="14" name="Card 363"/>
          <p:cNvSpPr/>
          <p:nvPr/>
        </p:nvSpPr>
        <p:spPr>
          <a:xfrm>
            <a:off x="7351776" y="1783080"/>
            <a:ext cx="2103120" cy="393192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5" name="Text 364"/>
          <p:cNvSpPr/>
          <p:nvPr/>
        </p:nvSpPr>
        <p:spPr>
          <a:xfrm>
            <a:off x="7534656" y="1920240"/>
            <a:ext cx="1737360" cy="411480"/>
          </a:xfrm>
          <a:prstGeom prst="rect">
            <a:avLst/>
          </a:prstGeom>
          <a:noFill/>
          <a:ln/>
        </p:spPr>
        <p:txBody>
          <a:bodyPr wrap="square" lIns="0" tIns="0" rIns="0" bIns="0" rtlCol="0" anchor="t"/>
          <a:lstStyle/>
          <a:p>
            <a:pPr indent="0" marL="0">
              <a:buNone/>
            </a:pPr>
            <a:r>
              <a:rPr lang="en-US" sz="1700" b="1" dirty="0">
                <a:solidFill>
                  <a:srgbClr val="D9468F"/>
                </a:solidFill>
                <a:latin typeface="Arial" pitchFamily="34" charset="0"/>
                <a:ea typeface="Arial" pitchFamily="34" charset="-122"/>
                <a:cs typeface="Arial" pitchFamily="34" charset="-120"/>
              </a:rPr>
              <a:t>Admin</a:t>
            </a:r>
            <a:endParaRPr lang="en-US" sz="1700" dirty="0"/>
          </a:p>
        </p:txBody>
      </p:sp>
      <p:sp>
        <p:nvSpPr>
          <p:cNvPr id="16" name="Text 365"/>
          <p:cNvSpPr/>
          <p:nvPr/>
        </p:nvSpPr>
        <p:spPr>
          <a:xfrm>
            <a:off x="7534656" y="2423160"/>
            <a:ext cx="1783080" cy="320040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AdminAuditLog, AdminNote</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PlatformSettings (two-admin changes)</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AlertRule, ReportSchedule</a:t>
            </a:r>
            <a:endParaRPr lang="en-US" sz="1250" dirty="0"/>
          </a:p>
        </p:txBody>
      </p:sp>
      <p:sp>
        <p:nvSpPr>
          <p:cNvPr id="17" name="Card 366"/>
          <p:cNvSpPr/>
          <p:nvPr/>
        </p:nvSpPr>
        <p:spPr>
          <a:xfrm>
            <a:off x="9619488" y="1783080"/>
            <a:ext cx="2103120" cy="3931920"/>
          </a:xfrm>
          <a:prstGeom prst="roundRect">
            <a:avLst>
              <a:gd name="adj" fmla="val 52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8" name="Text 367"/>
          <p:cNvSpPr/>
          <p:nvPr/>
        </p:nvSpPr>
        <p:spPr>
          <a:xfrm>
            <a:off x="9802368" y="1920240"/>
            <a:ext cx="1737360" cy="411480"/>
          </a:xfrm>
          <a:prstGeom prst="rect">
            <a:avLst/>
          </a:prstGeom>
          <a:noFill/>
          <a:ln/>
        </p:spPr>
        <p:txBody>
          <a:bodyPr wrap="square" lIns="0" tIns="0" rIns="0" bIns="0" rtlCol="0" anchor="t"/>
          <a:lstStyle/>
          <a:p>
            <a:pPr indent="0" marL="0">
              <a:buNone/>
            </a:pPr>
            <a:r>
              <a:rPr lang="en-US" sz="1700" b="1" dirty="0">
                <a:solidFill>
                  <a:srgbClr val="0B7A75"/>
                </a:solidFill>
                <a:latin typeface="Arial" pitchFamily="34" charset="0"/>
                <a:ea typeface="Arial" pitchFamily="34" charset="-122"/>
                <a:cs typeface="Arial" pitchFamily="34" charset="-120"/>
              </a:rPr>
              <a:t>Pooling</a:t>
            </a:r>
            <a:endParaRPr lang="en-US" sz="1700" dirty="0"/>
          </a:p>
        </p:txBody>
      </p:sp>
      <p:sp>
        <p:nvSpPr>
          <p:cNvPr id="19" name="Text 368"/>
          <p:cNvSpPr/>
          <p:nvPr/>
        </p:nvSpPr>
        <p:spPr>
          <a:xfrm>
            <a:off x="9802368" y="2423160"/>
            <a:ext cx="1783080" cy="320040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ParcelPooling (codes, photos, claims)</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Trip (members, votes, expenses)</a:t>
            </a:r>
            <a:endParaRPr lang="en-US" sz="1250" dirty="0"/>
          </a:p>
          <a:p>
            <a:pPr marL="203200" indent="-203200">
              <a:spcAft>
                <a:spcPts val="900"/>
              </a:spcAft>
              <a:buSzPct val="100000"/>
              <a:buChar char="•"/>
            </a:pPr>
            <a:r>
              <a:rPr lang="en-US" sz="1250" dirty="0">
                <a:solidFill>
                  <a:srgbClr val="1F2330"/>
                </a:solidFill>
                <a:latin typeface="Calibri" pitchFamily="34" charset="0"/>
                <a:ea typeface="Calibri" pitchFamily="34" charset="-122"/>
                <a:cs typeface="Calibri" pitchFamily="34" charset="-120"/>
              </a:rPr>
              <a:t>RideAlert, SavedRoute</a:t>
            </a:r>
            <a:endParaRPr lang="en-US" sz="1250" dirty="0"/>
          </a:p>
        </p:txBody>
      </p:sp>
      <p:pic>
        <p:nvPicPr>
          <p:cNvPr id="20" name="Mark 369"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21" name="Text 17"/>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21</a:t>
            </a:r>
            <a:endParaRPr lang="en-US" sz="1100" dirty="0"/>
          </a:p>
        </p:txBody>
      </p:sp>
      <p:sp>
        <p:nvSpPr>
          <p:cNvPr id="22" name="Text 18"/>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8" fill="hold">
                      <p:stCondLst>
                        <p:cond delay="indefinite"/>
                        <p:cond evt="onBegin" delay="0">
                          <p:tn val="2"/>
                        </p:cond>
                      </p:stCondLst>
                      <p:childTnLst>
                        <p:par>
                          <p:cTn id="79"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13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13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3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26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26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26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39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9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additive="base">
                                        <p:cTn id="56" dur="500" fill="hold"/>
                                        <p:tgtEl>
                                          <p:spTgt spid="15"/>
                                        </p:tgtEl>
                                        <p:attrNameLst>
                                          <p:attrName>ppt_x</p:attrName>
                                        </p:attrNameLst>
                                      </p:cBhvr>
                                      <p:tavLst>
                                        <p:tav tm="0">
                                          <p:val>
                                            <p:strVal val="#ppt_x"/>
                                          </p:val>
                                        </p:tav>
                                        <p:tav tm="100000">
                                          <p:val>
                                            <p:strVal val="#ppt_x"/>
                                          </p:val>
                                        </p:tav>
                                      </p:tavLst>
                                    </p:anim>
                                    <p:anim calcmode="lin" valueType="num">
                                      <p:cBhvr additive="base">
                                        <p:cTn id="57" dur="500" fill="hold"/>
                                        <p:tgtEl>
                                          <p:spTgt spid="1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9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52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52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52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3" name="Title 370"/>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Testing and results</a:t>
            </a:r>
            <a:endParaRPr lang="en-US" sz="3000" dirty="0"/>
          </a:p>
        </p:txBody>
      </p:sp>
      <p:sp>
        <p:nvSpPr>
          <p:cNvPr id="4" name="Card 371"/>
          <p:cNvSpPr/>
          <p:nvPr/>
        </p:nvSpPr>
        <p:spPr>
          <a:xfrm>
            <a:off x="548640" y="1280160"/>
            <a:ext cx="2606040" cy="1554480"/>
          </a:xfrm>
          <a:prstGeom prst="roundRect">
            <a:avLst>
              <a:gd name="adj" fmla="val 705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5" name="Text 372"/>
          <p:cNvSpPr/>
          <p:nvPr/>
        </p:nvSpPr>
        <p:spPr>
          <a:xfrm>
            <a:off x="777240" y="1371600"/>
            <a:ext cx="2194560" cy="731520"/>
          </a:xfrm>
          <a:prstGeom prst="rect">
            <a:avLst/>
          </a:prstGeom>
          <a:noFill/>
          <a:ln/>
        </p:spPr>
        <p:txBody>
          <a:bodyPr wrap="square" lIns="0" tIns="0" rIns="0" bIns="0" rtlCol="0" anchor="t"/>
          <a:lstStyle/>
          <a:p>
            <a:pPr indent="0" marL="0">
              <a:buNone/>
            </a:pPr>
            <a:r>
              <a:rPr lang="en-US" sz="3800" b="1" dirty="0">
                <a:solidFill>
                  <a:srgbClr val="0B7A75"/>
                </a:solidFill>
                <a:latin typeface="Arial" pitchFamily="34" charset="0"/>
                <a:ea typeface="Arial" pitchFamily="34" charset="-122"/>
                <a:cs typeface="Arial" pitchFamily="34" charset="-120"/>
              </a:rPr>
              <a:t>410</a:t>
            </a:r>
            <a:endParaRPr lang="en-US" sz="3800" dirty="0"/>
          </a:p>
        </p:txBody>
      </p:sp>
      <p:sp>
        <p:nvSpPr>
          <p:cNvPr id="6" name="Text 373"/>
          <p:cNvSpPr/>
          <p:nvPr/>
        </p:nvSpPr>
        <p:spPr>
          <a:xfrm>
            <a:off x="777240" y="2103120"/>
            <a:ext cx="2194560" cy="6858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backend tests</a:t>
            </a:r>
            <a:endParaRPr lang="en-US" sz="1400" dirty="0"/>
          </a:p>
          <a:p>
            <a:pPr indent="0" marL="0">
              <a:buNone/>
            </a:pPr>
            <a:r>
              <a:rPr lang="en-US" sz="1200" dirty="0">
                <a:solidFill>
                  <a:srgbClr val="5B6475"/>
                </a:solidFill>
                <a:latin typeface="Calibri" pitchFamily="34" charset="0"/>
                <a:ea typeface="Calibri" pitchFamily="34" charset="-122"/>
                <a:cs typeface="Calibri" pitchFamily="34" charset="-120"/>
              </a:rPr>
              <a:t>58 suites, all passing</a:t>
            </a:r>
            <a:endParaRPr lang="en-US" sz="1400" dirty="0"/>
          </a:p>
        </p:txBody>
      </p:sp>
      <p:sp>
        <p:nvSpPr>
          <p:cNvPr id="7" name="Card 374"/>
          <p:cNvSpPr/>
          <p:nvPr/>
        </p:nvSpPr>
        <p:spPr>
          <a:xfrm>
            <a:off x="3364992" y="1280160"/>
            <a:ext cx="2606040" cy="1554480"/>
          </a:xfrm>
          <a:prstGeom prst="roundRect">
            <a:avLst>
              <a:gd name="adj" fmla="val 705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8" name="Text 375"/>
          <p:cNvSpPr/>
          <p:nvPr/>
        </p:nvSpPr>
        <p:spPr>
          <a:xfrm>
            <a:off x="3593592" y="1371600"/>
            <a:ext cx="2194560" cy="731520"/>
          </a:xfrm>
          <a:prstGeom prst="rect">
            <a:avLst/>
          </a:prstGeom>
          <a:noFill/>
          <a:ln/>
        </p:spPr>
        <p:txBody>
          <a:bodyPr wrap="square" lIns="0" tIns="0" rIns="0" bIns="0" rtlCol="0" anchor="t"/>
          <a:lstStyle/>
          <a:p>
            <a:pPr indent="0" marL="0">
              <a:buNone/>
            </a:pPr>
            <a:r>
              <a:rPr lang="en-US" sz="3800" b="1" dirty="0">
                <a:solidFill>
                  <a:srgbClr val="0B7A75"/>
                </a:solidFill>
                <a:latin typeface="Arial" pitchFamily="34" charset="0"/>
                <a:ea typeface="Arial" pitchFamily="34" charset="-122"/>
                <a:cs typeface="Arial" pitchFamily="34" charset="-120"/>
              </a:rPr>
              <a:t>116</a:t>
            </a:r>
            <a:endParaRPr lang="en-US" sz="3800" dirty="0"/>
          </a:p>
        </p:txBody>
      </p:sp>
      <p:sp>
        <p:nvSpPr>
          <p:cNvPr id="9" name="Text 376"/>
          <p:cNvSpPr/>
          <p:nvPr/>
        </p:nvSpPr>
        <p:spPr>
          <a:xfrm>
            <a:off x="3593592" y="2103120"/>
            <a:ext cx="2194560" cy="6858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mobile app tests</a:t>
            </a:r>
            <a:endParaRPr lang="en-US" sz="1400" dirty="0"/>
          </a:p>
          <a:p>
            <a:pPr indent="0" marL="0">
              <a:buNone/>
            </a:pPr>
            <a:r>
              <a:rPr lang="en-US" sz="1200" dirty="0">
                <a:solidFill>
                  <a:srgbClr val="5B6475"/>
                </a:solidFill>
                <a:latin typeface="Calibri" pitchFamily="34" charset="0"/>
                <a:ea typeface="Calibri" pitchFamily="34" charset="-122"/>
                <a:cs typeface="Calibri" pitchFamily="34" charset="-120"/>
              </a:rPr>
              <a:t>34 suites, all passing</a:t>
            </a:r>
            <a:endParaRPr lang="en-US" sz="1400" dirty="0"/>
          </a:p>
        </p:txBody>
      </p:sp>
      <p:sp>
        <p:nvSpPr>
          <p:cNvPr id="10" name="Card 377"/>
          <p:cNvSpPr/>
          <p:nvPr/>
        </p:nvSpPr>
        <p:spPr>
          <a:xfrm>
            <a:off x="6181344" y="1280160"/>
            <a:ext cx="2606040" cy="1554480"/>
          </a:xfrm>
          <a:prstGeom prst="roundRect">
            <a:avLst>
              <a:gd name="adj" fmla="val 705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1" name="Text 378"/>
          <p:cNvSpPr/>
          <p:nvPr/>
        </p:nvSpPr>
        <p:spPr>
          <a:xfrm>
            <a:off x="6409944" y="1371600"/>
            <a:ext cx="2194560" cy="731520"/>
          </a:xfrm>
          <a:prstGeom prst="rect">
            <a:avLst/>
          </a:prstGeom>
          <a:noFill/>
          <a:ln/>
        </p:spPr>
        <p:txBody>
          <a:bodyPr wrap="square" lIns="0" tIns="0" rIns="0" bIns="0" rtlCol="0" anchor="t"/>
          <a:lstStyle/>
          <a:p>
            <a:pPr indent="0" marL="0">
              <a:buNone/>
            </a:pPr>
            <a:r>
              <a:rPr lang="en-US" sz="3800" b="1" dirty="0">
                <a:solidFill>
                  <a:srgbClr val="0B7A75"/>
                </a:solidFill>
                <a:latin typeface="Arial" pitchFamily="34" charset="0"/>
                <a:ea typeface="Arial" pitchFamily="34" charset="-122"/>
                <a:cs typeface="Arial" pitchFamily="34" charset="-120"/>
              </a:rPr>
              <a:t>9</a:t>
            </a:r>
            <a:endParaRPr lang="en-US" sz="3800" dirty="0"/>
          </a:p>
        </p:txBody>
      </p:sp>
      <p:sp>
        <p:nvSpPr>
          <p:cNvPr id="12" name="Text 379"/>
          <p:cNvSpPr/>
          <p:nvPr/>
        </p:nvSpPr>
        <p:spPr>
          <a:xfrm>
            <a:off x="6409944" y="2103120"/>
            <a:ext cx="2194560" cy="6858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admin web tests</a:t>
            </a:r>
            <a:endParaRPr lang="en-US" sz="1400" dirty="0"/>
          </a:p>
          <a:p>
            <a:pPr indent="0" marL="0">
              <a:buNone/>
            </a:pPr>
            <a:r>
              <a:rPr lang="en-US" sz="1200" dirty="0">
                <a:solidFill>
                  <a:srgbClr val="5B6475"/>
                </a:solidFill>
                <a:latin typeface="Calibri" pitchFamily="34" charset="0"/>
                <a:ea typeface="Calibri" pitchFamily="34" charset="-122"/>
                <a:cs typeface="Calibri" pitchFamily="34" charset="-120"/>
              </a:rPr>
              <a:t>Vitest</a:t>
            </a:r>
            <a:endParaRPr lang="en-US" sz="1400" dirty="0"/>
          </a:p>
        </p:txBody>
      </p:sp>
      <p:sp>
        <p:nvSpPr>
          <p:cNvPr id="13" name="Card 380"/>
          <p:cNvSpPr/>
          <p:nvPr/>
        </p:nvSpPr>
        <p:spPr>
          <a:xfrm>
            <a:off x="8997696" y="1280160"/>
            <a:ext cx="2606040" cy="1554480"/>
          </a:xfrm>
          <a:prstGeom prst="roundRect">
            <a:avLst>
              <a:gd name="adj" fmla="val 705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4" name="Text 381"/>
          <p:cNvSpPr/>
          <p:nvPr/>
        </p:nvSpPr>
        <p:spPr>
          <a:xfrm>
            <a:off x="9226296" y="1371600"/>
            <a:ext cx="2194560" cy="731520"/>
          </a:xfrm>
          <a:prstGeom prst="rect">
            <a:avLst/>
          </a:prstGeom>
          <a:noFill/>
          <a:ln/>
        </p:spPr>
        <p:txBody>
          <a:bodyPr wrap="square" lIns="0" tIns="0" rIns="0" bIns="0" rtlCol="0" anchor="t"/>
          <a:lstStyle/>
          <a:p>
            <a:pPr indent="0" marL="0">
              <a:buNone/>
            </a:pPr>
            <a:r>
              <a:rPr lang="en-US" sz="3800" b="1" dirty="0">
                <a:solidFill>
                  <a:srgbClr val="D9468F"/>
                </a:solidFill>
                <a:latin typeface="Arial" pitchFamily="34" charset="0"/>
                <a:ea typeface="Arial" pitchFamily="34" charset="-122"/>
                <a:cs typeface="Arial" pitchFamily="34" charset="-120"/>
              </a:rPr>
              <a:t>68k</a:t>
            </a:r>
            <a:endParaRPr lang="en-US" sz="3800" dirty="0"/>
          </a:p>
        </p:txBody>
      </p:sp>
      <p:sp>
        <p:nvSpPr>
          <p:cNvPr id="15" name="Text 382"/>
          <p:cNvSpPr/>
          <p:nvPr/>
        </p:nvSpPr>
        <p:spPr>
          <a:xfrm>
            <a:off x="9226296" y="2103120"/>
            <a:ext cx="2194560" cy="685800"/>
          </a:xfrm>
          <a:prstGeom prst="rect">
            <a:avLst/>
          </a:prstGeom>
          <a:noFill/>
          <a:ln/>
        </p:spPr>
        <p:txBody>
          <a:bodyPr wrap="square" lIns="0" tIns="0" rIns="0" bIns="0" rtlCol="0" anchor="t"/>
          <a:lstStyle/>
          <a:p>
            <a:pPr indent="0" marL="0">
              <a:buNone/>
            </a:pPr>
            <a:r>
              <a:rPr lang="en-US" sz="1400" b="1" dirty="0">
                <a:solidFill>
                  <a:srgbClr val="1F2330"/>
                </a:solidFill>
                <a:latin typeface="Calibri" pitchFamily="34" charset="0"/>
                <a:ea typeface="Calibri" pitchFamily="34" charset="-122"/>
                <a:cs typeface="Calibri" pitchFamily="34" charset="-120"/>
              </a:rPr>
              <a:t>lines of code</a:t>
            </a:r>
            <a:endParaRPr lang="en-US" sz="1400" dirty="0"/>
          </a:p>
          <a:p>
            <a:pPr indent="0" marL="0">
              <a:buNone/>
            </a:pPr>
            <a:r>
              <a:rPr lang="en-US" sz="1200" dirty="0">
                <a:solidFill>
                  <a:srgbClr val="5B6475"/>
                </a:solidFill>
                <a:latin typeface="Calibri" pitchFamily="34" charset="0"/>
                <a:ea typeface="Calibri" pitchFamily="34" charset="-122"/>
                <a:cs typeface="Calibri" pitchFamily="34" charset="-120"/>
              </a:rPr>
              <a:t>TypeScript and Python</a:t>
            </a:r>
            <a:endParaRPr lang="en-US" sz="1400" dirty="0"/>
          </a:p>
        </p:txBody>
      </p:sp>
      <p:sp>
        <p:nvSpPr>
          <p:cNvPr id="16" name="Text 383"/>
          <p:cNvSpPr/>
          <p:nvPr/>
        </p:nvSpPr>
        <p:spPr>
          <a:xfrm>
            <a:off x="548640" y="3154680"/>
            <a:ext cx="5760720" cy="2651760"/>
          </a:xfrm>
          <a:prstGeom prst="rect">
            <a:avLst/>
          </a:prstGeom>
          <a:noFill/>
          <a:ln/>
        </p:spPr>
        <p:txBody>
          <a:bodyPr wrap="square" lIns="0" tIns="0" rIns="0" bIns="0" rtlCol="0" anchor="t"/>
          <a:lstStyle/>
          <a:p>
            <a:pPr marL="203200" indent="-203200">
              <a:spcAft>
                <a:spcPts val="700"/>
              </a:spcAft>
              <a:buSzPct val="100000"/>
              <a:buChar char="•"/>
            </a:pPr>
            <a:r>
              <a:rPr lang="en-US" sz="1450" dirty="0">
                <a:solidFill>
                  <a:srgbClr val="1F2330"/>
                </a:solidFill>
                <a:latin typeface="Calibri" pitchFamily="34" charset="0"/>
                <a:ea typeface="Calibri" pitchFamily="34" charset="-122"/>
                <a:cs typeface="Calibri" pitchFamily="34" charset="-120"/>
              </a:rPr>
              <a:t>Jest unit and integration tests on a real in-memory MongoDB; money flows tested end to end</a:t>
            </a:r>
            <a:endParaRPr lang="en-US" sz="1450" dirty="0"/>
          </a:p>
          <a:p>
            <a:pPr marL="203200" indent="-203200">
              <a:spcAft>
                <a:spcPts val="700"/>
              </a:spcAft>
              <a:buSzPct val="100000"/>
              <a:buChar char="•"/>
            </a:pPr>
            <a:r>
              <a:rPr lang="en-US" sz="1450" dirty="0">
                <a:solidFill>
                  <a:srgbClr val="1F2330"/>
                </a:solidFill>
                <a:latin typeface="Calibri" pitchFamily="34" charset="0"/>
                <a:ea typeface="Calibri" pitchFamily="34" charset="-122"/>
                <a:cs typeface="Calibri" pitchFamily="34" charset="-120"/>
              </a:rPr>
              <a:t>Vitest for the admin web; TypeScript, ESLint and tests in CI</a:t>
            </a:r>
            <a:endParaRPr lang="en-US" sz="1450" dirty="0"/>
          </a:p>
          <a:p>
            <a:pPr marL="203200" indent="-203200">
              <a:spcAft>
                <a:spcPts val="700"/>
              </a:spcAft>
              <a:buSzPct val="100000"/>
              <a:buChar char="•"/>
            </a:pPr>
            <a:r>
              <a:rPr lang="en-US" sz="1450" dirty="0">
                <a:solidFill>
                  <a:srgbClr val="1F2330"/>
                </a:solidFill>
                <a:latin typeface="Calibri" pitchFamily="34" charset="0"/>
                <a:ea typeface="Calibri" pitchFamily="34" charset="-122"/>
                <a:cs typeface="Calibri" pitchFamily="34" charset="-120"/>
              </a:rPr>
              <a:t>Ride simulator: a bot driver or rider for a full trip on one phone</a:t>
            </a:r>
            <a:endParaRPr lang="en-US" sz="1450" dirty="0"/>
          </a:p>
          <a:p>
            <a:pPr marL="203200" indent="-203200">
              <a:spcAft>
                <a:spcPts val="700"/>
              </a:spcAft>
              <a:buSzPct val="100000"/>
              <a:buChar char="•"/>
            </a:pPr>
            <a:r>
              <a:rPr lang="en-US" sz="1450" dirty="0">
                <a:solidFill>
                  <a:srgbClr val="1F2330"/>
                </a:solidFill>
                <a:latin typeface="Calibri" pitchFamily="34" charset="0"/>
                <a:ea typeface="Calibri" pitchFamily="34" charset="-122"/>
                <a:cs typeface="Calibri" pitchFamily="34" charset="-120"/>
              </a:rPr>
              <a:t>Android emulator runs: sign-in, booking, Paynow screens, live ride, account closure</a:t>
            </a:r>
            <a:endParaRPr lang="en-US" sz="1450" dirty="0"/>
          </a:p>
        </p:txBody>
      </p:sp>
      <p:sp>
        <p:nvSpPr>
          <p:cNvPr id="17" name="Card 384"/>
          <p:cNvSpPr/>
          <p:nvPr/>
        </p:nvSpPr>
        <p:spPr>
          <a:xfrm>
            <a:off x="6583680" y="3063240"/>
            <a:ext cx="5074920" cy="2834640"/>
          </a:xfrm>
          <a:prstGeom prst="roundRect">
            <a:avLst>
              <a:gd name="adj" fmla="val 3871"/>
            </a:avLst>
          </a:prstGeom>
          <a:solidFill>
            <a:srgbClr val="FBE3EF"/>
          </a:solidFill>
          <a:ln w="9525">
            <a:solidFill>
              <a:srgbClr val="F2C4DA"/>
            </a:solidFill>
            <a:prstDash val="solid"/>
          </a:ln>
          <a:effectLst>
            <a:outerShdw sx="100000" sy="100000" kx="0" ky="0" algn="bl" rotWithShape="0" blurRad="76200" dist="25400" dir="5400000">
              <a:srgbClr val="000000">
                <a:alpha val="8000"/>
              </a:srgbClr>
            </a:outerShdw>
          </a:effectLst>
        </p:spPr>
      </p:sp>
      <p:sp>
        <p:nvSpPr>
          <p:cNvPr id="18" name="Text 385"/>
          <p:cNvSpPr/>
          <p:nvPr/>
        </p:nvSpPr>
        <p:spPr>
          <a:xfrm>
            <a:off x="6812280" y="3200400"/>
            <a:ext cx="4663440" cy="365760"/>
          </a:xfrm>
          <a:prstGeom prst="rect">
            <a:avLst/>
          </a:prstGeom>
          <a:noFill/>
          <a:ln/>
        </p:spPr>
        <p:txBody>
          <a:bodyPr wrap="square" lIns="0" tIns="0" rIns="0" bIns="0" rtlCol="0" anchor="t"/>
          <a:lstStyle/>
          <a:p>
            <a:pPr indent="0" marL="0">
              <a:buNone/>
            </a:pPr>
            <a:r>
              <a:rPr lang="en-US" sz="1450" b="1" dirty="0">
                <a:solidFill>
                  <a:srgbClr val="1B1446"/>
                </a:solidFill>
                <a:latin typeface="Arial" pitchFamily="34" charset="0"/>
                <a:ea typeface="Arial" pitchFamily="34" charset="-122"/>
                <a:cs typeface="Arial" pitchFamily="34" charset="-120"/>
              </a:rPr>
              <a:t>Found by running the app, then fixed with a test</a:t>
            </a:r>
            <a:endParaRPr lang="en-US" sz="1450" dirty="0"/>
          </a:p>
        </p:txBody>
      </p:sp>
      <p:sp>
        <p:nvSpPr>
          <p:cNvPr id="19" name="Text 386"/>
          <p:cNvSpPr/>
          <p:nvPr/>
        </p:nvSpPr>
        <p:spPr>
          <a:xfrm>
            <a:off x="6812280" y="3611880"/>
            <a:ext cx="4663440" cy="219456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1F2330"/>
                </a:solidFill>
                <a:latin typeface="Calibri" pitchFamily="34" charset="0"/>
                <a:ea typeface="Calibri" pitchFamily="34" charset="-122"/>
                <a:cs typeface="Calibri" pitchFamily="34" charset="-120"/>
              </a:rPr>
              <a:t>Posting any ride crashed (a recursive event payload)</a:t>
            </a:r>
            <a:endParaRPr lang="en-US" sz="1300" dirty="0"/>
          </a:p>
          <a:p>
            <a:pPr marL="203200" indent="-203200">
              <a:spcAft>
                <a:spcPts val="700"/>
              </a:spcAft>
              <a:buSzPct val="100000"/>
              <a:buChar char="•"/>
            </a:pPr>
            <a:r>
              <a:rPr lang="en-US" sz="1300" dirty="0">
                <a:solidFill>
                  <a:srgbClr val="1F2330"/>
                </a:solidFill>
                <a:latin typeface="Calibri" pitchFamily="34" charset="0"/>
                <a:ea typeface="Calibri" pitchFamily="34" charset="-122"/>
                <a:cs typeface="Calibri" pitchFamily="34" charset="-120"/>
              </a:rPr>
              <a:t>Rate limits per IP would lock out users behind carrier NAT</a:t>
            </a:r>
            <a:endParaRPr lang="en-US" sz="1300" dirty="0"/>
          </a:p>
          <a:p>
            <a:pPr marL="203200" indent="-203200">
              <a:spcAft>
                <a:spcPts val="700"/>
              </a:spcAft>
              <a:buSzPct val="100000"/>
              <a:buChar char="•"/>
            </a:pPr>
            <a:r>
              <a:rPr lang="en-US" sz="1300" dirty="0">
                <a:solidFill>
                  <a:srgbClr val="1F2330"/>
                </a:solidFill>
                <a:latin typeface="Calibri" pitchFamily="34" charset="0"/>
                <a:ea typeface="Calibri" pitchFamily="34" charset="-122"/>
                <a:cs typeface="Calibri" pitchFamily="34" charset="-120"/>
              </a:rPr>
              <a:t>A payment landing as a request expired was never refunded</a:t>
            </a:r>
            <a:endParaRPr lang="en-US" sz="1300" dirty="0"/>
          </a:p>
          <a:p>
            <a:pPr marL="203200" indent="-203200">
              <a:spcAft>
                <a:spcPts val="700"/>
              </a:spcAft>
              <a:buSzPct val="100000"/>
              <a:buChar char="•"/>
            </a:pPr>
            <a:r>
              <a:rPr lang="en-US" sz="1300" dirty="0">
                <a:solidFill>
                  <a:srgbClr val="1F2330"/>
                </a:solidFill>
                <a:latin typeface="Calibri" pitchFamily="34" charset="0"/>
                <a:ea typeface="Calibri" pitchFamily="34" charset="-122"/>
                <a:cs typeface="Calibri" pitchFamily="34" charset="-120"/>
              </a:rPr>
              <a:t>Under-18 sign-ups; no way to close an account</a:t>
            </a:r>
            <a:endParaRPr lang="en-US" sz="1300" dirty="0"/>
          </a:p>
          <a:p>
            <a:pPr marL="203200" indent="-203200">
              <a:spcAft>
                <a:spcPts val="700"/>
              </a:spcAft>
              <a:buSzPct val="100000"/>
              <a:buChar char="•"/>
            </a:pPr>
            <a:r>
              <a:rPr lang="en-US" sz="1300" dirty="0">
                <a:solidFill>
                  <a:srgbClr val="1F2330"/>
                </a:solidFill>
                <a:latin typeface="Calibri" pitchFamily="34" charset="0"/>
                <a:ea typeface="Calibri" pitchFamily="34" charset="-122"/>
                <a:cs typeface="Calibri" pitchFamily="34" charset="-120"/>
              </a:rPr>
              <a:t>Same-day cancellations lost the whole fare</a:t>
            </a:r>
            <a:endParaRPr lang="en-US" sz="1300" dirty="0"/>
          </a:p>
        </p:txBody>
      </p:sp>
      <p:pic>
        <p:nvPicPr>
          <p:cNvPr id="20" name="Mark 387"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21" name="Text 17"/>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22</a:t>
            </a:r>
            <a:endParaRPr lang="en-US" sz="1100" dirty="0"/>
          </a:p>
        </p:txBody>
      </p:sp>
      <p:sp>
        <p:nvSpPr>
          <p:cNvPr id="22" name="Text 18"/>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8" fill="hold">
                      <p:stCondLst>
                        <p:cond delay="indefinite"/>
                        <p:cond evt="onBegin" delay="0">
                          <p:tn val="2"/>
                        </p:cond>
                      </p:stCondLst>
                      <p:childTnLst>
                        <p:par>
                          <p:cTn id="79"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 calcmode="lin" valueType="num">
                                      <p:cBhvr additive="base">
                                        <p:cTn id="5" dur="500" fill="hold"/>
                                        <p:tgtEl>
                                          <p:spTgt spid="4"/>
                                        </p:tgtEl>
                                        <p:attrNameLst>
                                          <p:attrName>ppt_w</p:attrName>
                                        </p:attrNameLst>
                                      </p:cBhvr>
                                      <p:tavLst>
                                        <p:tav tm="0">
                                          <p:val>
                                            <p:strVal val="0"/>
                                          </p:val>
                                        </p:tav>
                                        <p:tav tm="100000">
                                          <p:val>
                                            <p:strVal val="#ppt_w"/>
                                          </p:val>
                                        </p:tav>
                                      </p:tavLst>
                                    </p:anim>
                                    <p:anim calcmode="lin" valueType="num">
                                      <p:cBhvr additive="base">
                                        <p:cTn id="6" dur="500" fill="hold"/>
                                        <p:tgtEl>
                                          <p:spTgt spid="4"/>
                                        </p:tgtEl>
                                        <p:attrNameLst>
                                          <p:attrName>ppt_h</p:attrName>
                                        </p:attrNameLst>
                                      </p:cBhvr>
                                      <p:tavLst>
                                        <p:tav tm="0">
                                          <p:val>
                                            <p:strVal val="0"/>
                                          </p:val>
                                        </p:tav>
                                        <p:tav tm="100000">
                                          <p:val>
                                            <p:strVal val="#ppt_h"/>
                                          </p:val>
                                        </p:tav>
                                      </p:tavLst>
                                    </p:anim>
                                    <p:animEffect transition="in" filter="fade">
                                      <p:cBhvr>
                                        <p:cTn id="7" dur="500"/>
                                        <p:tgtEl>
                                          <p:spTgt spid="4"/>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ppt_w</p:attrName>
                                        </p:attrNameLst>
                                      </p:cBhvr>
                                      <p:tavLst>
                                        <p:tav tm="0">
                                          <p:val>
                                            <p:strVal val="0"/>
                                          </p:val>
                                        </p:tav>
                                        <p:tav tm="100000">
                                          <p:val>
                                            <p:strVal val="#ppt_w"/>
                                          </p:val>
                                        </p:tav>
                                      </p:tavLst>
                                    </p:anim>
                                    <p:anim calcmode="lin" valueType="num">
                                      <p:cBhvr additive="base">
                                        <p:cTn id="11" dur="500" fill="hold"/>
                                        <p:tgtEl>
                                          <p:spTgt spid="5"/>
                                        </p:tgtEl>
                                        <p:attrNameLst>
                                          <p:attrName>ppt_h</p:attrName>
                                        </p:attrNameLst>
                                      </p:cBhvr>
                                      <p:tavLst>
                                        <p:tav tm="0">
                                          <p:val>
                                            <p:strVal val="0"/>
                                          </p:val>
                                        </p:tav>
                                        <p:tav tm="100000">
                                          <p:val>
                                            <p:strVal val="#ppt_h"/>
                                          </p:val>
                                        </p:tav>
                                      </p:tavLst>
                                    </p:anim>
                                    <p:animEffect transition="in" filter="fade">
                                      <p:cBhvr>
                                        <p:cTn id="12" dur="500"/>
                                        <p:tgtEl>
                                          <p:spTgt spid="5"/>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ppt_w</p:attrName>
                                        </p:attrNameLst>
                                      </p:cBhvr>
                                      <p:tavLst>
                                        <p:tav tm="0">
                                          <p:val>
                                            <p:strVal val="0"/>
                                          </p:val>
                                        </p:tav>
                                        <p:tav tm="100000">
                                          <p:val>
                                            <p:strVal val="#ppt_w"/>
                                          </p:val>
                                        </p:tav>
                                      </p:tavLst>
                                    </p:anim>
                                    <p:anim calcmode="lin" valueType="num">
                                      <p:cBhvr additive="base">
                                        <p:cTn id="16" dur="500" fill="hold"/>
                                        <p:tgtEl>
                                          <p:spTgt spid="6"/>
                                        </p:tgtEl>
                                        <p:attrNameLst>
                                          <p:attrName>ppt_h</p:attrName>
                                        </p:attrNameLst>
                                      </p:cBhvr>
                                      <p:tavLst>
                                        <p:tav tm="0">
                                          <p:val>
                                            <p:strVal val="0"/>
                                          </p:val>
                                        </p:tav>
                                        <p:tav tm="100000">
                                          <p:val>
                                            <p:strVal val="#ppt_h"/>
                                          </p:val>
                                        </p:tav>
                                      </p:tavLst>
                                    </p:anim>
                                    <p:animEffect transition="in" filter="fade">
                                      <p:cBhvr>
                                        <p:cTn id="17" dur="500"/>
                                        <p:tgtEl>
                                          <p:spTgt spid="6"/>
                                        </p:tgtEl>
                                      </p:cBhvr>
                                    </p:animEffect>
                                  </p:childTnLst>
                                </p:cTn>
                              </p:par>
                              <p:par>
                                <p:cTn id="18" presetID="53" presetClass="entr" presetSubtype="16" fill="hold" grpId="0" nodeType="withEffect">
                                  <p:stCondLst>
                                    <p:cond delay="12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ppt_w</p:attrName>
                                        </p:attrNameLst>
                                      </p:cBhvr>
                                      <p:tavLst>
                                        <p:tav tm="0">
                                          <p:val>
                                            <p:strVal val="0"/>
                                          </p:val>
                                        </p:tav>
                                        <p:tav tm="100000">
                                          <p:val>
                                            <p:strVal val="#ppt_w"/>
                                          </p:val>
                                        </p:tav>
                                      </p:tavLst>
                                    </p:anim>
                                    <p:anim calcmode="lin" valueType="num">
                                      <p:cBhvr additive="base">
                                        <p:cTn id="21" dur="500" fill="hold"/>
                                        <p:tgtEl>
                                          <p:spTgt spid="7"/>
                                        </p:tgtEl>
                                        <p:attrNameLst>
                                          <p:attrName>ppt_h</p:attrName>
                                        </p:attrNameLst>
                                      </p:cBhvr>
                                      <p:tavLst>
                                        <p:tav tm="0">
                                          <p:val>
                                            <p:strVal val="0"/>
                                          </p:val>
                                        </p:tav>
                                        <p:tav tm="100000">
                                          <p:val>
                                            <p:strVal val="#ppt_h"/>
                                          </p:val>
                                        </p:tav>
                                      </p:tavLst>
                                    </p:anim>
                                    <p:animEffect transition="in" filter="fade">
                                      <p:cBhvr>
                                        <p:cTn id="22" dur="500"/>
                                        <p:tgtEl>
                                          <p:spTgt spid="7"/>
                                        </p:tgtEl>
                                      </p:cBhvr>
                                    </p:animEffect>
                                  </p:childTnLst>
                                </p:cTn>
                              </p:par>
                              <p:par>
                                <p:cTn id="23" presetID="53" presetClass="entr" presetSubtype="16" fill="hold" grpId="0" nodeType="withEffect">
                                  <p:stCondLst>
                                    <p:cond delay="12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ppt_w</p:attrName>
                                        </p:attrNameLst>
                                      </p:cBhvr>
                                      <p:tavLst>
                                        <p:tav tm="0">
                                          <p:val>
                                            <p:strVal val="0"/>
                                          </p:val>
                                        </p:tav>
                                        <p:tav tm="100000">
                                          <p:val>
                                            <p:strVal val="#ppt_w"/>
                                          </p:val>
                                        </p:tav>
                                      </p:tavLst>
                                    </p:anim>
                                    <p:anim calcmode="lin" valueType="num">
                                      <p:cBhvr additive="base">
                                        <p:cTn id="26" dur="500" fill="hold"/>
                                        <p:tgtEl>
                                          <p:spTgt spid="8"/>
                                        </p:tgtEl>
                                        <p:attrNameLst>
                                          <p:attrName>ppt_h</p:attrName>
                                        </p:attrNameLst>
                                      </p:cBhvr>
                                      <p:tavLst>
                                        <p:tav tm="0">
                                          <p:val>
                                            <p:strVal val="0"/>
                                          </p:val>
                                        </p:tav>
                                        <p:tav tm="100000">
                                          <p:val>
                                            <p:strVal val="#ppt_h"/>
                                          </p:val>
                                        </p:tav>
                                      </p:tavLst>
                                    </p:anim>
                                    <p:animEffect transition="in" filter="fade">
                                      <p:cBhvr>
                                        <p:cTn id="27" dur="500"/>
                                        <p:tgtEl>
                                          <p:spTgt spid="8"/>
                                        </p:tgtEl>
                                      </p:cBhvr>
                                    </p:animEffect>
                                  </p:childTnLst>
                                </p:cTn>
                              </p:par>
                              <p:par>
                                <p:cTn id="28" presetID="53" presetClass="entr" presetSubtype="16" fill="hold" grpId="0" nodeType="withEffect">
                                  <p:stCondLst>
                                    <p:cond delay="12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ppt_w</p:attrName>
                                        </p:attrNameLst>
                                      </p:cBhvr>
                                      <p:tavLst>
                                        <p:tav tm="0">
                                          <p:val>
                                            <p:strVal val="0"/>
                                          </p:val>
                                        </p:tav>
                                        <p:tav tm="100000">
                                          <p:val>
                                            <p:strVal val="#ppt_w"/>
                                          </p:val>
                                        </p:tav>
                                      </p:tavLst>
                                    </p:anim>
                                    <p:anim calcmode="lin" valueType="num">
                                      <p:cBhvr additive="base">
                                        <p:cTn id="31" dur="500" fill="hold"/>
                                        <p:tgtEl>
                                          <p:spTgt spid="9"/>
                                        </p:tgtEl>
                                        <p:attrNameLst>
                                          <p:attrName>ppt_h</p:attrName>
                                        </p:attrNameLst>
                                      </p:cBhvr>
                                      <p:tavLst>
                                        <p:tav tm="0">
                                          <p:val>
                                            <p:strVal val="0"/>
                                          </p:val>
                                        </p:tav>
                                        <p:tav tm="100000">
                                          <p:val>
                                            <p:strVal val="#ppt_h"/>
                                          </p:val>
                                        </p:tav>
                                      </p:tavLst>
                                    </p:anim>
                                    <p:animEffect transition="in" filter="fade">
                                      <p:cBhvr>
                                        <p:cTn id="32" dur="500"/>
                                        <p:tgtEl>
                                          <p:spTgt spid="9"/>
                                        </p:tgtEl>
                                      </p:cBhvr>
                                    </p:animEffect>
                                  </p:childTnLst>
                                </p:cTn>
                              </p:par>
                              <p:par>
                                <p:cTn id="33" presetID="53" presetClass="entr" presetSubtype="16" fill="hold" grpId="0" nodeType="withEffect">
                                  <p:stCondLst>
                                    <p:cond delay="24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ppt_w</p:attrName>
                                        </p:attrNameLst>
                                      </p:cBhvr>
                                      <p:tavLst>
                                        <p:tav tm="0">
                                          <p:val>
                                            <p:strVal val="0"/>
                                          </p:val>
                                        </p:tav>
                                        <p:tav tm="100000">
                                          <p:val>
                                            <p:strVal val="#ppt_w"/>
                                          </p:val>
                                        </p:tav>
                                      </p:tavLst>
                                    </p:anim>
                                    <p:anim calcmode="lin" valueType="num">
                                      <p:cBhvr additive="base">
                                        <p:cTn id="36" dur="500" fill="hold"/>
                                        <p:tgtEl>
                                          <p:spTgt spid="10"/>
                                        </p:tgtEl>
                                        <p:attrNameLst>
                                          <p:attrName>ppt_h</p:attrName>
                                        </p:attrNameLst>
                                      </p:cBhvr>
                                      <p:tavLst>
                                        <p:tav tm="0">
                                          <p:val>
                                            <p:strVal val="0"/>
                                          </p:val>
                                        </p:tav>
                                        <p:tav tm="100000">
                                          <p:val>
                                            <p:strVal val="#ppt_h"/>
                                          </p:val>
                                        </p:tav>
                                      </p:tavLst>
                                    </p:anim>
                                    <p:animEffect transition="in" filter="fade">
                                      <p:cBhvr>
                                        <p:cTn id="37" dur="500"/>
                                        <p:tgtEl>
                                          <p:spTgt spid="10"/>
                                        </p:tgtEl>
                                      </p:cBhvr>
                                    </p:animEffect>
                                  </p:childTnLst>
                                </p:cTn>
                              </p:par>
                              <p:par>
                                <p:cTn id="38" presetID="53" presetClass="entr" presetSubtype="16" fill="hold" grpId="0" nodeType="withEffect">
                                  <p:stCondLst>
                                    <p:cond delay="24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ppt_w</p:attrName>
                                        </p:attrNameLst>
                                      </p:cBhvr>
                                      <p:tavLst>
                                        <p:tav tm="0">
                                          <p:val>
                                            <p:strVal val="0"/>
                                          </p:val>
                                        </p:tav>
                                        <p:tav tm="100000">
                                          <p:val>
                                            <p:strVal val="#ppt_w"/>
                                          </p:val>
                                        </p:tav>
                                      </p:tavLst>
                                    </p:anim>
                                    <p:anim calcmode="lin" valueType="num">
                                      <p:cBhvr additive="base">
                                        <p:cTn id="41" dur="500" fill="hold"/>
                                        <p:tgtEl>
                                          <p:spTgt spid="11"/>
                                        </p:tgtEl>
                                        <p:attrNameLst>
                                          <p:attrName>ppt_h</p:attrName>
                                        </p:attrNameLst>
                                      </p:cBhvr>
                                      <p:tavLst>
                                        <p:tav tm="0">
                                          <p:val>
                                            <p:strVal val="0"/>
                                          </p:val>
                                        </p:tav>
                                        <p:tav tm="100000">
                                          <p:val>
                                            <p:strVal val="#ppt_h"/>
                                          </p:val>
                                        </p:tav>
                                      </p:tavLst>
                                    </p:anim>
                                    <p:animEffect transition="in" filter="fade">
                                      <p:cBhvr>
                                        <p:cTn id="42" dur="500"/>
                                        <p:tgtEl>
                                          <p:spTgt spid="11"/>
                                        </p:tgtEl>
                                      </p:cBhvr>
                                    </p:animEffect>
                                  </p:childTnLst>
                                </p:cTn>
                              </p:par>
                              <p:par>
                                <p:cTn id="43" presetID="53" presetClass="entr" presetSubtype="16" fill="hold" grpId="0" nodeType="withEffect">
                                  <p:stCondLst>
                                    <p:cond delay="24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ppt_w</p:attrName>
                                        </p:attrNameLst>
                                      </p:cBhvr>
                                      <p:tavLst>
                                        <p:tav tm="0">
                                          <p:val>
                                            <p:strVal val="0"/>
                                          </p:val>
                                        </p:tav>
                                        <p:tav tm="100000">
                                          <p:val>
                                            <p:strVal val="#ppt_w"/>
                                          </p:val>
                                        </p:tav>
                                      </p:tavLst>
                                    </p:anim>
                                    <p:anim calcmode="lin" valueType="num">
                                      <p:cBhvr additive="base">
                                        <p:cTn id="46" dur="500" fill="hold"/>
                                        <p:tgtEl>
                                          <p:spTgt spid="12"/>
                                        </p:tgtEl>
                                        <p:attrNameLst>
                                          <p:attrName>ppt_h</p:attrName>
                                        </p:attrNameLst>
                                      </p:cBhvr>
                                      <p:tavLst>
                                        <p:tav tm="0">
                                          <p:val>
                                            <p:strVal val="0"/>
                                          </p:val>
                                        </p:tav>
                                        <p:tav tm="100000">
                                          <p:val>
                                            <p:strVal val="#ppt_h"/>
                                          </p:val>
                                        </p:tav>
                                      </p:tavLst>
                                    </p:anim>
                                    <p:animEffect transition="in" filter="fade">
                                      <p:cBhvr>
                                        <p:cTn id="47" dur="500"/>
                                        <p:tgtEl>
                                          <p:spTgt spid="12"/>
                                        </p:tgtEl>
                                      </p:cBhvr>
                                    </p:animEffect>
                                  </p:childTnLst>
                                </p:cTn>
                              </p:par>
                              <p:par>
                                <p:cTn id="48" presetID="53" presetClass="entr" presetSubtype="16" fill="hold" grpId="0" nodeType="withEffect">
                                  <p:stCondLst>
                                    <p:cond delay="36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ppt_w</p:attrName>
                                        </p:attrNameLst>
                                      </p:cBhvr>
                                      <p:tavLst>
                                        <p:tav tm="0">
                                          <p:val>
                                            <p:strVal val="0"/>
                                          </p:val>
                                        </p:tav>
                                        <p:tav tm="100000">
                                          <p:val>
                                            <p:strVal val="#ppt_w"/>
                                          </p:val>
                                        </p:tav>
                                      </p:tavLst>
                                    </p:anim>
                                    <p:anim calcmode="lin" valueType="num">
                                      <p:cBhvr additive="base">
                                        <p:cTn id="51" dur="500" fill="hold"/>
                                        <p:tgtEl>
                                          <p:spTgt spid="13"/>
                                        </p:tgtEl>
                                        <p:attrNameLst>
                                          <p:attrName>ppt_h</p:attrName>
                                        </p:attrNameLst>
                                      </p:cBhvr>
                                      <p:tavLst>
                                        <p:tav tm="0">
                                          <p:val>
                                            <p:strVal val="0"/>
                                          </p:val>
                                        </p:tav>
                                        <p:tav tm="100000">
                                          <p:val>
                                            <p:strVal val="#ppt_h"/>
                                          </p:val>
                                        </p:tav>
                                      </p:tavLst>
                                    </p:anim>
                                    <p:animEffect transition="in" filter="fade">
                                      <p:cBhvr>
                                        <p:cTn id="52" dur="500"/>
                                        <p:tgtEl>
                                          <p:spTgt spid="13"/>
                                        </p:tgtEl>
                                      </p:cBhvr>
                                    </p:animEffect>
                                  </p:childTnLst>
                                </p:cTn>
                              </p:par>
                              <p:par>
                                <p:cTn id="53" presetID="53" presetClass="entr" presetSubtype="16" fill="hold" grpId="0" nodeType="withEffect">
                                  <p:stCondLst>
                                    <p:cond delay="36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ppt_w</p:attrName>
                                        </p:attrNameLst>
                                      </p:cBhvr>
                                      <p:tavLst>
                                        <p:tav tm="0">
                                          <p:val>
                                            <p:strVal val="0"/>
                                          </p:val>
                                        </p:tav>
                                        <p:tav tm="100000">
                                          <p:val>
                                            <p:strVal val="#ppt_w"/>
                                          </p:val>
                                        </p:tav>
                                      </p:tavLst>
                                    </p:anim>
                                    <p:anim calcmode="lin" valueType="num">
                                      <p:cBhvr additive="base">
                                        <p:cTn id="56" dur="500" fill="hold"/>
                                        <p:tgtEl>
                                          <p:spTgt spid="14"/>
                                        </p:tgtEl>
                                        <p:attrNameLst>
                                          <p:attrName>ppt_h</p:attrName>
                                        </p:attrNameLst>
                                      </p:cBhvr>
                                      <p:tavLst>
                                        <p:tav tm="0">
                                          <p:val>
                                            <p:strVal val="0"/>
                                          </p:val>
                                        </p:tav>
                                        <p:tav tm="100000">
                                          <p:val>
                                            <p:strVal val="#ppt_h"/>
                                          </p:val>
                                        </p:tav>
                                      </p:tavLst>
                                    </p:anim>
                                    <p:animEffect transition="in" filter="fade">
                                      <p:cBhvr>
                                        <p:cTn id="57" dur="500"/>
                                        <p:tgtEl>
                                          <p:spTgt spid="14"/>
                                        </p:tgtEl>
                                      </p:cBhvr>
                                    </p:animEffect>
                                  </p:childTnLst>
                                </p:cTn>
                              </p:par>
                              <p:par>
                                <p:cTn id="58" presetID="53" presetClass="entr" presetSubtype="16" fill="hold" grpId="0" nodeType="withEffect">
                                  <p:stCondLst>
                                    <p:cond delay="360"/>
                                  </p:stCondLst>
                                  <p:childTnLst>
                                    <p:set>
                                      <p:cBhvr>
                                        <p:cTn id="59" dur="1" fill="hold">
                                          <p:stCondLst>
                                            <p:cond delay="0"/>
                                          </p:stCondLst>
                                        </p:cTn>
                                        <p:tgtEl>
                                          <p:spTgt spid="15"/>
                                        </p:tgtEl>
                                        <p:attrNameLst>
                                          <p:attrName>style.visibility</p:attrName>
                                        </p:attrNameLst>
                                      </p:cBhvr>
                                      <p:to>
                                        <p:strVal val="visible"/>
                                      </p:to>
                                    </p:set>
                                    <p:anim calcmode="lin" valueType="num">
                                      <p:cBhvr additive="base">
                                        <p:cTn id="60" dur="500" fill="hold"/>
                                        <p:tgtEl>
                                          <p:spTgt spid="15"/>
                                        </p:tgtEl>
                                        <p:attrNameLst>
                                          <p:attrName>ppt_w</p:attrName>
                                        </p:attrNameLst>
                                      </p:cBhvr>
                                      <p:tavLst>
                                        <p:tav tm="0">
                                          <p:val>
                                            <p:strVal val="0"/>
                                          </p:val>
                                        </p:tav>
                                        <p:tav tm="100000">
                                          <p:val>
                                            <p:strVal val="#ppt_w"/>
                                          </p:val>
                                        </p:tav>
                                      </p:tavLst>
                                    </p:anim>
                                    <p:anim calcmode="lin" valueType="num">
                                      <p:cBhvr additive="base">
                                        <p:cTn id="61" dur="500" fill="hold"/>
                                        <p:tgtEl>
                                          <p:spTgt spid="15"/>
                                        </p:tgtEl>
                                        <p:attrNameLst>
                                          <p:attrName>ppt_h</p:attrName>
                                        </p:attrNameLst>
                                      </p:cBhvr>
                                      <p:tavLst>
                                        <p:tav tm="0">
                                          <p:val>
                                            <p:strVal val="0"/>
                                          </p:val>
                                        </p:tav>
                                        <p:tav tm="100000">
                                          <p:val>
                                            <p:strVal val="#ppt_h"/>
                                          </p:val>
                                        </p:tav>
                                      </p:tavLst>
                                    </p:anim>
                                    <p:animEffect transition="in" filter="fade">
                                      <p:cBhvr>
                                        <p:cTn id="62" dur="500"/>
                                        <p:tgtEl>
                                          <p:spTgt spid="15"/>
                                        </p:tgtEl>
                                      </p:cBhvr>
                                    </p:animEffect>
                                  </p:childTnLst>
                                </p:cTn>
                              </p:par>
                              <p:par>
                                <p:cTn id="63" presetID="42" presetClass="entr" presetSubtype="0" fill="hold" grpId="0" nodeType="withEffect">
                                  <p:stCondLst>
                                    <p:cond delay="70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70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70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anim calcmode="lin" valueType="num">
                                      <p:cBhvr additive="base">
                                        <p:cTn id="76" dur="500" fill="hold"/>
                                        <p:tgtEl>
                                          <p:spTgt spid="19"/>
                                        </p:tgtEl>
                                        <p:attrNameLst>
                                          <p:attrName>ppt_x</p:attrName>
                                        </p:attrNameLst>
                                      </p:cBhvr>
                                      <p:tavLst>
                                        <p:tav tm="0">
                                          <p:val>
                                            <p:strVal val="#ppt_x"/>
                                          </p:val>
                                        </p:tav>
                                        <p:tav tm="100000">
                                          <p:val>
                                            <p:strVal val="#ppt_x"/>
                                          </p:val>
                                        </p:tav>
                                      </p:tavLst>
                                    </p:anim>
                                    <p:anim calcmode="lin" valueType="num">
                                      <p:cBhvr additive="base">
                                        <p:cTn id="7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3" name="Title 388"/>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Deployment</a:t>
            </a:r>
            <a:endParaRPr lang="en-US" sz="3000" dirty="0"/>
          </a:p>
        </p:txBody>
      </p:sp>
      <p:sp>
        <p:nvSpPr>
          <p:cNvPr id="4" name="Card 389"/>
          <p:cNvSpPr/>
          <p:nvPr/>
        </p:nvSpPr>
        <p:spPr>
          <a:xfrm>
            <a:off x="548640" y="1371600"/>
            <a:ext cx="3520440" cy="4297680"/>
          </a:xfrm>
          <a:prstGeom prst="roundRect">
            <a:avLst>
              <a:gd name="adj" fmla="val 31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5" name="Deploy icon 390" descr="preencoded.png">    </p:cNvPr>
          <p:cNvPicPr>
            <a:picLocks noChangeAspect="1"/>
          </p:cNvPicPr>
          <p:nvPr/>
        </p:nvPicPr>
        <p:blipFill>
          <a:blip r:embed="rId1"/>
          <a:stretch>
            <a:fillRect/>
          </a:stretch>
        </p:blipFill>
        <p:spPr>
          <a:xfrm>
            <a:off x="822960" y="1645920"/>
            <a:ext cx="640080" cy="640080"/>
          </a:xfrm>
          <a:prstGeom prst="rect">
            <a:avLst/>
          </a:prstGeom>
        </p:spPr>
      </p:pic>
      <p:sp>
        <p:nvSpPr>
          <p:cNvPr id="6" name="Text 391"/>
          <p:cNvSpPr/>
          <p:nvPr/>
        </p:nvSpPr>
        <p:spPr>
          <a:xfrm>
            <a:off x="1645920" y="1737360"/>
            <a:ext cx="2286000" cy="457200"/>
          </a:xfrm>
          <a:prstGeom prst="rect">
            <a:avLst/>
          </a:prstGeom>
          <a:noFill/>
          <a:ln/>
        </p:spPr>
        <p:txBody>
          <a:bodyPr wrap="square" lIns="0" tIns="0" rIns="0" bIns="0" rtlCol="0" anchor="t"/>
          <a:lstStyle/>
          <a:p>
            <a:pPr indent="0" marL="0">
              <a:buNone/>
            </a:pPr>
            <a:r>
              <a:rPr lang="en-US" sz="1900" b="1" dirty="0">
                <a:solidFill>
                  <a:srgbClr val="1B1446"/>
                </a:solidFill>
                <a:latin typeface="Arial" pitchFamily="34" charset="0"/>
                <a:ea typeface="Arial" pitchFamily="34" charset="-122"/>
                <a:cs typeface="Arial" pitchFamily="34" charset="-120"/>
              </a:rPr>
              <a:t>Containers</a:t>
            </a:r>
            <a:endParaRPr lang="en-US" sz="1900" dirty="0"/>
          </a:p>
        </p:txBody>
      </p:sp>
      <p:sp>
        <p:nvSpPr>
          <p:cNvPr id="7" name="Text 392"/>
          <p:cNvSpPr/>
          <p:nvPr/>
        </p:nvSpPr>
        <p:spPr>
          <a:xfrm>
            <a:off x="822960" y="2606040"/>
            <a:ext cx="3017520" cy="29260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Each service ships as an image</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Docker Compose runs the whole stack locally</a:t>
            </a:r>
            <a:endParaRPr lang="en-US" sz="1400" dirty="0"/>
          </a:p>
        </p:txBody>
      </p:sp>
      <p:sp>
        <p:nvSpPr>
          <p:cNvPr id="8" name="Card 393"/>
          <p:cNvSpPr/>
          <p:nvPr/>
        </p:nvSpPr>
        <p:spPr>
          <a:xfrm>
            <a:off x="4297680" y="1371600"/>
            <a:ext cx="3520440" cy="4297680"/>
          </a:xfrm>
          <a:prstGeom prst="roundRect">
            <a:avLst>
              <a:gd name="adj" fmla="val 31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9" name="Deploy icon 394" descr="preencoded.png">    </p:cNvPr>
          <p:cNvPicPr>
            <a:picLocks noChangeAspect="1"/>
          </p:cNvPicPr>
          <p:nvPr/>
        </p:nvPicPr>
        <p:blipFill>
          <a:blip r:embed="rId2"/>
          <a:stretch>
            <a:fillRect/>
          </a:stretch>
        </p:blipFill>
        <p:spPr>
          <a:xfrm>
            <a:off x="4572000" y="1645920"/>
            <a:ext cx="640080" cy="640080"/>
          </a:xfrm>
          <a:prstGeom prst="rect">
            <a:avLst/>
          </a:prstGeom>
        </p:spPr>
      </p:pic>
      <p:sp>
        <p:nvSpPr>
          <p:cNvPr id="10" name="Text 395"/>
          <p:cNvSpPr/>
          <p:nvPr/>
        </p:nvSpPr>
        <p:spPr>
          <a:xfrm>
            <a:off x="5394960" y="1737360"/>
            <a:ext cx="2286000" cy="457200"/>
          </a:xfrm>
          <a:prstGeom prst="rect">
            <a:avLst/>
          </a:prstGeom>
          <a:noFill/>
          <a:ln/>
        </p:spPr>
        <p:txBody>
          <a:bodyPr wrap="square" lIns="0" tIns="0" rIns="0" bIns="0" rtlCol="0" anchor="t"/>
          <a:lstStyle/>
          <a:p>
            <a:pPr indent="0" marL="0">
              <a:buNone/>
            </a:pPr>
            <a:r>
              <a:rPr lang="en-US" sz="1900" b="1" dirty="0">
                <a:solidFill>
                  <a:srgbClr val="1B1446"/>
                </a:solidFill>
                <a:latin typeface="Arial" pitchFamily="34" charset="0"/>
                <a:ea typeface="Arial" pitchFamily="34" charset="-122"/>
                <a:cs typeface="Arial" pitchFamily="34" charset="-120"/>
              </a:rPr>
              <a:t>Kubernetes</a:t>
            </a:r>
            <a:endParaRPr lang="en-US" sz="1900" dirty="0"/>
          </a:p>
        </p:txBody>
      </p:sp>
      <p:sp>
        <p:nvSpPr>
          <p:cNvPr id="11" name="Text 396"/>
          <p:cNvSpPr/>
          <p:nvPr/>
        </p:nvSpPr>
        <p:spPr>
          <a:xfrm>
            <a:off x="4572000" y="2606040"/>
            <a:ext cx="3017520" cy="29260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Backend and ML deployments with a horizontal pod autoscaler</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MongoDB, Redis and Kafka as StatefulSets</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Ingress with TLS, network policies, disruption budgets</a:t>
            </a:r>
            <a:endParaRPr lang="en-US" sz="1400" dirty="0"/>
          </a:p>
        </p:txBody>
      </p:sp>
      <p:sp>
        <p:nvSpPr>
          <p:cNvPr id="12" name="Card 397"/>
          <p:cNvSpPr/>
          <p:nvPr/>
        </p:nvSpPr>
        <p:spPr>
          <a:xfrm>
            <a:off x="8046720" y="1371600"/>
            <a:ext cx="3520440" cy="4297680"/>
          </a:xfrm>
          <a:prstGeom prst="roundRect">
            <a:avLst>
              <a:gd name="adj" fmla="val 3117"/>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pic>
        <p:nvPicPr>
          <p:cNvPr id="13" name="Deploy icon 398" descr="preencoded.png">    </p:cNvPr>
          <p:cNvPicPr>
            <a:picLocks noChangeAspect="1"/>
          </p:cNvPicPr>
          <p:nvPr/>
        </p:nvPicPr>
        <p:blipFill>
          <a:blip r:embed="rId3"/>
          <a:stretch>
            <a:fillRect/>
          </a:stretch>
        </p:blipFill>
        <p:spPr>
          <a:xfrm>
            <a:off x="8321040" y="1645920"/>
            <a:ext cx="640080" cy="640080"/>
          </a:xfrm>
          <a:prstGeom prst="rect">
            <a:avLst/>
          </a:prstGeom>
        </p:spPr>
      </p:pic>
      <p:sp>
        <p:nvSpPr>
          <p:cNvPr id="14" name="Text 399"/>
          <p:cNvSpPr/>
          <p:nvPr/>
        </p:nvSpPr>
        <p:spPr>
          <a:xfrm>
            <a:off x="9144000" y="1737360"/>
            <a:ext cx="2286000" cy="457200"/>
          </a:xfrm>
          <a:prstGeom prst="rect">
            <a:avLst/>
          </a:prstGeom>
          <a:noFill/>
          <a:ln/>
        </p:spPr>
        <p:txBody>
          <a:bodyPr wrap="square" lIns="0" tIns="0" rIns="0" bIns="0" rtlCol="0" anchor="t"/>
          <a:lstStyle/>
          <a:p>
            <a:pPr indent="0" marL="0">
              <a:buNone/>
            </a:pPr>
            <a:r>
              <a:rPr lang="en-US" sz="1900" b="1" dirty="0">
                <a:solidFill>
                  <a:srgbClr val="1B1446"/>
                </a:solidFill>
                <a:latin typeface="Arial" pitchFamily="34" charset="0"/>
                <a:ea typeface="Arial" pitchFamily="34" charset="-122"/>
                <a:cs typeface="Arial" pitchFamily="34" charset="-120"/>
              </a:rPr>
              <a:t>Operations</a:t>
            </a:r>
            <a:endParaRPr lang="en-US" sz="1900" dirty="0"/>
          </a:p>
        </p:txBody>
      </p:sp>
      <p:sp>
        <p:nvSpPr>
          <p:cNvPr id="15" name="Text 400"/>
          <p:cNvSpPr/>
          <p:nvPr/>
        </p:nvSpPr>
        <p:spPr>
          <a:xfrm>
            <a:off x="8321040" y="2606040"/>
            <a:ext cx="3017520" cy="29260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Scheduled database backups</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Health checks and Prometheus metrics</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Admin web and website as static sites on Vercel</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KYC files in S3, Cape Town region</a:t>
            </a:r>
            <a:endParaRPr lang="en-US" sz="1400" dirty="0"/>
          </a:p>
        </p:txBody>
      </p:sp>
      <p:pic>
        <p:nvPicPr>
          <p:cNvPr id="16" name="Mark 401" descr="/home/ghost/Desktop/Projects/Poolora/branding/poolora-icon.png">    </p:cNvPr>
          <p:cNvPicPr>
            <a:picLocks noChangeAspect="1"/>
          </p:cNvPicPr>
          <p:nvPr/>
        </p:nvPicPr>
        <p:blipFill>
          <a:blip r:embed="rId4"/>
          <a:stretch>
            <a:fillRect/>
          </a:stretch>
        </p:blipFill>
        <p:spPr>
          <a:xfrm>
            <a:off x="11368735" y="6355080"/>
            <a:ext cx="310896" cy="310896"/>
          </a:xfrm>
          <a:prstGeom prst="rect">
            <a:avLst/>
          </a:prstGeom>
        </p:spPr>
      </p:pic>
      <p:sp>
        <p:nvSpPr>
          <p:cNvPr id="17" name="Text 10"/>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23</a:t>
            </a:r>
            <a:endParaRPr lang="en-US" sz="1100" dirty="0"/>
          </a:p>
        </p:txBody>
      </p:sp>
      <p:sp>
        <p:nvSpPr>
          <p:cNvPr id="18" name="Text 11"/>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cond evt="onBegin" delay="0">
                          <p:tn val="2"/>
                        </p:cond>
                      </p:stCondLst>
                      <p:childTnLst>
                        <p:par>
                          <p:cTn id="6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1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8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18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18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36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36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36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36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3" name="Title 402"/>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Challenges and what I learned</a:t>
            </a:r>
            <a:endParaRPr lang="en-US" sz="3000" dirty="0"/>
          </a:p>
        </p:txBody>
      </p:sp>
      <p:sp>
        <p:nvSpPr>
          <p:cNvPr id="4" name="Card 403"/>
          <p:cNvSpPr/>
          <p:nvPr/>
        </p:nvSpPr>
        <p:spPr>
          <a:xfrm>
            <a:off x="548640" y="1371600"/>
            <a:ext cx="5394960" cy="2057400"/>
          </a:xfrm>
          <a:prstGeom prst="roundRect">
            <a:avLst>
              <a:gd name="adj" fmla="val 5333"/>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5" name="Text 404"/>
          <p:cNvSpPr/>
          <p:nvPr/>
        </p:nvSpPr>
        <p:spPr>
          <a:xfrm>
            <a:off x="868680" y="1645920"/>
            <a:ext cx="4754880" cy="457200"/>
          </a:xfrm>
          <a:prstGeom prst="rect">
            <a:avLst/>
          </a:prstGeom>
          <a:noFill/>
          <a:ln/>
        </p:spPr>
        <p:txBody>
          <a:bodyPr wrap="square" lIns="0" tIns="0" rIns="0" bIns="0" rtlCol="0" anchor="t"/>
          <a:lstStyle/>
          <a:p>
            <a:pPr indent="0" marL="0">
              <a:buNone/>
            </a:pPr>
            <a:r>
              <a:rPr lang="en-US" sz="1700" b="1" dirty="0">
                <a:solidFill>
                  <a:srgbClr val="1B1446"/>
                </a:solidFill>
                <a:latin typeface="Arial" pitchFamily="34" charset="0"/>
                <a:ea typeface="Arial" pitchFamily="34" charset="-122"/>
                <a:cs typeface="Arial" pitchFamily="34" charset="-120"/>
              </a:rPr>
              <a:t>Moving the whole product to a new country</a:t>
            </a:r>
            <a:endParaRPr lang="en-US" sz="1700" dirty="0"/>
          </a:p>
        </p:txBody>
      </p:sp>
      <p:sp>
        <p:nvSpPr>
          <p:cNvPr id="6" name="Text 405"/>
          <p:cNvSpPr/>
          <p:nvPr/>
        </p:nvSpPr>
        <p:spPr>
          <a:xfrm>
            <a:off x="868680" y="2194560"/>
            <a:ext cx="4754880" cy="109728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Currency, phones, time, maps, payments and law all changed; a single market registry made the next country cheap.</a:t>
            </a:r>
            <a:endParaRPr lang="en-US" sz="1400" dirty="0"/>
          </a:p>
        </p:txBody>
      </p:sp>
      <p:sp>
        <p:nvSpPr>
          <p:cNvPr id="7" name="Card 406"/>
          <p:cNvSpPr/>
          <p:nvPr/>
        </p:nvSpPr>
        <p:spPr>
          <a:xfrm>
            <a:off x="6172200" y="1371600"/>
            <a:ext cx="5394960" cy="2057400"/>
          </a:xfrm>
          <a:prstGeom prst="roundRect">
            <a:avLst>
              <a:gd name="adj" fmla="val 5333"/>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8" name="Text 407"/>
          <p:cNvSpPr/>
          <p:nvPr/>
        </p:nvSpPr>
        <p:spPr>
          <a:xfrm>
            <a:off x="6492240" y="1645920"/>
            <a:ext cx="4754880" cy="457200"/>
          </a:xfrm>
          <a:prstGeom prst="rect">
            <a:avLst/>
          </a:prstGeom>
          <a:noFill/>
          <a:ln/>
        </p:spPr>
        <p:txBody>
          <a:bodyPr wrap="square" lIns="0" tIns="0" rIns="0" bIns="0" rtlCol="0" anchor="t"/>
          <a:lstStyle/>
          <a:p>
            <a:pPr indent="0" marL="0">
              <a:buNone/>
            </a:pPr>
            <a:r>
              <a:rPr lang="en-US" sz="1700" b="1" dirty="0">
                <a:solidFill>
                  <a:srgbClr val="1B1446"/>
                </a:solidFill>
                <a:latin typeface="Arial" pitchFamily="34" charset="0"/>
                <a:ea typeface="Arial" pitchFamily="34" charset="-122"/>
                <a:cs typeface="Arial" pitchFamily="34" charset="-120"/>
              </a:rPr>
              <a:t>Payments without refunds</a:t>
            </a:r>
            <a:endParaRPr lang="en-US" sz="1700" dirty="0"/>
          </a:p>
        </p:txBody>
      </p:sp>
      <p:sp>
        <p:nvSpPr>
          <p:cNvPr id="9" name="Text 408"/>
          <p:cNvSpPr/>
          <p:nvPr/>
        </p:nvSpPr>
        <p:spPr>
          <a:xfrm>
            <a:off x="6492240" y="2194560"/>
            <a:ext cx="4754880" cy="109728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Paynow has no refund API, so every refund goes to an in-app wallet that can be withdrawn to mobile money, with idempotent keys.</a:t>
            </a:r>
            <a:endParaRPr lang="en-US" sz="1400" dirty="0"/>
          </a:p>
        </p:txBody>
      </p:sp>
      <p:sp>
        <p:nvSpPr>
          <p:cNvPr id="10" name="Card 409"/>
          <p:cNvSpPr/>
          <p:nvPr/>
        </p:nvSpPr>
        <p:spPr>
          <a:xfrm>
            <a:off x="548640" y="3657600"/>
            <a:ext cx="5394960" cy="2057400"/>
          </a:xfrm>
          <a:prstGeom prst="roundRect">
            <a:avLst>
              <a:gd name="adj" fmla="val 5333"/>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1" name="Text 410"/>
          <p:cNvSpPr/>
          <p:nvPr/>
        </p:nvSpPr>
        <p:spPr>
          <a:xfrm>
            <a:off x="868680" y="3931920"/>
            <a:ext cx="4754880" cy="457200"/>
          </a:xfrm>
          <a:prstGeom prst="rect">
            <a:avLst/>
          </a:prstGeom>
          <a:noFill/>
          <a:ln/>
        </p:spPr>
        <p:txBody>
          <a:bodyPr wrap="square" lIns="0" tIns="0" rIns="0" bIns="0" rtlCol="0" anchor="t"/>
          <a:lstStyle/>
          <a:p>
            <a:pPr indent="0" marL="0">
              <a:buNone/>
            </a:pPr>
            <a:r>
              <a:rPr lang="en-US" sz="1700" b="1" dirty="0">
                <a:solidFill>
                  <a:srgbClr val="1B1446"/>
                </a:solidFill>
                <a:latin typeface="Arial" pitchFamily="34" charset="0"/>
                <a:ea typeface="Arial" pitchFamily="34" charset="-122"/>
                <a:cs typeface="Arial" pitchFamily="34" charset="-120"/>
              </a:rPr>
              <a:t>Tests that mock too much</a:t>
            </a:r>
            <a:endParaRPr lang="en-US" sz="1700" dirty="0"/>
          </a:p>
        </p:txBody>
      </p:sp>
      <p:sp>
        <p:nvSpPr>
          <p:cNvPr id="12" name="Text 411"/>
          <p:cNvSpPr/>
          <p:nvPr/>
        </p:nvSpPr>
        <p:spPr>
          <a:xfrm>
            <a:off x="868680" y="4480560"/>
            <a:ext cx="4754880" cy="109728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Every suite mocked the event bus, so a crash when posting rides slipped through; now key modules keep one real test.</a:t>
            </a:r>
            <a:endParaRPr lang="en-US" sz="1400" dirty="0"/>
          </a:p>
        </p:txBody>
      </p:sp>
      <p:sp>
        <p:nvSpPr>
          <p:cNvPr id="13" name="Card 412"/>
          <p:cNvSpPr/>
          <p:nvPr/>
        </p:nvSpPr>
        <p:spPr>
          <a:xfrm>
            <a:off x="6172200" y="3657600"/>
            <a:ext cx="5394960" cy="2057400"/>
          </a:xfrm>
          <a:prstGeom prst="roundRect">
            <a:avLst>
              <a:gd name="adj" fmla="val 5333"/>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14" name="Text 413"/>
          <p:cNvSpPr/>
          <p:nvPr/>
        </p:nvSpPr>
        <p:spPr>
          <a:xfrm>
            <a:off x="6492240" y="3931920"/>
            <a:ext cx="4754880" cy="457200"/>
          </a:xfrm>
          <a:prstGeom prst="rect">
            <a:avLst/>
          </a:prstGeom>
          <a:noFill/>
          <a:ln/>
        </p:spPr>
        <p:txBody>
          <a:bodyPr wrap="square" lIns="0" tIns="0" rIns="0" bIns="0" rtlCol="0" anchor="t"/>
          <a:lstStyle/>
          <a:p>
            <a:pPr indent="0" marL="0">
              <a:buNone/>
            </a:pPr>
            <a:r>
              <a:rPr lang="en-US" sz="1700" b="1" dirty="0">
                <a:solidFill>
                  <a:srgbClr val="1B1446"/>
                </a:solidFill>
                <a:latin typeface="Arial" pitchFamily="34" charset="0"/>
                <a:ea typeface="Arial" pitchFamily="34" charset="-122"/>
                <a:cs typeface="Arial" pitchFamily="34" charset="-120"/>
              </a:rPr>
              <a:t>Fair rules need real prices</a:t>
            </a:r>
            <a:endParaRPr lang="en-US" sz="1700" dirty="0"/>
          </a:p>
        </p:txBody>
      </p:sp>
      <p:sp>
        <p:nvSpPr>
          <p:cNvPr id="15" name="Text 414"/>
          <p:cNvSpPr/>
          <p:nvPr/>
        </p:nvSpPr>
        <p:spPr>
          <a:xfrm>
            <a:off x="6492240" y="4480560"/>
            <a:ext cx="4754880" cy="109728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Refund tiers and fares were rechecked against kombis, ZUPCO, inDrive and intercity buses before launch.</a:t>
            </a:r>
            <a:endParaRPr lang="en-US" sz="1400" dirty="0"/>
          </a:p>
        </p:txBody>
      </p:sp>
      <p:pic>
        <p:nvPicPr>
          <p:cNvPr id="16" name="Mark 415"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17" name="Text 13"/>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24</a:t>
            </a:r>
            <a:endParaRPr lang="en-US" sz="1100" dirty="0"/>
          </a:p>
        </p:txBody>
      </p:sp>
      <p:sp>
        <p:nvSpPr>
          <p:cNvPr id="18" name="Text 14"/>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3" fill="hold">
                      <p:stCondLst>
                        <p:cond delay="indefinite"/>
                        <p:cond evt="onBegin" delay="0">
                          <p:tn val="2"/>
                        </p:cond>
                      </p:stCondLst>
                      <p:childTnLst>
                        <p:par>
                          <p:cTn id="64"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1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1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15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3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3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4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4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45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3" name="Title 416"/>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Status and future scope</a:t>
            </a:r>
            <a:endParaRPr lang="en-US" sz="3000" dirty="0"/>
          </a:p>
        </p:txBody>
      </p:sp>
      <p:sp>
        <p:nvSpPr>
          <p:cNvPr id="4" name="Subtitle 417"/>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The product is built and tested; launch depends on licences, live payments and the new e-hailing rules.</a:t>
            </a:r>
            <a:endParaRPr lang="en-US" sz="1600" dirty="0"/>
          </a:p>
        </p:txBody>
      </p:sp>
      <p:sp>
        <p:nvSpPr>
          <p:cNvPr id="5" name="Card 418"/>
          <p:cNvSpPr/>
          <p:nvPr/>
        </p:nvSpPr>
        <p:spPr>
          <a:xfrm>
            <a:off x="548640" y="1691640"/>
            <a:ext cx="5394960" cy="4206240"/>
          </a:xfrm>
          <a:prstGeom prst="roundRect">
            <a:avLst>
              <a:gd name="adj" fmla="val 260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6" name="Text 419"/>
          <p:cNvSpPr/>
          <p:nvPr/>
        </p:nvSpPr>
        <p:spPr>
          <a:xfrm>
            <a:off x="868680" y="1874520"/>
            <a:ext cx="4754880" cy="411480"/>
          </a:xfrm>
          <a:prstGeom prst="rect">
            <a:avLst/>
          </a:prstGeom>
          <a:noFill/>
          <a:ln/>
        </p:spPr>
        <p:txBody>
          <a:bodyPr wrap="square" lIns="0" tIns="0" rIns="0" bIns="0" rtlCol="0" anchor="t"/>
          <a:lstStyle/>
          <a:p>
            <a:pPr indent="0" marL="0">
              <a:buNone/>
            </a:pPr>
            <a:r>
              <a:rPr lang="en-US" sz="1800" b="1" dirty="0">
                <a:solidFill>
                  <a:srgbClr val="0B7A75"/>
                </a:solidFill>
                <a:latin typeface="Arial" pitchFamily="34" charset="0"/>
                <a:ea typeface="Arial" pitchFamily="34" charset="-122"/>
                <a:cs typeface="Arial" pitchFamily="34" charset="-120"/>
              </a:rPr>
              <a:t>Done</a:t>
            </a:r>
            <a:endParaRPr lang="en-US" sz="1800" dirty="0"/>
          </a:p>
        </p:txBody>
      </p:sp>
      <p:pic>
        <p:nvPicPr>
          <p:cNvPr id="7" name="Status icon 420" descr="preencoded.png">    </p:cNvPr>
          <p:cNvPicPr>
            <a:picLocks noChangeAspect="1"/>
          </p:cNvPicPr>
          <p:nvPr/>
        </p:nvPicPr>
        <p:blipFill>
          <a:blip r:embed="rId1"/>
          <a:stretch>
            <a:fillRect/>
          </a:stretch>
        </p:blipFill>
        <p:spPr>
          <a:xfrm>
            <a:off x="868680" y="2478024"/>
            <a:ext cx="292608" cy="292608"/>
          </a:xfrm>
          <a:prstGeom prst="rect">
            <a:avLst/>
          </a:prstGeom>
        </p:spPr>
      </p:pic>
      <p:sp>
        <p:nvSpPr>
          <p:cNvPr id="8" name="Text 421"/>
          <p:cNvSpPr/>
          <p:nvPr/>
        </p:nvSpPr>
        <p:spPr>
          <a:xfrm>
            <a:off x="1325880" y="242316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Rider and driver app, admin web, website</a:t>
            </a:r>
            <a:endParaRPr lang="en-US" sz="1400" dirty="0"/>
          </a:p>
        </p:txBody>
      </p:sp>
      <p:pic>
        <p:nvPicPr>
          <p:cNvPr id="9" name="Status icon 422" descr="preencoded.png">    </p:cNvPr>
          <p:cNvPicPr>
            <a:picLocks noChangeAspect="1"/>
          </p:cNvPicPr>
          <p:nvPr/>
        </p:nvPicPr>
        <p:blipFill>
          <a:blip r:embed="rId2"/>
          <a:stretch>
            <a:fillRect/>
          </a:stretch>
        </p:blipFill>
        <p:spPr>
          <a:xfrm>
            <a:off x="868680" y="3026664"/>
            <a:ext cx="292608" cy="292608"/>
          </a:xfrm>
          <a:prstGeom prst="rect">
            <a:avLst/>
          </a:prstGeom>
        </p:spPr>
      </p:pic>
      <p:sp>
        <p:nvSpPr>
          <p:cNvPr id="10" name="Text 423"/>
          <p:cNvSpPr/>
          <p:nvPr/>
        </p:nvSpPr>
        <p:spPr>
          <a:xfrm>
            <a:off x="1325880" y="297180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Paynow payments (test mode), wallet and withdrawals</a:t>
            </a:r>
            <a:endParaRPr lang="en-US" sz="1400" dirty="0"/>
          </a:p>
        </p:txBody>
      </p:sp>
      <p:pic>
        <p:nvPicPr>
          <p:cNvPr id="11" name="Status icon 424" descr="preencoded.png">    </p:cNvPr>
          <p:cNvPicPr>
            <a:picLocks noChangeAspect="1"/>
          </p:cNvPicPr>
          <p:nvPr/>
        </p:nvPicPr>
        <p:blipFill>
          <a:blip r:embed="rId3"/>
          <a:stretch>
            <a:fillRect/>
          </a:stretch>
        </p:blipFill>
        <p:spPr>
          <a:xfrm>
            <a:off x="868680" y="3575304"/>
            <a:ext cx="292608" cy="292608"/>
          </a:xfrm>
          <a:prstGeom prst="rect">
            <a:avLst/>
          </a:prstGeom>
        </p:spPr>
      </p:pic>
      <p:sp>
        <p:nvSpPr>
          <p:cNvPr id="12" name="Text 425"/>
          <p:cNvSpPr/>
          <p:nvPr/>
        </p:nvSpPr>
        <p:spPr>
          <a:xfrm>
            <a:off x="1325880" y="352044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Safety: SOS, every phone traced, car trackers, pickup codes</a:t>
            </a:r>
            <a:endParaRPr lang="en-US" sz="1400" dirty="0"/>
          </a:p>
        </p:txBody>
      </p:sp>
      <p:pic>
        <p:nvPicPr>
          <p:cNvPr id="13" name="Status icon 426" descr="preencoded.png">    </p:cNvPr>
          <p:cNvPicPr>
            <a:picLocks noChangeAspect="1"/>
          </p:cNvPicPr>
          <p:nvPr/>
        </p:nvPicPr>
        <p:blipFill>
          <a:blip r:embed="rId4"/>
          <a:stretch>
            <a:fillRect/>
          </a:stretch>
        </p:blipFill>
        <p:spPr>
          <a:xfrm>
            <a:off x="868680" y="4123944"/>
            <a:ext cx="292608" cy="292608"/>
          </a:xfrm>
          <a:prstGeom prst="rect">
            <a:avLst/>
          </a:prstGeom>
        </p:spPr>
      </p:pic>
      <p:sp>
        <p:nvSpPr>
          <p:cNvPr id="14" name="Text 427"/>
          <p:cNvSpPr/>
          <p:nvPr/>
        </p:nvSpPr>
        <p:spPr>
          <a:xfrm>
            <a:off x="1325880" y="406908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Parcels and group trips</a:t>
            </a:r>
            <a:endParaRPr lang="en-US" sz="1400" dirty="0"/>
          </a:p>
        </p:txBody>
      </p:sp>
      <p:pic>
        <p:nvPicPr>
          <p:cNvPr id="15" name="Status icon 428" descr="preencoded.png">    </p:cNvPr>
          <p:cNvPicPr>
            <a:picLocks noChangeAspect="1"/>
          </p:cNvPicPr>
          <p:nvPr/>
        </p:nvPicPr>
        <p:blipFill>
          <a:blip r:embed="rId5"/>
          <a:stretch>
            <a:fillRect/>
          </a:stretch>
        </p:blipFill>
        <p:spPr>
          <a:xfrm>
            <a:off x="868680" y="4672584"/>
            <a:ext cx="292608" cy="292608"/>
          </a:xfrm>
          <a:prstGeom prst="rect">
            <a:avLst/>
          </a:prstGeom>
        </p:spPr>
      </p:pic>
      <p:sp>
        <p:nvSpPr>
          <p:cNvPr id="16" name="Text 429"/>
          <p:cNvSpPr/>
          <p:nvPr/>
        </p:nvSpPr>
        <p:spPr>
          <a:xfrm>
            <a:off x="1325880" y="461772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In-app support assistant (Claude)</a:t>
            </a:r>
            <a:endParaRPr lang="en-US" sz="1400" dirty="0"/>
          </a:p>
        </p:txBody>
      </p:sp>
      <p:pic>
        <p:nvPicPr>
          <p:cNvPr id="17" name="Status icon 430" descr="preencoded.png">    </p:cNvPr>
          <p:cNvPicPr>
            <a:picLocks noChangeAspect="1"/>
          </p:cNvPicPr>
          <p:nvPr/>
        </p:nvPicPr>
        <p:blipFill>
          <a:blip r:embed="rId6"/>
          <a:stretch>
            <a:fillRect/>
          </a:stretch>
        </p:blipFill>
        <p:spPr>
          <a:xfrm>
            <a:off x="868680" y="5221224"/>
            <a:ext cx="292608" cy="292608"/>
          </a:xfrm>
          <a:prstGeom prst="rect">
            <a:avLst/>
          </a:prstGeom>
        </p:spPr>
      </p:pic>
      <p:sp>
        <p:nvSpPr>
          <p:cNvPr id="18" name="Text 431"/>
          <p:cNvSpPr/>
          <p:nvPr/>
        </p:nvSpPr>
        <p:spPr>
          <a:xfrm>
            <a:off x="1325880" y="516636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Account closure, 18+, per-user rate limits</a:t>
            </a:r>
            <a:endParaRPr lang="en-US" sz="1400" dirty="0"/>
          </a:p>
        </p:txBody>
      </p:sp>
      <p:sp>
        <p:nvSpPr>
          <p:cNvPr id="19" name="Card 432"/>
          <p:cNvSpPr/>
          <p:nvPr/>
        </p:nvSpPr>
        <p:spPr>
          <a:xfrm>
            <a:off x="6245352" y="1691640"/>
            <a:ext cx="5394960" cy="4206240"/>
          </a:xfrm>
          <a:prstGeom prst="roundRect">
            <a:avLst>
              <a:gd name="adj" fmla="val 2609"/>
            </a:avLst>
          </a:prstGeom>
          <a:solidFill>
            <a:srgbClr val="FFFFFF"/>
          </a:solidFill>
          <a:ln w="9525">
            <a:solidFill>
              <a:srgbClr val="D5DBE3"/>
            </a:solidFill>
            <a:prstDash val="solid"/>
          </a:ln>
          <a:effectLst>
            <a:outerShdw sx="100000" sy="100000" kx="0" ky="0" algn="bl" rotWithShape="0" blurRad="76200" dist="25400" dir="5400000">
              <a:srgbClr val="000000">
                <a:alpha val="8000"/>
              </a:srgbClr>
            </a:outerShdw>
          </a:effectLst>
        </p:spPr>
      </p:sp>
      <p:sp>
        <p:nvSpPr>
          <p:cNvPr id="20" name="Text 433"/>
          <p:cNvSpPr/>
          <p:nvPr/>
        </p:nvSpPr>
        <p:spPr>
          <a:xfrm>
            <a:off x="6565392" y="1874520"/>
            <a:ext cx="4754880" cy="411480"/>
          </a:xfrm>
          <a:prstGeom prst="rect">
            <a:avLst/>
          </a:prstGeom>
          <a:noFill/>
          <a:ln/>
        </p:spPr>
        <p:txBody>
          <a:bodyPr wrap="square" lIns="0" tIns="0" rIns="0" bIns="0" rtlCol="0" anchor="t"/>
          <a:lstStyle/>
          <a:p>
            <a:pPr indent="0" marL="0">
              <a:buNone/>
            </a:pPr>
            <a:r>
              <a:rPr lang="en-US" sz="1800" b="1" dirty="0">
                <a:solidFill>
                  <a:srgbClr val="D9468F"/>
                </a:solidFill>
                <a:latin typeface="Arial" pitchFamily="34" charset="0"/>
                <a:ea typeface="Arial" pitchFamily="34" charset="-122"/>
                <a:cs typeface="Arial" pitchFamily="34" charset="-120"/>
              </a:rPr>
              <a:t>Before launch</a:t>
            </a:r>
            <a:endParaRPr lang="en-US" sz="1800" dirty="0"/>
          </a:p>
        </p:txBody>
      </p:sp>
      <p:pic>
        <p:nvPicPr>
          <p:cNvPr id="21" name="Status icon 434" descr="preencoded.png">    </p:cNvPr>
          <p:cNvPicPr>
            <a:picLocks noChangeAspect="1"/>
          </p:cNvPicPr>
          <p:nvPr/>
        </p:nvPicPr>
        <p:blipFill>
          <a:blip r:embed="rId7"/>
          <a:stretch>
            <a:fillRect/>
          </a:stretch>
        </p:blipFill>
        <p:spPr>
          <a:xfrm>
            <a:off x="6565392" y="2478024"/>
            <a:ext cx="292608" cy="292608"/>
          </a:xfrm>
          <a:prstGeom prst="rect">
            <a:avLst/>
          </a:prstGeom>
        </p:spPr>
      </p:pic>
      <p:sp>
        <p:nvSpPr>
          <p:cNvPr id="22" name="Text 435"/>
          <p:cNvSpPr/>
          <p:nvPr/>
        </p:nvSpPr>
        <p:spPr>
          <a:xfrm>
            <a:off x="7022592" y="242316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POTRAZ data controller licence and a Data Protection Officer</a:t>
            </a:r>
            <a:endParaRPr lang="en-US" sz="1400" dirty="0"/>
          </a:p>
        </p:txBody>
      </p:sp>
      <p:pic>
        <p:nvPicPr>
          <p:cNvPr id="23" name="Status icon 436" descr="preencoded.png">    </p:cNvPr>
          <p:cNvPicPr>
            <a:picLocks noChangeAspect="1"/>
          </p:cNvPicPr>
          <p:nvPr/>
        </p:nvPicPr>
        <p:blipFill>
          <a:blip r:embed="rId8"/>
          <a:stretch>
            <a:fillRect/>
          </a:stretch>
        </p:blipFill>
        <p:spPr>
          <a:xfrm>
            <a:off x="6565392" y="3026664"/>
            <a:ext cx="292608" cy="292608"/>
          </a:xfrm>
          <a:prstGeom prst="rect">
            <a:avLst/>
          </a:prstGeom>
        </p:spPr>
      </p:pic>
      <p:sp>
        <p:nvSpPr>
          <p:cNvPr id="24" name="Text 437"/>
          <p:cNvSpPr/>
          <p:nvPr/>
        </p:nvSpPr>
        <p:spPr>
          <a:xfrm>
            <a:off x="7022592" y="297180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Lawyer's review of the terms and privacy policy</a:t>
            </a:r>
            <a:endParaRPr lang="en-US" sz="1400" dirty="0"/>
          </a:p>
        </p:txBody>
      </p:sp>
      <p:pic>
        <p:nvPicPr>
          <p:cNvPr id="25" name="Status icon 438" descr="preencoded.png">    </p:cNvPr>
          <p:cNvPicPr>
            <a:picLocks noChangeAspect="1"/>
          </p:cNvPicPr>
          <p:nvPr/>
        </p:nvPicPr>
        <p:blipFill>
          <a:blip r:embed="rId9"/>
          <a:stretch>
            <a:fillRect/>
          </a:stretch>
        </p:blipFill>
        <p:spPr>
          <a:xfrm>
            <a:off x="6565392" y="3575304"/>
            <a:ext cx="292608" cy="292608"/>
          </a:xfrm>
          <a:prstGeom prst="rect">
            <a:avLst/>
          </a:prstGeom>
        </p:spPr>
      </p:pic>
      <p:sp>
        <p:nvSpPr>
          <p:cNvPr id="26" name="Text 439"/>
          <p:cNvSpPr/>
          <p:nvPr/>
        </p:nvSpPr>
        <p:spPr>
          <a:xfrm>
            <a:off x="7022592" y="352044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Paynow live mode and a business mobile money account</a:t>
            </a:r>
            <a:endParaRPr lang="en-US" sz="1400" dirty="0"/>
          </a:p>
        </p:txBody>
      </p:sp>
      <p:pic>
        <p:nvPicPr>
          <p:cNvPr id="27" name="Status icon 440" descr="preencoded.png">    </p:cNvPr>
          <p:cNvPicPr>
            <a:picLocks noChangeAspect="1"/>
          </p:cNvPicPr>
          <p:nvPr/>
        </p:nvPicPr>
        <p:blipFill>
          <a:blip r:embed="rId10"/>
          <a:stretch>
            <a:fillRect/>
          </a:stretch>
        </p:blipFill>
        <p:spPr>
          <a:xfrm>
            <a:off x="6565392" y="4123944"/>
            <a:ext cx="292608" cy="292608"/>
          </a:xfrm>
          <a:prstGeom prst="rect">
            <a:avLst/>
          </a:prstGeom>
        </p:spPr>
      </p:pic>
      <p:sp>
        <p:nvSpPr>
          <p:cNvPr id="28" name="Text 441"/>
          <p:cNvSpPr/>
          <p:nvPr/>
        </p:nvSpPr>
        <p:spPr>
          <a:xfrm>
            <a:off x="7022592" y="406908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A Zimbabwe support number (today +91)</a:t>
            </a:r>
            <a:endParaRPr lang="en-US" sz="1400" dirty="0"/>
          </a:p>
        </p:txBody>
      </p:sp>
      <p:pic>
        <p:nvPicPr>
          <p:cNvPr id="29" name="Status icon 442" descr="preencoded.png">    </p:cNvPr>
          <p:cNvPicPr>
            <a:picLocks noChangeAspect="1"/>
          </p:cNvPicPr>
          <p:nvPr/>
        </p:nvPicPr>
        <p:blipFill>
          <a:blip r:embed="rId11"/>
          <a:stretch>
            <a:fillRect/>
          </a:stretch>
        </p:blipFill>
        <p:spPr>
          <a:xfrm>
            <a:off x="6565392" y="4672584"/>
            <a:ext cx="292608" cy="292608"/>
          </a:xfrm>
          <a:prstGeom prst="rect">
            <a:avLst/>
          </a:prstGeom>
        </p:spPr>
      </p:pic>
      <p:sp>
        <p:nvSpPr>
          <p:cNvPr id="30" name="Text 443"/>
          <p:cNvSpPr/>
          <p:nvPr/>
        </p:nvSpPr>
        <p:spPr>
          <a:xfrm>
            <a:off x="7022592" y="461772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Align with the e-hailing regulations (transition ends about February 2027)</a:t>
            </a:r>
            <a:endParaRPr lang="en-US" sz="1400" dirty="0"/>
          </a:p>
        </p:txBody>
      </p:sp>
      <p:pic>
        <p:nvPicPr>
          <p:cNvPr id="31" name="Status icon 444" descr="preencoded.png">    </p:cNvPr>
          <p:cNvPicPr>
            <a:picLocks noChangeAspect="1"/>
          </p:cNvPicPr>
          <p:nvPr/>
        </p:nvPicPr>
        <p:blipFill>
          <a:blip r:embed="rId12"/>
          <a:stretch>
            <a:fillRect/>
          </a:stretch>
        </p:blipFill>
        <p:spPr>
          <a:xfrm>
            <a:off x="6565392" y="5221224"/>
            <a:ext cx="292608" cy="292608"/>
          </a:xfrm>
          <a:prstGeom prst="rect">
            <a:avLst/>
          </a:prstGeom>
        </p:spPr>
      </p:pic>
      <p:sp>
        <p:nvSpPr>
          <p:cNvPr id="32" name="Text 445"/>
          <p:cNvSpPr/>
          <p:nvPr/>
        </p:nvSpPr>
        <p:spPr>
          <a:xfrm>
            <a:off x="7022592" y="5166360"/>
            <a:ext cx="4480560" cy="457200"/>
          </a:xfrm>
          <a:prstGeom prst="rect">
            <a:avLst/>
          </a:prstGeom>
          <a:noFill/>
          <a:ln/>
        </p:spPr>
        <p:txBody>
          <a:bodyPr wrap="square" lIns="0" tIns="0" rIns="0" bIns="0" rtlCol="0" anchor="ctr"/>
          <a:lstStyle/>
          <a:p>
            <a:pPr indent="0" marL="0">
              <a:buNone/>
            </a:pPr>
            <a:r>
              <a:rPr lang="en-US" sz="1400" dirty="0">
                <a:solidFill>
                  <a:srgbClr val="1F2330"/>
                </a:solidFill>
                <a:latin typeface="Calibri" pitchFamily="34" charset="0"/>
                <a:ea typeface="Calibri" pitchFamily="34" charset="-122"/>
                <a:cs typeface="Calibri" pitchFamily="34" charset="-120"/>
              </a:rPr>
              <a:t>App rebuild and Play Store safety declarations</a:t>
            </a:r>
            <a:endParaRPr lang="en-US" sz="1400" dirty="0"/>
          </a:p>
        </p:txBody>
      </p:sp>
      <p:pic>
        <p:nvPicPr>
          <p:cNvPr id="33" name="Mark 446" descr="/home/ghost/Desktop/Projects/Poolora/branding/poolora-icon.png">    </p:cNvPr>
          <p:cNvPicPr>
            <a:picLocks noChangeAspect="1"/>
          </p:cNvPicPr>
          <p:nvPr/>
        </p:nvPicPr>
        <p:blipFill>
          <a:blip r:embed="rId13"/>
          <a:stretch>
            <a:fillRect/>
          </a:stretch>
        </p:blipFill>
        <p:spPr>
          <a:xfrm>
            <a:off x="11368735" y="6355080"/>
            <a:ext cx="310896" cy="310896"/>
          </a:xfrm>
          <a:prstGeom prst="rect">
            <a:avLst/>
          </a:prstGeom>
        </p:spPr>
      </p:pic>
      <p:sp>
        <p:nvSpPr>
          <p:cNvPr id="34" name="Text 18"/>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25</a:t>
            </a:r>
            <a:endParaRPr lang="en-US" sz="1100" dirty="0"/>
          </a:p>
        </p:txBody>
      </p:sp>
      <p:sp>
        <p:nvSpPr>
          <p:cNvPr id="35" name="Text 19"/>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5" fill="hold">
                      <p:stCondLst>
                        <p:cond delay="indefinite"/>
                        <p:cond evt="onBegin" delay="0">
                          <p:tn val="2"/>
                        </p:cond>
                      </p:stCondLst>
                      <p:childTnLst>
                        <p:par>
                          <p:cTn id="96"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anim calcmode="lin" valueType="num">
                                      <p:cBhvr additive="base">
                                        <p:cTn id="6" dur="500" fill="hold"/>
                                        <p:tgtEl>
                                          <p:spTgt spid="5"/>
                                        </p:tgtEl>
                                        <p:attrNameLst>
                                          <p:attrName>ppt_x</p:attrName>
                                        </p:attrNameLst>
                                      </p:cBhvr>
                                      <p:tavLst>
                                        <p:tav tm="0">
                                          <p:val>
                                            <p:strVal val="#ppt_x"/>
                                          </p:val>
                                        </p:tav>
                                        <p:tav tm="100000">
                                          <p:val>
                                            <p:strVal val="#ppt_x"/>
                                          </p:val>
                                        </p:tav>
                                      </p:tavLst>
                                    </p:anim>
                                    <p:anim calcmode="lin" valueType="num">
                                      <p:cBhvr additive="base">
                                        <p:cTn id="7" dur="500" fill="hold"/>
                                        <p:tgtEl>
                                          <p:spTgt spid="5"/>
                                        </p:tgtEl>
                                        <p:attrNameLst>
                                          <p:attrName>ppt_y</p:attrName>
                                        </p:attrNameLst>
                                      </p:cBhvr>
                                      <p:tavLst>
                                        <p:tav tm="0">
                                          <p:val>
                                            <p:strVal val="#ppt_y+.1"/>
                                          </p:val>
                                        </p:tav>
                                        <p:tav tm="100000">
                                          <p:val>
                                            <p:strVal val="#ppt_y"/>
                                          </p:val>
                                        </p:tav>
                                      </p:tavLst>
                                    </p:anim>
                                  </p:childTnLst>
                                </p:cTn>
                              </p:par>
                              <p:par>
                                <p:cTn id="8" presetID="42"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ppt_y+.1"/>
                                          </p:val>
                                        </p:tav>
                                        <p:tav tm="100000">
                                          <p:val>
                                            <p:strVal val="#ppt_y"/>
                                          </p:val>
                                        </p:tav>
                                      </p:tavLst>
                                    </p:anim>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31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31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4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42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53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64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64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42" presetClass="entr" presetSubtype="0" fill="hold" grpId="0" nodeType="withEffect">
                                  <p:stCondLst>
                                    <p:cond delay="70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7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1"/>
                                          </p:val>
                                        </p:tav>
                                        <p:tav tm="100000">
                                          <p:val>
                                            <p:strVal val="#ppt_y"/>
                                          </p:val>
                                        </p:tav>
                                      </p:tavLst>
                                    </p:anim>
                                  </p:childTnLst>
                                </p:cTn>
                              </p:par>
                              <p:par>
                                <p:cTn id="53" presetID="10" presetClass="entr" presetSubtype="0" fill="hold" grpId="0" nodeType="withEffect">
                                  <p:stCondLst>
                                    <p:cond delay="75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7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9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90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101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500"/>
                                        <p:tgtEl>
                                          <p:spTgt spid="23"/>
                                        </p:tgtEl>
                                      </p:cBhvr>
                                    </p:animEffect>
                                  </p:childTnLst>
                                </p:cTn>
                              </p:par>
                              <p:par>
                                <p:cTn id="68" presetID="10" presetClass="entr" presetSubtype="0" fill="hold" grpId="0" nodeType="withEffect">
                                  <p:stCondLst>
                                    <p:cond delay="101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112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112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123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123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par>
                                <p:cTn id="83" presetID="10" presetClass="entr" presetSubtype="0" fill="hold" grpId="0" nodeType="withEffect">
                                  <p:stCondLst>
                                    <p:cond delay="134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134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145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145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2" grpId="0" animBg="1"/>
      <p:bldP spid="14" grpId="0" animBg="1"/>
      <p:bldP spid="16" grpId="0" animBg="1"/>
      <p:bldP spid="19" grpId="0" animBg="1"/>
      <p:bldP spid="20" grpId="0" animBg="1"/>
      <p:bldP spid="18" grpId="0" animBg="1"/>
      <p:bldP spid="22" grpId="0" animBg="1"/>
      <p:bldP spid="24" grpId="0" animBg="1"/>
      <p:bldP spid="26" grpId="0" animBg="1"/>
      <p:bldP spid="28" grpId="0" animBg="1"/>
      <p:bldP spid="30" grpId="0" animBg="1"/>
      <p:bldP spid="3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0A2C"/>
        </a:solidFill>
      </p:bgPr>
    </p:bg>
    <p:spTree>
      <p:nvGrpSpPr>
        <p:cNvPr id="1" name=""/>
        <p:cNvGrpSpPr/>
        <p:nvPr/>
      </p:nvGrpSpPr>
      <p:grpSpPr>
        <a:xfrm>
          <a:off x="0" y="0"/>
          <a:ext cx="0" cy="0"/>
          <a:chOff x="0" y="0"/>
          <a:chExt cx="0" cy="0"/>
        </a:xfrm>
      </p:grpSpPr>
      <p:pic>
        <p:nvPicPr>
          <p:cNvPr id="3" name="Close clip" descr="/home/ghost/Desktop/Projects/Poolora/Doc/presentation/media/hero.gif">    </p:cNvPr>
          <p:cNvPicPr>
            <a:picLocks noChangeAspect="1"/>
          </p:cNvPicPr>
          <p:nvPr/>
        </p:nvPicPr>
        <p:blipFill>
          <a:blip r:embed="rId1"/>
          <a:stretch>
            <a:fillRect/>
          </a:stretch>
        </p:blipFill>
        <p:spPr>
          <a:xfrm>
            <a:off x="5577840" y="1097280"/>
            <a:ext cx="6309360" cy="3549015"/>
          </a:xfrm>
          <a:prstGeom prst="rect">
            <a:avLst/>
          </a:prstGeom>
        </p:spPr>
      </p:pic>
      <p:sp>
        <p:nvSpPr>
          <p:cNvPr id="4" name="Title 447"/>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Conclusion</a:t>
            </a:r>
            <a:endParaRPr lang="en-US" sz="3000" dirty="0"/>
          </a:p>
        </p:txBody>
      </p:sp>
      <p:sp>
        <p:nvSpPr>
          <p:cNvPr id="5" name="Text 448"/>
          <p:cNvSpPr/>
          <p:nvPr/>
        </p:nvSpPr>
        <p:spPr>
          <a:xfrm>
            <a:off x="548640" y="1463040"/>
            <a:ext cx="4846320" cy="3291840"/>
          </a:xfrm>
          <a:prstGeom prst="rect">
            <a:avLst/>
          </a:prstGeom>
          <a:noFill/>
          <a:ln/>
        </p:spPr>
        <p:txBody>
          <a:bodyPr wrap="square" lIns="0" tIns="0" rIns="0" bIns="0" rtlCol="0" anchor="t"/>
          <a:lstStyle/>
          <a:p>
            <a:pPr marL="203200" indent="-2032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Poolora pools seats, parcel space and group trips in one app</a:t>
            </a:r>
            <a:endParaRPr lang="en-US" sz="1700" dirty="0"/>
          </a:p>
          <a:p>
            <a:pPr marL="203200" indent="-2032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Built for Zimbabwe: US dollars and mobile money, Harare time, local holidays and vehicles</a:t>
            </a:r>
            <a:endParaRPr lang="en-US" sz="1700" dirty="0"/>
          </a:p>
          <a:p>
            <a:pPr marL="203200" indent="-2032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Safety, payments, refunds and operations are in place and tested</a:t>
            </a:r>
            <a:endParaRPr lang="en-US" sz="1700" dirty="0"/>
          </a:p>
          <a:p>
            <a:pPr marL="203200" indent="-203200">
              <a:spcAft>
                <a:spcPts val="700"/>
              </a:spcAft>
              <a:buSzPct val="100000"/>
              <a:buChar char="•"/>
            </a:pPr>
            <a:r>
              <a:rPr lang="en-US" sz="1700" dirty="0">
                <a:solidFill>
                  <a:srgbClr val="FFFFFF"/>
                </a:solidFill>
                <a:latin typeface="Calibri" pitchFamily="34" charset="0"/>
                <a:ea typeface="Calibri" pitchFamily="34" charset="-122"/>
                <a:cs typeface="Calibri" pitchFamily="34" charset="-120"/>
              </a:rPr>
              <a:t>Launch needs licences and live payments, not more code</a:t>
            </a:r>
            <a:endParaRPr lang="en-US" sz="1700" dirty="0"/>
          </a:p>
        </p:txBody>
      </p:sp>
      <p:sp>
        <p:nvSpPr>
          <p:cNvPr id="6" name="Thanks"/>
          <p:cNvSpPr/>
          <p:nvPr/>
        </p:nvSpPr>
        <p:spPr>
          <a:xfrm>
            <a:off x="548640" y="5029200"/>
            <a:ext cx="4846320" cy="640080"/>
          </a:xfrm>
          <a:prstGeom prst="rect">
            <a:avLst/>
          </a:prstGeom>
          <a:noFill/>
          <a:ln/>
        </p:spPr>
        <p:txBody>
          <a:bodyPr wrap="square" lIns="0" tIns="0" rIns="0" bIns="0" rtlCol="0" anchor="t"/>
          <a:lstStyle/>
          <a:p>
            <a:pPr indent="0" marL="0">
              <a:buNone/>
            </a:pPr>
            <a:r>
              <a:rPr lang="en-US" sz="3000" b="1" dirty="0">
                <a:solidFill>
                  <a:srgbClr val="3FC1B5"/>
                </a:solidFill>
                <a:latin typeface="Arial" pitchFamily="34" charset="0"/>
                <a:ea typeface="Arial" pitchFamily="34" charset="-122"/>
                <a:cs typeface="Arial" pitchFamily="34" charset="-120"/>
              </a:rPr>
              <a:t>Thank you · Questions?</a:t>
            </a:r>
            <a:endParaRPr lang="en-US" sz="3000" dirty="0"/>
          </a:p>
        </p:txBody>
      </p:sp>
      <p:pic>
        <p:nvPicPr>
          <p:cNvPr id="7" name="Mark 449" descr="/home/ghost/Desktop/Projects/Poolora/branding/poolora-icon.png">    </p:cNvPr>
          <p:cNvPicPr>
            <a:picLocks noChangeAspect="1"/>
          </p:cNvPicPr>
          <p:nvPr/>
        </p:nvPicPr>
        <p:blipFill>
          <a:blip r:embed="rId2"/>
          <a:stretch>
            <a:fillRect/>
          </a:stretch>
        </p:blipFill>
        <p:spPr>
          <a:xfrm>
            <a:off x="11368735" y="6355080"/>
            <a:ext cx="310896" cy="310896"/>
          </a:xfrm>
          <a:prstGeom prst="rect">
            <a:avLst/>
          </a:prstGeom>
        </p:spPr>
      </p:pic>
      <p:sp>
        <p:nvSpPr>
          <p:cNvPr id="8" name="Text 3"/>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26</a:t>
            </a:r>
            <a:endParaRPr lang="en-US" sz="1100" dirty="0"/>
          </a:p>
        </p:txBody>
      </p:sp>
      <p:sp>
        <p:nvSpPr>
          <p:cNvPr id="9" name="Text 4"/>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B9B4D9"/>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800"/>
                                        <p:tgtEl>
                                          <p:spTgt spid="3"/>
                                        </p:tgtEl>
                                      </p:cBhvr>
                                    </p:animEffect>
                                  </p:childTnLst>
                                </p:cTn>
                              </p:par>
                              <p:par>
                                <p:cTn id="6" presetID="42" presetClass="entr" presetSubtype="0" fill="hold" grpId="0" nodeType="withEffect">
                                  <p:stCondLst>
                                    <p:cond delay="30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anim calcmode="lin" valueType="num">
                                      <p:cBhvr additive="base">
                                        <p:cTn id="9" dur="500" fill="hold"/>
                                        <p:tgtEl>
                                          <p:spTgt spid="5"/>
                                        </p:tgtEl>
                                        <p:attrNameLst>
                                          <p:attrName>ppt_x</p:attrName>
                                        </p:attrNameLst>
                                      </p:cBhvr>
                                      <p:tavLst>
                                        <p:tav tm="0">
                                          <p:val>
                                            <p:strVal val="#ppt_x"/>
                                          </p:val>
                                        </p:tav>
                                        <p:tav tm="100000">
                                          <p:val>
                                            <p:strVal val="#ppt_x"/>
                                          </p:val>
                                        </p:tav>
                                      </p:tavLst>
                                    </p:anim>
                                    <p:anim calcmode="lin" valueType="num">
                                      <p:cBhvr additive="base">
                                        <p:cTn id="10" dur="500" fill="hold"/>
                                        <p:tgtEl>
                                          <p:spTgt spid="5"/>
                                        </p:tgtEl>
                                        <p:attrNameLst>
                                          <p:attrName>ppt_y</p:attrName>
                                        </p:attrNameLst>
                                      </p:cBhvr>
                                      <p:tavLst>
                                        <p:tav tm="0">
                                          <p:val>
                                            <p:strVal val="#ppt_y+.1"/>
                                          </p:val>
                                        </p:tav>
                                        <p:tav tm="100000">
                                          <p:val>
                                            <p:strVal val="#ppt_y"/>
                                          </p:val>
                                        </p:tav>
                                      </p:tavLst>
                                    </p:anim>
                                  </p:childTnLst>
                                </p:cTn>
                              </p:par>
                              <p:par>
                                <p:cTn id="11" presetID="53" presetClass="entr" presetSubtype="16" fill="hold" grpId="0" nodeType="withEffect">
                                  <p:stCondLst>
                                    <p:cond delay="90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ppt_w</p:attrName>
                                        </p:attrNameLst>
                                      </p:cBhvr>
                                      <p:tavLst>
                                        <p:tav tm="0">
                                          <p:val>
                                            <p:strVal val="0"/>
                                          </p:val>
                                        </p:tav>
                                        <p:tav tm="100000">
                                          <p:val>
                                            <p:strVal val="#ppt_w"/>
                                          </p:val>
                                        </p:tav>
                                      </p:tavLst>
                                    </p:anim>
                                    <p:anim calcmode="lin" valueType="num">
                                      <p:cBhvr additive="base">
                                        <p:cTn id="14" dur="500" fill="hold"/>
                                        <p:tgtEl>
                                          <p:spTgt spid="6"/>
                                        </p:tgtEl>
                                        <p:attrNameLst>
                                          <p:attrName>ppt_h</p:attrName>
                                        </p:attrNameLst>
                                      </p:cBhvr>
                                      <p:tavLst>
                                        <p:tav tm="0">
                                          <p:val>
                                            <p:strVal val="0"/>
                                          </p:val>
                                        </p:tav>
                                        <p:tav tm="100000">
                                          <p:val>
                                            <p:strVal val="#ppt_h"/>
                                          </p:val>
                                        </p:tav>
                                      </p:tavLst>
                                    </p:anim>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3" name="Title 450"/>
          <p:cNvSpPr/>
          <p:nvPr/>
        </p:nvSpPr>
        <p:spPr>
          <a:xfrm>
            <a:off x="548640" y="347472"/>
            <a:ext cx="11094415" cy="685800"/>
          </a:xfrm>
          <a:prstGeom prst="rect">
            <a:avLst/>
          </a:prstGeom>
          <a:noFill/>
          <a:ln/>
        </p:spPr>
        <p:txBody>
          <a:bodyPr wrap="square" lIns="0" tIns="0" rIns="0" bIns="0" rtlCol="0" anchor="ctr"/>
          <a:lstStyle/>
          <a:p>
            <a:pPr indent="0" marL="0">
              <a:buNone/>
            </a:pPr>
            <a:r>
              <a:rPr lang="en-US" sz="3000" b="1" dirty="0">
                <a:solidFill>
                  <a:srgbClr val="1B1446"/>
                </a:solidFill>
                <a:latin typeface="Arial" pitchFamily="34" charset="0"/>
                <a:ea typeface="Arial" pitchFamily="34" charset="-122"/>
                <a:cs typeface="Arial" pitchFamily="34" charset="-120"/>
              </a:rPr>
              <a:t>Sources</a:t>
            </a:r>
            <a:endParaRPr lang="en-US" sz="3000" dirty="0"/>
          </a:p>
        </p:txBody>
      </p:sp>
      <p:sp>
        <p:nvSpPr>
          <p:cNvPr id="4" name="Subtitle 451"/>
          <p:cNvSpPr/>
          <p:nvPr/>
        </p:nvSpPr>
        <p:spPr>
          <a:xfrm>
            <a:off x="548640" y="1005840"/>
            <a:ext cx="10728655" cy="457200"/>
          </a:xfrm>
          <a:prstGeom prst="rect">
            <a:avLst/>
          </a:prstGeom>
          <a:noFill/>
          <a:ln/>
        </p:spPr>
        <p:txBody>
          <a:bodyPr wrap="square" lIns="0" tIns="0" rIns="0" bIns="0" rtlCol="0" anchor="ctr"/>
          <a:lstStyle/>
          <a:p>
            <a:pPr indent="0" marL="0">
              <a:buNone/>
            </a:pPr>
            <a:r>
              <a:rPr lang="en-US" sz="1600" dirty="0">
                <a:solidFill>
                  <a:srgbClr val="5B6475"/>
                </a:solidFill>
                <a:latin typeface="Calibri" pitchFamily="34" charset="0"/>
                <a:ea typeface="Calibri" pitchFamily="34" charset="-122"/>
                <a:cs typeface="Calibri" pitchFamily="34" charset="-120"/>
              </a:rPr>
              <a:t>Market figures checked in September 2026. Poolora figures are read from the code when the deck is built.</a:t>
            </a:r>
            <a:endParaRPr lang="en-US" sz="1600" dirty="0"/>
          </a:p>
        </p:txBody>
      </p:sp>
      <p:sp>
        <p:nvSpPr>
          <p:cNvPr id="5" name="Text 452"/>
          <p:cNvSpPr/>
          <p:nvPr/>
        </p:nvSpPr>
        <p:spPr>
          <a:xfrm>
            <a:off x="548640" y="1600200"/>
            <a:ext cx="11094415" cy="44805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Zimpricecheck, "Urban ZUPCO, intercity bus fare and transport costs", 29 Sept 2026 · zimpricecheck.com</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CityLink Luxury Coaches, routes and fares · citylinkcoaches.co.zw</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ZERA fuel prices via GlobalPetrolPrices, 17 Sept 2026 · globalpetrolprices.com/Zimbabwe</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NewsDay, "Adjust to our ride fares or walk, inDrive drivers tell Zimboz" · newsday.co.zw</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Equity Axis, "Zimbabwe gives inDrive, Tap &amp; Go and Bolt five months…", Sept 2026 · equityaxis.net</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Things to Do in Zimbabwe, "Taxis &amp; rideshare in Zimbabwe (2026)" · thingstodoinzimbabwe.com</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NewZimbabwe, "Kombis now demanding fares in US dollars" · newzimbabwe.com</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inDrive help, "How to cancel a ride" · indrive.com; BlaBlaCar carpool cancellation policy · blablacar.com</a:t>
            </a:r>
            <a:endParaRPr lang="en-US" sz="1400" dirty="0"/>
          </a:p>
          <a:p>
            <a:pPr marL="203200" indent="-203200">
              <a:spcAft>
                <a:spcPts val="700"/>
              </a:spcAft>
              <a:buSzPct val="100000"/>
              <a:buChar char="•"/>
            </a:pPr>
            <a:r>
              <a:rPr lang="en-US" sz="1400" dirty="0">
                <a:solidFill>
                  <a:srgbClr val="1F2330"/>
                </a:solidFill>
                <a:latin typeface="Calibri" pitchFamily="34" charset="0"/>
                <a:ea typeface="Calibri" pitchFamily="34" charset="-122"/>
                <a:cs typeface="Calibri" pitchFamily="34" charset="-120"/>
              </a:rPr>
              <a:t>Zimbabwe outline: Natural Earth via johan/world.geo.json (public domain)</a:t>
            </a:r>
            <a:endParaRPr lang="en-US" sz="1400" dirty="0"/>
          </a:p>
        </p:txBody>
      </p:sp>
      <p:pic>
        <p:nvPicPr>
          <p:cNvPr id="6" name="Mark 453" descr="/home/ghost/Desktop/Projects/Poolora/branding/poolora-icon.png">    </p:cNvPr>
          <p:cNvPicPr>
            <a:picLocks noChangeAspect="1"/>
          </p:cNvPicPr>
          <p:nvPr/>
        </p:nvPicPr>
        <p:blipFill>
          <a:blip r:embed="rId1"/>
          <a:stretch>
            <a:fillRect/>
          </a:stretch>
        </p:blipFill>
        <p:spPr>
          <a:xfrm>
            <a:off x="11368735" y="6355080"/>
            <a:ext cx="310896" cy="310896"/>
          </a:xfrm>
          <a:prstGeom prst="rect">
            <a:avLst/>
          </a:prstGeom>
        </p:spPr>
      </p:pic>
      <p:sp>
        <p:nvSpPr>
          <p:cNvPr id="7" name="Text 3"/>
          <p:cNvSpPr/>
          <p:nvPr/>
        </p:nvSpPr>
        <p:spPr>
          <a:xfrm>
            <a:off x="548640" y="6382512"/>
            <a:ext cx="54864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27</a:t>
            </a:r>
            <a:endParaRPr lang="en-US" sz="1100" dirty="0"/>
          </a:p>
        </p:txBody>
      </p:sp>
      <p:sp>
        <p:nvSpPr>
          <p:cNvPr id="8" name="Text 4"/>
          <p:cNvSpPr/>
          <p:nvPr/>
        </p:nvSpPr>
        <p:spPr>
          <a:xfrm>
            <a:off x="1005840" y="6382512"/>
            <a:ext cx="5486400" cy="27432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Poolora · Final year project · 2026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cond evt="onBegin" delay="0">
                          <p:tn val="2"/>
                        </p:cond>
                      </p:stCondLst>
                      <p:childTnLst>
                        <p:par>
                          <p:cTn id="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Poolora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Poolora: Smart Ride-Sharing and Pooling Platform</dc:title>
  <dc:subject>PptxGenJS Presentation</dc:subject>
  <dc:creator>Nkosinathi Michael Sibanda</dc:creator>
  <cp:lastModifiedBy>Nkosinathi Michael Sibanda</cp:lastModifiedBy>
  <cp:revision>1</cp:revision>
  <dcterms:created xsi:type="dcterms:W3CDTF">2026-10-01T08:38:39Z</dcterms:created>
  <dcterms:modified xsi:type="dcterms:W3CDTF">2026-10-01T08:38:39Z</dcterms:modified>
</cp:coreProperties>
</file>