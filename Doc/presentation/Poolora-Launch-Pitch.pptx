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Poolora is a carpooling app for Zimbabwe: drivers already making a trip sell their empty seats, riders book and pay by EcoCash or card. Built and tested; launching in Harare.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Harare commuters have cheap but crowded buses and kombis, or taxi apps that cost several times more. Fuel is over two dollars a litre, and most private cars on commute routes carry only the driver. Figures are from September 2026; sources are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animation shows the idea: three solo trips become one shared car. Poolora pools three things: seats in cars already making a trip, parcel space, and group trips.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ride in five steps. Payment is taken when the rider books; the driver accepts, and the driver is paid when the rider is dropped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rider home screen on a Harare map, with the five vehicle classes. Searching Borrowdale lists every ride passing that way: car, minivan, auto and bike, with price, time and seats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Ride details show the driver, rating, vehicle and route. Booking takes a message for the driver and the payment method. Payment goes through Paynow: EcoCash and OneMoney push a PIN prompt to the phone, InnBucks gives a code, cards open Paynow's secure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simulated ride in Harare: the app shows the car approaching, then "Driver has arrived". The SOS screen alerts the safety team and emergency contacts; 999 is one tap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Drivers see today's earnings and upcoming rides. Posting Harare to Bulawayo suggests US$26.50 a seat off-peak (US$29 in commute hours) from the route distance and vehicle; the driver can choose within 30%.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Parcels are priced like a motorbike courier in town (about US$5.50 for 10 km) and near Zimpost between cities (about US$16 for 5 kg Harare to Bulawayo), with photo proof and a delivery code. Group trips match partners by interests, dates and budget. The wallet takes refunds and earnings and withdraws to mobile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Seat prices come from the route distance and a per-kilometre rate for the vehicle, about a car's running cost shared between riders, plus 10% in commute hours and a surge only when the demand forecast is high. A 15 km commute costs about a dollar, like a kombi; Harare to Bulawayo sits between the ordinary bus and the luxury coach.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Riders pay the seat price with no booking fee. Poolora keeps 15% of completed fares; the rest goes to the driver. On a full intercity trip the fares cover the driver's fuel, which is what makes drivers post rides.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Refunds follow simple rules: before the driver accepts, everything comes back; 30 minutes after acceptance it is still free if the ride is an hour or more away; then 100% from 24 hours, 50% from 2 hours, nothing after. Driver cancellations and changed times always refund in full. Paynow cannot refund, so money comes back to the wallet and can be withdrawn to mobile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country-specific lives in one market registry: time zone, phone format, currency, emergency numbers, map bounds and now the public holidays. Zimbabwe is the first entry; another country is a new entry plus its payment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 dashboard is how the team runs the service: live figures, SOS incidents, driver applications, disputes, payouts, and settings such as the refund tiers, each change logged and critical ones needing a second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done and what is left before real users. The legal and payment items are paperwork, not code. The e-hailing regulations are being written during a five-month transition from 8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 and contact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the market figures came from. Prices change often; these were checked in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13-7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13-2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10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gif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0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image" Target="../media/image-12-1.png"/><Relationship Id="rId7" Type="http://schemas.openxmlformats.org/officeDocument/2006/relationships/image" Target="../media/image-15-10.png"/><Relationship Id="rId8" Type="http://schemas.openxmlformats.org/officeDocument/2006/relationships/image" Target="../media/image-15-10.png"/><Relationship Id="rId9" Type="http://schemas.openxmlformats.org/officeDocument/2006/relationships/image" Target="../media/image-15-10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0.png"/><Relationship Id="rId12" Type="http://schemas.openxmlformats.org/officeDocument/2006/relationships/image" Target="../media/image-15-10.png"/><Relationship Id="rId13" Type="http://schemas.openxmlformats.org/officeDocument/2006/relationships/image" Target="../media/image-10-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ero clip" descr="/home/ghost/Desktop/Projects/Poolora/Doc/presentation/media/hero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822960"/>
            <a:ext cx="6949440" cy="3909060"/>
          </a:xfrm>
          <a:prstGeom prst="rect">
            <a:avLst/>
          </a:prstGeom>
        </p:spPr>
      </p:pic>
      <p:sp>
        <p:nvSpPr>
          <p:cNvPr id="4" name="Logo panel"/>
          <p:cNvSpPr/>
          <p:nvPr/>
        </p:nvSpPr>
        <p:spPr>
          <a:xfrm>
            <a:off x="548640" y="640080"/>
            <a:ext cx="3383280" cy="1078992"/>
          </a:xfrm>
          <a:prstGeom prst="roundRect">
            <a:avLst>
              <a:gd name="adj" fmla="val 127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Logo" descr="/home/ghost/Desktop/Projects/Poolora/branding/poolora-lock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713232"/>
            <a:ext cx="3154680" cy="987552"/>
          </a:xfrm>
          <a:prstGeom prst="rect">
            <a:avLst/>
          </a:prstGeom>
        </p:spPr>
      </p:pic>
      <p:sp>
        <p:nvSpPr>
          <p:cNvPr id="6" name="Name"/>
          <p:cNvSpPr/>
          <p:nvPr/>
        </p:nvSpPr>
        <p:spPr>
          <a:xfrm>
            <a:off x="54864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Poolora</a:t>
            </a:r>
            <a:endParaRPr lang="en-US" sz="5400" dirty="0"/>
          </a:p>
        </p:txBody>
      </p:sp>
      <p:sp>
        <p:nvSpPr>
          <p:cNvPr id="7" name="Tagline"/>
          <p:cNvSpPr/>
          <p:nvPr/>
        </p:nvSpPr>
        <p:spPr>
          <a:xfrm>
            <a:off x="548640" y="3063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ride. Split the cost. Travel safer.</a:t>
            </a:r>
            <a:endParaRPr lang="en-US" sz="2200" dirty="0"/>
          </a:p>
        </p:txBody>
      </p:sp>
      <p:sp>
        <p:nvSpPr>
          <p:cNvPr id="8" name="Market line"/>
          <p:cNvSpPr/>
          <p:nvPr/>
        </p:nvSpPr>
        <p:spPr>
          <a:xfrm>
            <a:off x="54864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Carpooling for Zimbabwe, starting in Harare</a:t>
            </a:r>
            <a:endParaRPr lang="en-US" sz="1600" dirty="0"/>
          </a:p>
        </p:txBody>
      </p:sp>
      <p:sp>
        <p:nvSpPr>
          <p:cNvPr id="9" name="Credits"/>
          <p:cNvSpPr/>
          <p:nvPr/>
        </p:nvSpPr>
        <p:spPr>
          <a:xfrm>
            <a:off x="548640" y="4754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M. Sibanda, founder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nathimike102@icloud.com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around Harare today</a:t>
            </a:r>
            <a:endParaRPr lang="en-US" sz="3000" dirty="0"/>
          </a:p>
        </p:txBody>
      </p:sp>
      <p:sp>
        <p:nvSpPr>
          <p:cNvPr id="4" name="Subtitle 2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options are crowded or unsafe; safe options are expensive; private cars run half empty.</a:t>
            </a:r>
            <a:endParaRPr lang="en-US" sz="1600" dirty="0"/>
          </a:p>
        </p:txBody>
      </p:sp>
      <p:sp>
        <p:nvSpPr>
          <p:cNvPr id="5" name="Card 3"/>
          <p:cNvSpPr/>
          <p:nvPr/>
        </p:nvSpPr>
        <p:spPr>
          <a:xfrm>
            <a:off x="548640" y="1783080"/>
            <a:ext cx="53949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Icon 4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7" name="Icon 4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227411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075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Crowded public transport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83080" y="25328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ZUPCO charges US$0.50 up to 20 km but cannot meet demand, so private kombis and unlicensed "mushikashika" fill the gap.</a:t>
            </a:r>
            <a:endParaRPr lang="en-US" sz="1400" dirty="0"/>
          </a:p>
        </p:txBody>
      </p:sp>
      <p:sp>
        <p:nvSpPr>
          <p:cNvPr id="10" name="Card 7"/>
          <p:cNvSpPr/>
          <p:nvPr/>
        </p:nvSpPr>
        <p:spPr>
          <a:xfrm>
            <a:off x="6172200" y="1783080"/>
            <a:ext cx="53949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Icon 8"/>
          <p:cNvSpPr/>
          <p:nvPr/>
        </p:nvSpPr>
        <p:spPr>
          <a:xfrm>
            <a:off x="6446520" y="2103120"/>
            <a:ext cx="777240" cy="77724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12" name="Icon 8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513" y="2274113"/>
            <a:ext cx="435254" cy="435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075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Taxi apps cost more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06640" y="253288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inDrive, Vaya and others charge about US$2–4 for 5 km, several times a kombi fare, and drivers are raising prices.</a:t>
            </a:r>
            <a:endParaRPr lang="en-US" sz="1400" dirty="0"/>
          </a:p>
        </p:txBody>
      </p:sp>
      <p:sp>
        <p:nvSpPr>
          <p:cNvPr id="15" name="Card 11"/>
          <p:cNvSpPr/>
          <p:nvPr/>
        </p:nvSpPr>
        <p:spPr>
          <a:xfrm>
            <a:off x="548640" y="3931920"/>
            <a:ext cx="53949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Icon 12"/>
          <p:cNvSpPr/>
          <p:nvPr/>
        </p:nvSpPr>
        <p:spPr>
          <a:xfrm>
            <a:off x="822960" y="4251960"/>
            <a:ext cx="777240" cy="77724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17" name="Icon 12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53" y="4422953"/>
            <a:ext cx="435254" cy="435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seats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is about US$2.06 a litre, yet most cars on commute routes carry one person. The seats beside them go unused.</a:t>
            </a:r>
            <a:endParaRPr lang="en-US" sz="1400" dirty="0"/>
          </a:p>
        </p:txBody>
      </p:sp>
      <p:sp>
        <p:nvSpPr>
          <p:cNvPr id="20" name="Card 15"/>
          <p:cNvSpPr/>
          <p:nvPr/>
        </p:nvSpPr>
        <p:spPr>
          <a:xfrm>
            <a:off x="6172200" y="3931920"/>
            <a:ext cx="5394960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Icon 16"/>
          <p:cNvSpPr/>
          <p:nvPr/>
        </p:nvSpPr>
        <p:spPr>
          <a:xfrm>
            <a:off x="6446520" y="4251960"/>
            <a:ext cx="777240" cy="777240"/>
          </a:xfrm>
          <a:prstGeom prst="ellipse">
            <a:avLst/>
          </a:prstGeom>
          <a:solidFill>
            <a:srgbClr val="E3F2F0"/>
          </a:solidFill>
          <a:ln w="12700">
            <a:solidFill>
              <a:srgbClr val="E3F2F0"/>
            </a:solidFill>
            <a:prstDash val="solid"/>
          </a:ln>
        </p:spPr>
      </p:sp>
      <p:pic>
        <p:nvPicPr>
          <p:cNvPr id="22" name="Icon 16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513" y="4422953"/>
            <a:ext cx="435254" cy="4352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and trust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lifts have no verified drivers, no record of the trip and no quick way to get help.</a:t>
            </a:r>
            <a:endParaRPr lang="en-US" sz="1400" dirty="0"/>
          </a:p>
        </p:txBody>
      </p:sp>
      <p:pic>
        <p:nvPicPr>
          <p:cNvPr id="25" name="Mark 19" descr="/home/ghost/Desktop/Projects/Poolora/branding/poolora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0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three kinds of pooling</a:t>
            </a:r>
            <a:endParaRPr lang="en-US" sz="3000" dirty="0"/>
          </a:p>
        </p:txBody>
      </p:sp>
      <p:sp>
        <p:nvSpPr>
          <p:cNvPr id="4" name="Subtitle 21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who are making the trip anyway sell their empty seats and boot space.</a:t>
            </a:r>
            <a:endParaRPr lang="en-US" sz="1600" dirty="0"/>
          </a:p>
        </p:txBody>
      </p:sp>
      <p:pic>
        <p:nvPicPr>
          <p:cNvPr id="5" name="Pool clip" descr="/home/ghost/Desktop/Projects/Poolora/Doc/presentation/media/pool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583680" cy="3703320"/>
          </a:xfrm>
          <a:prstGeom prst="rect">
            <a:avLst/>
          </a:prstGeom>
        </p:spPr>
      </p:pic>
      <p:sp>
        <p:nvSpPr>
          <p:cNvPr id="6" name="Icon 22"/>
          <p:cNvSpPr/>
          <p:nvPr/>
        </p:nvSpPr>
        <p:spPr>
          <a:xfrm>
            <a:off x="7498080" y="1783080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7" name="Icon 22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9014" y="1944014"/>
            <a:ext cx="409651" cy="409651"/>
          </a:xfrm>
          <a:prstGeom prst="rect">
            <a:avLst/>
          </a:prstGeom>
        </p:spPr>
      </p:pic>
      <p:sp>
        <p:nvSpPr>
          <p:cNvPr id="8" name="Text 23"/>
          <p:cNvSpPr/>
          <p:nvPr/>
        </p:nvSpPr>
        <p:spPr>
          <a:xfrm>
            <a:off x="841248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pooling</a:t>
            </a:r>
            <a:endParaRPr lang="en-US" sz="1900" dirty="0"/>
          </a:p>
        </p:txBody>
      </p:sp>
      <p:sp>
        <p:nvSpPr>
          <p:cNvPr id="9" name="Text 24"/>
          <p:cNvSpPr/>
          <p:nvPr/>
        </p:nvSpPr>
        <p:spPr>
          <a:xfrm>
            <a:off x="841248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seat in a car, SUV, minivan, auto or on a bike going your way. US$1 for a 15 km commute.</a:t>
            </a:r>
            <a:endParaRPr lang="en-US" sz="1350" dirty="0"/>
          </a:p>
        </p:txBody>
      </p:sp>
      <p:sp>
        <p:nvSpPr>
          <p:cNvPr id="10" name="Icon 25"/>
          <p:cNvSpPr/>
          <p:nvPr/>
        </p:nvSpPr>
        <p:spPr>
          <a:xfrm>
            <a:off x="7498080" y="3154680"/>
            <a:ext cx="731520" cy="731520"/>
          </a:xfrm>
          <a:prstGeom prst="ellipse">
            <a:avLst/>
          </a:prstGeom>
          <a:solidFill>
            <a:srgbClr val="D9468F"/>
          </a:solidFill>
          <a:ln w="12700">
            <a:solidFill>
              <a:srgbClr val="D9468F"/>
            </a:solidFill>
            <a:prstDash val="solid"/>
          </a:ln>
        </p:spPr>
      </p:sp>
      <p:pic>
        <p:nvPicPr>
          <p:cNvPr id="11" name="Icon 25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014" y="3315614"/>
            <a:ext cx="409651" cy="409651"/>
          </a:xfrm>
          <a:prstGeom prst="rect">
            <a:avLst/>
          </a:prstGeom>
        </p:spPr>
      </p:pic>
      <p:sp>
        <p:nvSpPr>
          <p:cNvPr id="12" name="Text 26"/>
          <p:cNvSpPr/>
          <p:nvPr/>
        </p:nvSpPr>
        <p:spPr>
          <a:xfrm>
            <a:off x="841248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pooling</a:t>
            </a:r>
            <a:endParaRPr lang="en-US" sz="1900" dirty="0"/>
          </a:p>
        </p:txBody>
      </p:sp>
      <p:sp>
        <p:nvSpPr>
          <p:cNvPr id="13" name="Text 27"/>
          <p:cNvSpPr/>
          <p:nvPr/>
        </p:nvSpPr>
        <p:spPr>
          <a:xfrm>
            <a:off x="8412480" y="3474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parcel with a driver already on the route; the recipient hands over a delivery code.</a:t>
            </a:r>
            <a:endParaRPr lang="en-US" sz="1350" dirty="0"/>
          </a:p>
        </p:txBody>
      </p:sp>
      <p:sp>
        <p:nvSpPr>
          <p:cNvPr id="14" name="Icon 28"/>
          <p:cNvSpPr/>
          <p:nvPr/>
        </p:nvSpPr>
        <p:spPr>
          <a:xfrm>
            <a:off x="7498080" y="4526280"/>
            <a:ext cx="731520" cy="73152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15" name="Icon 28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014" y="4687214"/>
            <a:ext cx="409651" cy="409651"/>
          </a:xfrm>
          <a:prstGeom prst="rect">
            <a:avLst/>
          </a:prstGeom>
        </p:spPr>
      </p:pic>
      <p:sp>
        <p:nvSpPr>
          <p:cNvPr id="16" name="Text 29"/>
          <p:cNvSpPr/>
          <p:nvPr/>
        </p:nvSpPr>
        <p:spPr>
          <a:xfrm>
            <a:off x="8412480" y="4434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pooling</a:t>
            </a:r>
            <a:endParaRPr lang="en-US" sz="1900" dirty="0"/>
          </a:p>
        </p:txBody>
      </p:sp>
      <p:sp>
        <p:nvSpPr>
          <p:cNvPr id="17" name="Text 30"/>
          <p:cNvSpPr/>
          <p:nvPr/>
        </p:nvSpPr>
        <p:spPr>
          <a:xfrm>
            <a:off x="8412480" y="48463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group trip, find partners, vote on activities and split costs to the cent.</a:t>
            </a:r>
            <a:endParaRPr lang="en-US" sz="1350" dirty="0"/>
          </a:p>
        </p:txBody>
      </p:sp>
      <p:pic>
        <p:nvPicPr>
          <p:cNvPr id="18" name="Mark 31" descr="/home/ghost/Desktop/Projects/Poolora/branding/poolora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2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shared ride works</a:t>
            </a:r>
            <a:endParaRPr lang="en-US" sz="3000" dirty="0"/>
          </a:p>
        </p:txBody>
      </p:sp>
      <p:sp>
        <p:nvSpPr>
          <p:cNvPr id="4" name="Subtitle 33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posting a ride to rating it, in five steps.</a:t>
            </a:r>
            <a:endParaRPr lang="en-US" sz="1600" dirty="0"/>
          </a:p>
        </p:txBody>
      </p:sp>
      <p:sp>
        <p:nvSpPr>
          <p:cNvPr id="5" name="Icon 34"/>
          <p:cNvSpPr/>
          <p:nvPr/>
        </p:nvSpPr>
        <p:spPr>
          <a:xfrm>
            <a:off x="1207008" y="1783080"/>
            <a:ext cx="868680" cy="86868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6" name="Icon 34 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118" y="1974190"/>
            <a:ext cx="486461" cy="486461"/>
          </a:xfrm>
          <a:prstGeom prst="rect">
            <a:avLst/>
          </a:prstGeom>
        </p:spPr>
      </p:pic>
      <p:sp>
        <p:nvSpPr>
          <p:cNvPr id="7" name="Arrow 35"/>
          <p:cNvSpPr/>
          <p:nvPr/>
        </p:nvSpPr>
        <p:spPr>
          <a:xfrm>
            <a:off x="2331720" y="2057400"/>
            <a:ext cx="411480" cy="320040"/>
          </a:xfrm>
          <a:prstGeom prst="rightArrow">
            <a:avLst/>
          </a:prstGeom>
          <a:solidFill>
            <a:srgbClr val="D5DBE3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8" name="Card 36"/>
          <p:cNvSpPr/>
          <p:nvPr/>
        </p:nvSpPr>
        <p:spPr>
          <a:xfrm>
            <a:off x="548640" y="292608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37"/>
          <p:cNvSpPr/>
          <p:nvPr/>
        </p:nvSpPr>
        <p:spPr>
          <a:xfrm>
            <a:off x="7315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38"/>
          <p:cNvSpPr/>
          <p:nvPr/>
        </p:nvSpPr>
        <p:spPr>
          <a:xfrm>
            <a:off x="73152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posts</a:t>
            </a:r>
            <a:endParaRPr lang="en-US" sz="1600" dirty="0"/>
          </a:p>
        </p:txBody>
      </p:sp>
      <p:sp>
        <p:nvSpPr>
          <p:cNvPr id="11" name="Text 39"/>
          <p:cNvSpPr/>
          <p:nvPr/>
        </p:nvSpPr>
        <p:spPr>
          <a:xfrm>
            <a:off x="731520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time (at least 2 h ahead), up to 3 stops, seats and a price within the suggested range</a:t>
            </a:r>
            <a:endParaRPr lang="en-US" sz="1250" dirty="0"/>
          </a:p>
        </p:txBody>
      </p:sp>
      <p:sp>
        <p:nvSpPr>
          <p:cNvPr id="12" name="Icon 40"/>
          <p:cNvSpPr/>
          <p:nvPr/>
        </p:nvSpPr>
        <p:spPr>
          <a:xfrm>
            <a:off x="3493008" y="1783080"/>
            <a:ext cx="868680" cy="868680"/>
          </a:xfrm>
          <a:prstGeom prst="ellipse">
            <a:avLst/>
          </a:prstGeom>
          <a:solidFill>
            <a:srgbClr val="D9468F"/>
          </a:solidFill>
          <a:ln w="12700">
            <a:solidFill>
              <a:srgbClr val="D9468F"/>
            </a:solidFill>
            <a:prstDash val="solid"/>
          </a:ln>
        </p:spPr>
      </p:sp>
      <p:pic>
        <p:nvPicPr>
          <p:cNvPr id="13" name="Icon 40 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118" y="1974190"/>
            <a:ext cx="486461" cy="486461"/>
          </a:xfrm>
          <a:prstGeom prst="rect">
            <a:avLst/>
          </a:prstGeom>
        </p:spPr>
      </p:pic>
      <p:sp>
        <p:nvSpPr>
          <p:cNvPr id="14" name="Arrow 41"/>
          <p:cNvSpPr/>
          <p:nvPr/>
        </p:nvSpPr>
        <p:spPr>
          <a:xfrm>
            <a:off x="4617720" y="2057400"/>
            <a:ext cx="411480" cy="320040"/>
          </a:xfrm>
          <a:prstGeom prst="rightArrow">
            <a:avLst/>
          </a:prstGeom>
          <a:solidFill>
            <a:srgbClr val="D5DBE3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5" name="Card 42"/>
          <p:cNvSpPr/>
          <p:nvPr/>
        </p:nvSpPr>
        <p:spPr>
          <a:xfrm>
            <a:off x="2834640" y="292608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43"/>
          <p:cNvSpPr/>
          <p:nvPr/>
        </p:nvSpPr>
        <p:spPr>
          <a:xfrm>
            <a:off x="30175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44"/>
          <p:cNvSpPr/>
          <p:nvPr/>
        </p:nvSpPr>
        <p:spPr>
          <a:xfrm>
            <a:off x="301752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searches</a:t>
            </a:r>
            <a:endParaRPr lang="en-US" sz="1600" dirty="0"/>
          </a:p>
        </p:txBody>
      </p:sp>
      <p:sp>
        <p:nvSpPr>
          <p:cNvPr id="18" name="Text 45"/>
          <p:cNvSpPr/>
          <p:nvPr/>
        </p:nvSpPr>
        <p:spPr>
          <a:xfrm>
            <a:off x="3017520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anywhere along the route, ranked by distance, time, rating and reliability</a:t>
            </a:r>
            <a:endParaRPr lang="en-US" sz="1250" dirty="0"/>
          </a:p>
        </p:txBody>
      </p:sp>
      <p:sp>
        <p:nvSpPr>
          <p:cNvPr id="19" name="Icon 46"/>
          <p:cNvSpPr/>
          <p:nvPr/>
        </p:nvSpPr>
        <p:spPr>
          <a:xfrm>
            <a:off x="5779008" y="1783080"/>
            <a:ext cx="868680" cy="86868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20" name="Icon 46 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118" y="1974190"/>
            <a:ext cx="486461" cy="486461"/>
          </a:xfrm>
          <a:prstGeom prst="rect">
            <a:avLst/>
          </a:prstGeom>
        </p:spPr>
      </p:pic>
      <p:sp>
        <p:nvSpPr>
          <p:cNvPr id="21" name="Arrow 47"/>
          <p:cNvSpPr/>
          <p:nvPr/>
        </p:nvSpPr>
        <p:spPr>
          <a:xfrm>
            <a:off x="6903720" y="2057400"/>
            <a:ext cx="411480" cy="320040"/>
          </a:xfrm>
          <a:prstGeom prst="rightArrow">
            <a:avLst/>
          </a:prstGeom>
          <a:solidFill>
            <a:srgbClr val="D5DBE3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22" name="Card 48"/>
          <p:cNvSpPr/>
          <p:nvPr/>
        </p:nvSpPr>
        <p:spPr>
          <a:xfrm>
            <a:off x="5120640" y="292608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49"/>
          <p:cNvSpPr/>
          <p:nvPr/>
        </p:nvSpPr>
        <p:spPr>
          <a:xfrm>
            <a:off x="53035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50"/>
          <p:cNvSpPr/>
          <p:nvPr/>
        </p:nvSpPr>
        <p:spPr>
          <a:xfrm>
            <a:off x="530352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and pays</a:t>
            </a:r>
            <a:endParaRPr lang="en-US" sz="1600" dirty="0"/>
          </a:p>
        </p:txBody>
      </p:sp>
      <p:sp>
        <p:nvSpPr>
          <p:cNvPr id="25" name="Text 51"/>
          <p:cNvSpPr/>
          <p:nvPr/>
        </p:nvSpPr>
        <p:spPr>
          <a:xfrm>
            <a:off x="5303520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EcoCash, OneMoney, InnBucks, card or wallet. Unpaid requests close after 15 min</a:t>
            </a:r>
            <a:endParaRPr lang="en-US" sz="1250" dirty="0"/>
          </a:p>
        </p:txBody>
      </p:sp>
      <p:sp>
        <p:nvSpPr>
          <p:cNvPr id="26" name="Icon 52"/>
          <p:cNvSpPr/>
          <p:nvPr/>
        </p:nvSpPr>
        <p:spPr>
          <a:xfrm>
            <a:off x="8065008" y="1783080"/>
            <a:ext cx="868680" cy="868680"/>
          </a:xfrm>
          <a:prstGeom prst="ellipse">
            <a:avLst/>
          </a:prstGeom>
          <a:solidFill>
            <a:srgbClr val="D9468F"/>
          </a:solidFill>
          <a:ln w="12700">
            <a:solidFill>
              <a:srgbClr val="D9468F"/>
            </a:solidFill>
            <a:prstDash val="solid"/>
          </a:ln>
        </p:spPr>
      </p:sp>
      <p:pic>
        <p:nvPicPr>
          <p:cNvPr id="27" name="Icon 52 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118" y="1974190"/>
            <a:ext cx="486461" cy="486461"/>
          </a:xfrm>
          <a:prstGeom prst="rect">
            <a:avLst/>
          </a:prstGeom>
        </p:spPr>
      </p:pic>
      <p:sp>
        <p:nvSpPr>
          <p:cNvPr id="28" name="Arrow 53"/>
          <p:cNvSpPr/>
          <p:nvPr/>
        </p:nvSpPr>
        <p:spPr>
          <a:xfrm>
            <a:off x="9189720" y="2057400"/>
            <a:ext cx="411480" cy="320040"/>
          </a:xfrm>
          <a:prstGeom prst="rightArrow">
            <a:avLst/>
          </a:prstGeom>
          <a:solidFill>
            <a:srgbClr val="D5DBE3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29" name="Card 54"/>
          <p:cNvSpPr/>
          <p:nvPr/>
        </p:nvSpPr>
        <p:spPr>
          <a:xfrm>
            <a:off x="7406640" y="292608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55"/>
          <p:cNvSpPr/>
          <p:nvPr/>
        </p:nvSpPr>
        <p:spPr>
          <a:xfrm>
            <a:off x="75895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4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56"/>
          <p:cNvSpPr/>
          <p:nvPr/>
        </p:nvSpPr>
        <p:spPr>
          <a:xfrm>
            <a:off x="758952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 live</a:t>
            </a:r>
            <a:endParaRPr lang="en-US" sz="1600" dirty="0"/>
          </a:p>
        </p:txBody>
      </p:sp>
      <p:sp>
        <p:nvSpPr>
          <p:cNvPr id="32" name="Text 57"/>
          <p:cNvSpPr/>
          <p:nvPr/>
        </p:nvSpPr>
        <p:spPr>
          <a:xfrm>
            <a:off x="7589520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arrives, picks up, drops off; live map, SOS and check-ins throughout</a:t>
            </a:r>
            <a:endParaRPr lang="en-US" sz="1250" dirty="0"/>
          </a:p>
        </p:txBody>
      </p:sp>
      <p:sp>
        <p:nvSpPr>
          <p:cNvPr id="33" name="Icon 58"/>
          <p:cNvSpPr/>
          <p:nvPr/>
        </p:nvSpPr>
        <p:spPr>
          <a:xfrm>
            <a:off x="10351008" y="1783080"/>
            <a:ext cx="868680" cy="86868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pic>
        <p:nvPicPr>
          <p:cNvPr id="34" name="Icon 58 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2118" y="1974190"/>
            <a:ext cx="486461" cy="486461"/>
          </a:xfrm>
          <a:prstGeom prst="rect">
            <a:avLst/>
          </a:prstGeom>
        </p:spPr>
      </p:pic>
      <p:sp>
        <p:nvSpPr>
          <p:cNvPr id="35" name="Card 59"/>
          <p:cNvSpPr/>
          <p:nvPr/>
        </p:nvSpPr>
        <p:spPr>
          <a:xfrm>
            <a:off x="9692640" y="2926080"/>
            <a:ext cx="2103120" cy="2651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Text 60"/>
          <p:cNvSpPr/>
          <p:nvPr/>
        </p:nvSpPr>
        <p:spPr>
          <a:xfrm>
            <a:off x="98755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61"/>
          <p:cNvSpPr/>
          <p:nvPr/>
        </p:nvSpPr>
        <p:spPr>
          <a:xfrm>
            <a:off x="987552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and settles</a:t>
            </a:r>
            <a:endParaRPr lang="en-US" sz="1600" dirty="0"/>
          </a:p>
        </p:txBody>
      </p:sp>
      <p:sp>
        <p:nvSpPr>
          <p:cNvPr id="38" name="Text 62"/>
          <p:cNvSpPr/>
          <p:nvPr/>
        </p:nvSpPr>
        <p:spPr>
          <a:xfrm>
            <a:off x="9875520" y="393192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rate each other; the driver's share (fare less 15%) goes to their wallet</a:t>
            </a:r>
            <a:endParaRPr lang="en-US" sz="1250" dirty="0"/>
          </a:p>
        </p:txBody>
      </p:sp>
      <p:pic>
        <p:nvPicPr>
          <p:cNvPr id="39" name="Mark 63" descr="/home/ghost/Desktop/Projects/Poolora/branding/poolora-ic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7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4" grpId="0" animBg="1"/>
      <p:bldP spid="19" grpId="0" animBg="1"/>
      <p:bldP spid="22" grpId="0" animBg="1"/>
      <p:bldP spid="23" grpId="0" animBg="1"/>
      <p:bldP spid="24" grpId="0" animBg="1"/>
      <p:bldP spid="25" grpId="0" animBg="1"/>
      <p:bldP spid="21" grpId="0" animBg="1"/>
      <p:bldP spid="26" grpId="0" animBg="1"/>
      <p:bldP spid="29" grpId="0" animBg="1"/>
      <p:bldP spid="30" grpId="0" animBg="1"/>
      <p:bldP spid="31" grpId="0" animBg="1"/>
      <p:bldP spid="32" grpId="0" animBg="1"/>
      <p:bldP spid="28" grpId="0" animBg="1"/>
      <p:bldP spid="33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4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ride</a:t>
            </a:r>
            <a:endParaRPr lang="en-US" sz="3000" dirty="0"/>
          </a:p>
        </p:txBody>
      </p:sp>
      <p:sp>
        <p:nvSpPr>
          <p:cNvPr id="4" name="Subtitle 65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from where you are; results show every kind of vehicle going your way.</a:t>
            </a:r>
            <a:endParaRPr lang="en-US" sz="1600" dirty="0"/>
          </a:p>
        </p:txBody>
      </p:sp>
      <p:pic>
        <p:nvPicPr>
          <p:cNvPr id="5" name="!!Phone 1" descr="/home/ghost/Desktop/Projects/Poolora/Doc/presentation/screens/frame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732632" cy="4892040"/>
          </a:xfrm>
          <a:prstGeom prst="rect">
            <a:avLst/>
          </a:prstGeom>
        </p:spPr>
      </p:pic>
      <p:pic>
        <p:nvPicPr>
          <p:cNvPr id="6" name="!!Phone 2" descr="/home/ghost/Desktop/Projects/Poolora/Doc/presentation/screens/frames/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0192" y="1417320"/>
            <a:ext cx="2940293" cy="4892040"/>
          </a:xfrm>
          <a:prstGeom prst="rect">
            <a:avLst/>
          </a:prstGeom>
        </p:spPr>
      </p:pic>
      <p:sp>
        <p:nvSpPr>
          <p:cNvPr id="7" name="Callout dot 66"/>
          <p:cNvSpPr/>
          <p:nvPr/>
        </p:nvSpPr>
        <p:spPr>
          <a:xfrm>
            <a:off x="3046633" y="3658660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Callout line 67"/>
          <p:cNvSpPr/>
          <p:nvPr/>
        </p:nvSpPr>
        <p:spPr>
          <a:xfrm flipV="1">
            <a:off x="3119785" y="2908852"/>
            <a:ext cx="664408" cy="822960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9" name="Callout label 68"/>
          <p:cNvSpPr/>
          <p:nvPr/>
        </p:nvSpPr>
        <p:spPr>
          <a:xfrm>
            <a:off x="3784192" y="2597956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place in Zimbabwe (OpenStreetMap)</a:t>
            </a:r>
            <a:endParaRPr lang="en-US" sz="1200" dirty="0"/>
          </a:p>
        </p:txBody>
      </p:sp>
      <p:sp>
        <p:nvSpPr>
          <p:cNvPr id="10" name="Callout dot 69"/>
          <p:cNvSpPr/>
          <p:nvPr/>
        </p:nvSpPr>
        <p:spPr>
          <a:xfrm>
            <a:off x="3046633" y="5342998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Callout line 70"/>
          <p:cNvSpPr/>
          <p:nvPr/>
        </p:nvSpPr>
        <p:spPr>
          <a:xfrm>
            <a:off x="3119785" y="5416150"/>
            <a:ext cx="664408" cy="457200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2" name="Callout label 71"/>
          <p:cNvSpPr/>
          <p:nvPr/>
        </p:nvSpPr>
        <p:spPr>
          <a:xfrm>
            <a:off x="3784192" y="556245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SUV and bakkie, minivan, auto (tuk-tuk), bike</a:t>
            </a:r>
            <a:endParaRPr lang="en-US" sz="1200" dirty="0"/>
          </a:p>
        </p:txBody>
      </p:sp>
      <p:sp>
        <p:nvSpPr>
          <p:cNvPr id="13" name="Callout dot 72"/>
          <p:cNvSpPr/>
          <p:nvPr/>
        </p:nvSpPr>
        <p:spPr>
          <a:xfrm>
            <a:off x="6795482" y="3566286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Callout line 73"/>
          <p:cNvSpPr/>
          <p:nvPr/>
        </p:nvSpPr>
        <p:spPr>
          <a:xfrm flipV="1">
            <a:off x="6868634" y="3365118"/>
            <a:ext cx="2370452" cy="274320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5" name="Callout label 74"/>
          <p:cNvSpPr/>
          <p:nvPr/>
        </p:nvSpPr>
        <p:spPr>
          <a:xfrm>
            <a:off x="9239086" y="3054222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vehicle; sort by time, price or rating</a:t>
            </a:r>
            <a:endParaRPr lang="en-US" sz="1200" dirty="0"/>
          </a:p>
        </p:txBody>
      </p:sp>
      <p:sp>
        <p:nvSpPr>
          <p:cNvPr id="16" name="Callout dot 75"/>
          <p:cNvSpPr/>
          <p:nvPr/>
        </p:nvSpPr>
        <p:spPr>
          <a:xfrm>
            <a:off x="8438836" y="4216869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Callout line 76"/>
          <p:cNvSpPr/>
          <p:nvPr/>
        </p:nvSpPr>
        <p:spPr>
          <a:xfrm>
            <a:off x="8511988" y="4290021"/>
            <a:ext cx="727098" cy="320040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8" name="Callout label 77"/>
          <p:cNvSpPr/>
          <p:nvPr/>
        </p:nvSpPr>
        <p:spPr>
          <a:xfrm>
            <a:off x="9239086" y="4299165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prices in US dollars; US$1 for about 11 km</a:t>
            </a:r>
            <a:endParaRPr lang="en-US" sz="1200" dirty="0"/>
          </a:p>
        </p:txBody>
      </p:sp>
      <p:pic>
        <p:nvPicPr>
          <p:cNvPr id="19" name="Mark 78" descr="/home/ghost/Desktop/Projects/Poolora/branding/poolora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9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and pay</a:t>
            </a:r>
            <a:endParaRPr lang="en-US" sz="3000" dirty="0"/>
          </a:p>
        </p:txBody>
      </p:sp>
      <p:sp>
        <p:nvSpPr>
          <p:cNvPr id="4" name="Subtitle 80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driver and the route, choose seats, pay by mobile money or card through Paynow.</a:t>
            </a:r>
            <a:endParaRPr lang="en-US" sz="1600" dirty="0"/>
          </a:p>
        </p:txBody>
      </p:sp>
      <p:pic>
        <p:nvPicPr>
          <p:cNvPr id="5" name="!!Phone 1" descr="/home/ghost/Desktop/Projects/Poolora/Doc/presentation/screens/frames/ride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44" y="1554480"/>
            <a:ext cx="2314688" cy="4526280"/>
          </a:xfrm>
          <a:prstGeom prst="rect">
            <a:avLst/>
          </a:prstGeom>
        </p:spPr>
      </p:pic>
      <p:pic>
        <p:nvPicPr>
          <p:cNvPr id="6" name="!!Phone 2" descr="/home/ghost/Desktop/Projects/Poolora/Doc/presentation/screens/frames/boo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52" y="1554480"/>
            <a:ext cx="2368640" cy="4526280"/>
          </a:xfrm>
          <a:prstGeom prst="rect">
            <a:avLst/>
          </a:prstGeom>
        </p:spPr>
      </p:pic>
      <p:pic>
        <p:nvPicPr>
          <p:cNvPr id="7" name="!!Phone 3" descr="/home/ghost/Desktop/Projects/Poolora/Doc/presentation/screens/frames/pay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712" y="1554480"/>
            <a:ext cx="2368640" cy="4526280"/>
          </a:xfrm>
          <a:prstGeom prst="rect">
            <a:avLst/>
          </a:prstGeom>
        </p:spPr>
      </p:pic>
      <p:sp>
        <p:nvSpPr>
          <p:cNvPr id="8" name="Callout dot 81"/>
          <p:cNvSpPr/>
          <p:nvPr/>
        </p:nvSpPr>
        <p:spPr>
          <a:xfrm>
            <a:off x="9711381" y="3448388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Callout line 82"/>
          <p:cNvSpPr/>
          <p:nvPr/>
        </p:nvSpPr>
        <p:spPr>
          <a:xfrm>
            <a:off x="8899112" y="3521540"/>
            <a:ext cx="885421" cy="365760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0" name="Callout label 83"/>
          <p:cNvSpPr/>
          <p:nvPr/>
        </p:nvSpPr>
        <p:spPr>
          <a:xfrm>
            <a:off x="7344632" y="3484964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EcoCash, OneMoney, InnBucks or card, in US$ or ZiG</a:t>
            </a:r>
            <a:endParaRPr lang="en-US" sz="1200" dirty="0"/>
          </a:p>
        </p:txBody>
      </p:sp>
      <p:sp>
        <p:nvSpPr>
          <p:cNvPr id="11" name="Callout dot 84"/>
          <p:cNvSpPr/>
          <p:nvPr/>
        </p:nvSpPr>
        <p:spPr>
          <a:xfrm>
            <a:off x="2511190" y="3445155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Callout line 85"/>
          <p:cNvSpPr/>
          <p:nvPr/>
        </p:nvSpPr>
        <p:spPr>
          <a:xfrm flipV="1">
            <a:off x="2584342" y="3335427"/>
            <a:ext cx="654290" cy="182880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3" name="Callout label 86"/>
          <p:cNvSpPr/>
          <p:nvPr/>
        </p:nvSpPr>
        <p:spPr>
          <a:xfrm>
            <a:off x="3238632" y="3024531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driver, rating and trips</a:t>
            </a:r>
            <a:endParaRPr lang="en-US" sz="1200" dirty="0"/>
          </a:p>
        </p:txBody>
      </p:sp>
      <p:pic>
        <p:nvPicPr>
          <p:cNvPr id="14" name="Mark 87" descr="/home/ghost/Desktop/Projects/Poolora/branding/poolora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8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road</a:t>
            </a:r>
            <a:endParaRPr lang="en-US" sz="3000" dirty="0"/>
          </a:p>
        </p:txBody>
      </p:sp>
      <p:sp>
        <p:nvSpPr>
          <p:cNvPr id="4" name="Subtitle 89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car live; the rider sees each step and can raise an SOS at any time.</a:t>
            </a:r>
            <a:endParaRPr lang="en-US" sz="1600" dirty="0"/>
          </a:p>
        </p:txBody>
      </p:sp>
      <p:pic>
        <p:nvPicPr>
          <p:cNvPr id="5" name="!!Phone 1" descr="/home/ghost/Desktop/Projects/Poolora/Doc/presentation/screens/frames/liv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5" y="1554480"/>
            <a:ext cx="2474698" cy="4526280"/>
          </a:xfrm>
          <a:prstGeom prst="rect">
            <a:avLst/>
          </a:prstGeom>
        </p:spPr>
      </p:pic>
      <p:pic>
        <p:nvPicPr>
          <p:cNvPr id="6" name="!!Phone 2" descr="/home/ghost/Desktop/Projects/Poolora/Doc/presentation/screens/frames/live_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503" y="1554480"/>
            <a:ext cx="2474698" cy="4526280"/>
          </a:xfrm>
          <a:prstGeom prst="rect">
            <a:avLst/>
          </a:prstGeom>
        </p:spPr>
      </p:pic>
      <p:pic>
        <p:nvPicPr>
          <p:cNvPr id="7" name="!!Phone 3" descr="/home/ghost/Desktop/Projects/Poolora/Doc/presentation/screens/frames/safe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7722" y="1554480"/>
            <a:ext cx="2314688" cy="4526280"/>
          </a:xfrm>
          <a:prstGeom prst="rect">
            <a:avLst/>
          </a:prstGeom>
        </p:spPr>
      </p:pic>
      <p:sp>
        <p:nvSpPr>
          <p:cNvPr id="8" name="Callout dot 90"/>
          <p:cNvSpPr/>
          <p:nvPr/>
        </p:nvSpPr>
        <p:spPr>
          <a:xfrm>
            <a:off x="2535714" y="3938248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Callout line 91"/>
          <p:cNvSpPr/>
          <p:nvPr/>
        </p:nvSpPr>
        <p:spPr>
          <a:xfrm>
            <a:off x="2608866" y="4011400"/>
            <a:ext cx="683717" cy="914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0" name="Callout label 92"/>
          <p:cNvSpPr/>
          <p:nvPr/>
        </p:nvSpPr>
        <p:spPr>
          <a:xfrm>
            <a:off x="3292583" y="3700504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distance and time to pickup</a:t>
            </a:r>
            <a:endParaRPr lang="en-US" sz="1200" dirty="0"/>
          </a:p>
        </p:txBody>
      </p:sp>
      <p:sp>
        <p:nvSpPr>
          <p:cNvPr id="11" name="Callout dot 93"/>
          <p:cNvSpPr/>
          <p:nvPr/>
        </p:nvSpPr>
        <p:spPr>
          <a:xfrm>
            <a:off x="9583723" y="3513332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Callout line 94"/>
          <p:cNvSpPr/>
          <p:nvPr/>
        </p:nvSpPr>
        <p:spPr>
          <a:xfrm>
            <a:off x="9059122" y="3586484"/>
            <a:ext cx="597753" cy="914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3" name="Callout label 95"/>
          <p:cNvSpPr/>
          <p:nvPr/>
        </p:nvSpPr>
        <p:spPr>
          <a:xfrm>
            <a:off x="7504642" y="3275588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get a live-location link</a:t>
            </a:r>
            <a:endParaRPr lang="en-US" sz="1200" dirty="0"/>
          </a:p>
        </p:txBody>
      </p:sp>
      <p:pic>
        <p:nvPicPr>
          <p:cNvPr id="14" name="Mark 96" descr="/home/ghost/Desktop/Projects/Poolora/branding/poolora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97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and earn</a:t>
            </a:r>
            <a:endParaRPr lang="en-US" sz="3000" dirty="0"/>
          </a:p>
        </p:txBody>
      </p:sp>
      <p:sp>
        <p:nvSpPr>
          <p:cNvPr id="4" name="Subtitle 98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ride in a minute; Poolora suggests a fair price and shows what the trip earns.</a:t>
            </a:r>
            <a:endParaRPr lang="en-US" sz="1600" dirty="0"/>
          </a:p>
        </p:txBody>
      </p:sp>
      <p:pic>
        <p:nvPicPr>
          <p:cNvPr id="5" name="!!Phone 1" descr="/home/ghost/Desktop/Projects/Poolora/Doc/presentation/screens/frames/driver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660" y="1554480"/>
            <a:ext cx="2528323" cy="4526280"/>
          </a:xfrm>
          <a:prstGeom prst="rect">
            <a:avLst/>
          </a:prstGeom>
        </p:spPr>
      </p:pic>
      <p:pic>
        <p:nvPicPr>
          <p:cNvPr id="6" name="!!Phone 2" descr="/home/ghost/Desktop/Projects/Poolora/Doc/presentation/screens/frames/create_r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503" y="1554480"/>
            <a:ext cx="2528323" cy="4526280"/>
          </a:xfrm>
          <a:prstGeom prst="rect">
            <a:avLst/>
          </a:prstGeom>
        </p:spPr>
      </p:pic>
      <p:pic>
        <p:nvPicPr>
          <p:cNvPr id="7" name="!!Phone 3" descr="/home/ghost/Desktop/Projects/Poolora/Doc/presentation/screens/frames/earn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347" y="1554480"/>
            <a:ext cx="2314688" cy="4526280"/>
          </a:xfrm>
          <a:prstGeom prst="rect">
            <a:avLst/>
          </a:prstGeom>
        </p:spPr>
      </p:pic>
      <p:sp>
        <p:nvSpPr>
          <p:cNvPr id="8" name="Callout dot 99"/>
          <p:cNvSpPr/>
          <p:nvPr/>
        </p:nvSpPr>
        <p:spPr>
          <a:xfrm>
            <a:off x="5384820" y="5063119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Callout line 100"/>
          <p:cNvSpPr/>
          <p:nvPr/>
        </p:nvSpPr>
        <p:spPr>
          <a:xfrm>
            <a:off x="4709903" y="5136271"/>
            <a:ext cx="748069" cy="914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0" name="Callout label 101"/>
          <p:cNvSpPr/>
          <p:nvPr/>
        </p:nvSpPr>
        <p:spPr>
          <a:xfrm>
            <a:off x="3155423" y="4825375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price and the allowed range</a:t>
            </a:r>
            <a:endParaRPr lang="en-US" sz="1200" dirty="0"/>
          </a:p>
        </p:txBody>
      </p:sp>
      <p:sp>
        <p:nvSpPr>
          <p:cNvPr id="11" name="Callout dot 102"/>
          <p:cNvSpPr/>
          <p:nvPr/>
        </p:nvSpPr>
        <p:spPr>
          <a:xfrm>
            <a:off x="9727142" y="2773363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Callout line 103"/>
          <p:cNvSpPr/>
          <p:nvPr/>
        </p:nvSpPr>
        <p:spPr>
          <a:xfrm>
            <a:off x="9112747" y="2846515"/>
            <a:ext cx="687547" cy="914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3" name="Callout label 104"/>
          <p:cNvSpPr/>
          <p:nvPr/>
        </p:nvSpPr>
        <p:spPr>
          <a:xfrm>
            <a:off x="7558267" y="2535619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by day, week and month</a:t>
            </a:r>
            <a:endParaRPr lang="en-US" sz="1200" dirty="0"/>
          </a:p>
        </p:txBody>
      </p:sp>
      <p:pic>
        <p:nvPicPr>
          <p:cNvPr id="14" name="Mark 105" descr="/home/ghost/Desktop/Projects/Poolora/branding/poolora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6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rides</a:t>
            </a:r>
            <a:endParaRPr lang="en-US" sz="3000" dirty="0"/>
          </a:p>
        </p:txBody>
      </p:sp>
      <p:sp>
        <p:nvSpPr>
          <p:cNvPr id="4" name="Subtitle 107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Parcels travel with drivers already on the route; groups plan trips together; one wallet for everything.</a:t>
            </a:r>
            <a:endParaRPr lang="en-US" sz="1600" dirty="0"/>
          </a:p>
        </p:txBody>
      </p:sp>
      <p:pic>
        <p:nvPicPr>
          <p:cNvPr id="5" name="!!Phone 1" descr="/home/ghost/Desktop/Projects/Poolora/Doc/presentation/screens/frames/par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95" y="1554480"/>
            <a:ext cx="2314688" cy="4526280"/>
          </a:xfrm>
          <a:prstGeom prst="rect">
            <a:avLst/>
          </a:prstGeom>
        </p:spPr>
      </p:pic>
      <p:pic>
        <p:nvPicPr>
          <p:cNvPr id="6" name="!!Phone 2" descr="/home/ghost/Desktop/Projects/Poolora/Doc/presentation/screens/frames/tri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503" y="1554480"/>
            <a:ext cx="2314688" cy="4526280"/>
          </a:xfrm>
          <a:prstGeom prst="rect">
            <a:avLst/>
          </a:prstGeom>
        </p:spPr>
      </p:pic>
      <p:pic>
        <p:nvPicPr>
          <p:cNvPr id="7" name="!!Phone 3" descr="/home/ghost/Desktop/Projects/Poolora/Doc/presentation/screens/frames/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712" y="1554480"/>
            <a:ext cx="2314688" cy="4526280"/>
          </a:xfrm>
          <a:prstGeom prst="rect">
            <a:avLst/>
          </a:prstGeom>
        </p:spPr>
      </p:pic>
      <p:sp>
        <p:nvSpPr>
          <p:cNvPr id="8" name="Callout dot 108"/>
          <p:cNvSpPr/>
          <p:nvPr/>
        </p:nvSpPr>
        <p:spPr>
          <a:xfrm>
            <a:off x="2565142" y="3531623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Callout line 109"/>
          <p:cNvSpPr/>
          <p:nvPr/>
        </p:nvSpPr>
        <p:spPr>
          <a:xfrm>
            <a:off x="2638294" y="3604775"/>
            <a:ext cx="654290" cy="914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0" name="Callout label 110"/>
          <p:cNvSpPr/>
          <p:nvPr/>
        </p:nvSpPr>
        <p:spPr>
          <a:xfrm>
            <a:off x="3292583" y="3202439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 at pickup and delivery; delivery code</a:t>
            </a:r>
            <a:endParaRPr lang="en-US" sz="1200" dirty="0"/>
          </a:p>
        </p:txBody>
      </p:sp>
      <p:sp>
        <p:nvSpPr>
          <p:cNvPr id="11" name="Callout dot 111"/>
          <p:cNvSpPr/>
          <p:nvPr/>
        </p:nvSpPr>
        <p:spPr>
          <a:xfrm>
            <a:off x="9496878" y="4366374"/>
            <a:ext cx="146304" cy="146304"/>
          </a:xfrm>
          <a:prstGeom prst="ellipse">
            <a:avLst/>
          </a:prstGeom>
          <a:solidFill>
            <a:srgbClr val="D946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Callout line 112"/>
          <p:cNvSpPr/>
          <p:nvPr/>
        </p:nvSpPr>
        <p:spPr>
          <a:xfrm>
            <a:off x="8899112" y="4439526"/>
            <a:ext cx="670918" cy="914"/>
          </a:xfrm>
          <a:prstGeom prst="line">
            <a:avLst/>
          </a:prstGeom>
          <a:noFill/>
          <a:ln w="15875">
            <a:solidFill>
              <a:srgbClr val="D9468F"/>
            </a:solidFill>
            <a:prstDash val="solid"/>
          </a:ln>
        </p:spPr>
      </p:sp>
      <p:sp>
        <p:nvSpPr>
          <p:cNvPr id="13" name="Callout label 113"/>
          <p:cNvSpPr/>
          <p:nvPr/>
        </p:nvSpPr>
        <p:spPr>
          <a:xfrm>
            <a:off x="7344632" y="412863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468F"/>
            </a:solidFill>
          </a:ln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US$2–US$1000 to mobile money</a:t>
            </a:r>
            <a:endParaRPr lang="en-US" sz="1200" dirty="0"/>
          </a:p>
        </p:txBody>
      </p:sp>
      <p:pic>
        <p:nvPicPr>
          <p:cNvPr id="14" name="Mark 114" descr="/home/ghost/Desktop/Projects/Poolora/branding/poolora-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15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prices, set against what people pay now</a:t>
            </a:r>
            <a:endParaRPr lang="en-US" sz="3000" dirty="0"/>
          </a:p>
        </p:txBody>
      </p:sp>
      <p:sp>
        <p:nvSpPr>
          <p:cNvPr id="4" name="Subtitle 116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distance × rate(vehicle) × commute hours (+10%, not on public holidays) × surge (+20–50%) · drivers choose within ±30%</a:t>
            </a:r>
            <a:endParaRPr lang="en-US" sz="1600" dirty="0"/>
          </a:p>
        </p:txBody>
      </p:sp>
      <p:sp>
        <p:nvSpPr>
          <p:cNvPr id="5" name="Card 117"/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118"/>
          <p:cNvSpPr/>
          <p:nvPr/>
        </p:nvSpPr>
        <p:spPr>
          <a:xfrm>
            <a:off x="82296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Commuting in Harare</a:t>
            </a:r>
            <a:endParaRPr lang="en-US" sz="1600" dirty="0"/>
          </a:p>
        </p:txBody>
      </p:sp>
      <p:sp>
        <p:nvSpPr>
          <p:cNvPr id="7" name="Text 119"/>
          <p:cNvSpPr/>
          <p:nvPr/>
        </p:nvSpPr>
        <p:spPr>
          <a:xfrm>
            <a:off x="82296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ZUPCO bus, up to 20 km</a:t>
            </a:r>
            <a:endParaRPr lang="en-US" sz="1250" dirty="0"/>
          </a:p>
        </p:txBody>
      </p:sp>
      <p:sp>
        <p:nvSpPr>
          <p:cNvPr id="8" name="Price bar 120"/>
          <p:cNvSpPr/>
          <p:nvPr/>
        </p:nvSpPr>
        <p:spPr>
          <a:xfrm>
            <a:off x="3154680" y="2679192"/>
            <a:ext cx="240030" cy="310896"/>
          </a:xfrm>
          <a:prstGeom prst="rect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9" name="Text 121"/>
          <p:cNvSpPr/>
          <p:nvPr/>
        </p:nvSpPr>
        <p:spPr>
          <a:xfrm>
            <a:off x="3486150" y="2560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US$0.50</a:t>
            </a:r>
            <a:endParaRPr lang="en-US" sz="1300" dirty="0"/>
          </a:p>
        </p:txBody>
      </p:sp>
      <p:sp>
        <p:nvSpPr>
          <p:cNvPr id="10" name="Text 122"/>
          <p:cNvSpPr/>
          <p:nvPr/>
        </p:nvSpPr>
        <p:spPr>
          <a:xfrm>
            <a:off x="822960" y="33649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</a:t>
            </a:r>
            <a:endParaRPr lang="en-US" sz="1250" dirty="0"/>
          </a:p>
        </p:txBody>
      </p:sp>
      <p:sp>
        <p:nvSpPr>
          <p:cNvPr id="11" name="Price bar 123"/>
          <p:cNvSpPr/>
          <p:nvPr/>
        </p:nvSpPr>
        <p:spPr>
          <a:xfrm>
            <a:off x="3154680" y="3483864"/>
            <a:ext cx="480060" cy="310896"/>
          </a:xfrm>
          <a:prstGeom prst="rect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2" name="Text 124"/>
          <p:cNvSpPr/>
          <p:nvPr/>
        </p:nvSpPr>
        <p:spPr>
          <a:xfrm>
            <a:off x="3726180" y="33649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US$0.50–1</a:t>
            </a:r>
            <a:endParaRPr lang="en-US" sz="1300" dirty="0"/>
          </a:p>
        </p:txBody>
      </p:sp>
      <p:sp>
        <p:nvSpPr>
          <p:cNvPr id="13" name="Text 125"/>
          <p:cNvSpPr/>
          <p:nvPr/>
        </p:nvSpPr>
        <p:spPr>
          <a:xfrm>
            <a:off x="822960" y="4169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seat, 15 km (car)</a:t>
            </a:r>
            <a:endParaRPr lang="en-US" sz="1250" dirty="0"/>
          </a:p>
        </p:txBody>
      </p:sp>
      <p:sp>
        <p:nvSpPr>
          <p:cNvPr id="14" name="Price bar 126"/>
          <p:cNvSpPr/>
          <p:nvPr/>
        </p:nvSpPr>
        <p:spPr>
          <a:xfrm>
            <a:off x="3154680" y="4288536"/>
            <a:ext cx="480060" cy="31089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Text 127"/>
          <p:cNvSpPr/>
          <p:nvPr/>
        </p:nvSpPr>
        <p:spPr>
          <a:xfrm>
            <a:off x="3726180" y="41696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</a:t>
            </a:r>
            <a:endParaRPr lang="en-US" sz="1300" dirty="0"/>
          </a:p>
        </p:txBody>
      </p:sp>
      <p:sp>
        <p:nvSpPr>
          <p:cNvPr id="16" name="Text 128"/>
          <p:cNvSpPr/>
          <p:nvPr/>
        </p:nvSpPr>
        <p:spPr>
          <a:xfrm>
            <a:off x="822960" y="49743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 app, 5 km</a:t>
            </a:r>
            <a:endParaRPr lang="en-US" sz="1250" dirty="0"/>
          </a:p>
        </p:txBody>
      </p:sp>
      <p:sp>
        <p:nvSpPr>
          <p:cNvPr id="17" name="Price bar 129"/>
          <p:cNvSpPr/>
          <p:nvPr/>
        </p:nvSpPr>
        <p:spPr>
          <a:xfrm>
            <a:off x="3154680" y="5093208"/>
            <a:ext cx="1440180" cy="310896"/>
          </a:xfrm>
          <a:prstGeom prst="rect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8" name="Text 130"/>
          <p:cNvSpPr/>
          <p:nvPr/>
        </p:nvSpPr>
        <p:spPr>
          <a:xfrm>
            <a:off x="4686300" y="49743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US$2–4</a:t>
            </a:r>
            <a:endParaRPr lang="en-US" sz="1300" dirty="0"/>
          </a:p>
        </p:txBody>
      </p:sp>
      <p:sp>
        <p:nvSpPr>
          <p:cNvPr id="19" name="Card 131"/>
          <p:cNvSpPr/>
          <p:nvPr/>
        </p:nvSpPr>
        <p:spPr>
          <a:xfrm>
            <a:off x="6172200" y="178308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32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Harare to Bulawayo (439 km)</a:t>
            </a:r>
            <a:endParaRPr lang="en-US" sz="1600" dirty="0"/>
          </a:p>
        </p:txBody>
      </p:sp>
      <p:sp>
        <p:nvSpPr>
          <p:cNvPr id="21" name="Text 133"/>
          <p:cNvSpPr/>
          <p:nvPr/>
        </p:nvSpPr>
        <p:spPr>
          <a:xfrm>
            <a:off x="644652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bus</a:t>
            </a:r>
            <a:endParaRPr lang="en-US" sz="1250" dirty="0"/>
          </a:p>
        </p:txBody>
      </p:sp>
      <p:sp>
        <p:nvSpPr>
          <p:cNvPr id="22" name="Price bar 134"/>
          <p:cNvSpPr/>
          <p:nvPr/>
        </p:nvSpPr>
        <p:spPr>
          <a:xfrm>
            <a:off x="8778240" y="2679192"/>
            <a:ext cx="757989" cy="310896"/>
          </a:xfrm>
          <a:prstGeom prst="rect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23" name="Text 135"/>
          <p:cNvSpPr/>
          <p:nvPr/>
        </p:nvSpPr>
        <p:spPr>
          <a:xfrm>
            <a:off x="9627669" y="2560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US$15</a:t>
            </a:r>
            <a:endParaRPr lang="en-US" sz="1300" dirty="0"/>
          </a:p>
        </p:txBody>
      </p:sp>
      <p:sp>
        <p:nvSpPr>
          <p:cNvPr id="24" name="Text 136"/>
          <p:cNvSpPr/>
          <p:nvPr/>
        </p:nvSpPr>
        <p:spPr>
          <a:xfrm>
            <a:off x="6446520" y="33649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seat, car</a:t>
            </a:r>
            <a:endParaRPr lang="en-US" sz="1250" dirty="0"/>
          </a:p>
        </p:txBody>
      </p:sp>
      <p:sp>
        <p:nvSpPr>
          <p:cNvPr id="25" name="Price bar 137"/>
          <p:cNvSpPr/>
          <p:nvPr/>
        </p:nvSpPr>
        <p:spPr>
          <a:xfrm>
            <a:off x="8778240" y="3483864"/>
            <a:ext cx="1339115" cy="31089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6" name="Text 138"/>
          <p:cNvSpPr/>
          <p:nvPr/>
        </p:nvSpPr>
        <p:spPr>
          <a:xfrm>
            <a:off x="10208795" y="336499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US$26.50</a:t>
            </a:r>
            <a:endParaRPr lang="en-US" sz="1300" dirty="0"/>
          </a:p>
        </p:txBody>
      </p:sp>
      <p:sp>
        <p:nvSpPr>
          <p:cNvPr id="27" name="Text 139"/>
          <p:cNvSpPr/>
          <p:nvPr/>
        </p:nvSpPr>
        <p:spPr>
          <a:xfrm>
            <a:off x="6446520" y="41696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seat, minivan</a:t>
            </a:r>
            <a:endParaRPr lang="en-US" sz="1250" dirty="0"/>
          </a:p>
        </p:txBody>
      </p:sp>
      <p:sp>
        <p:nvSpPr>
          <p:cNvPr id="28" name="Price bar 140"/>
          <p:cNvSpPr/>
          <p:nvPr/>
        </p:nvSpPr>
        <p:spPr>
          <a:xfrm>
            <a:off x="8778240" y="4288536"/>
            <a:ext cx="1440180" cy="310896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9" name="Text 141"/>
          <p:cNvSpPr/>
          <p:nvPr/>
        </p:nvSpPr>
        <p:spPr>
          <a:xfrm>
            <a:off x="10309860" y="4169664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US$28.50</a:t>
            </a:r>
            <a:endParaRPr lang="en-US" sz="1300" dirty="0"/>
          </a:p>
        </p:txBody>
      </p:sp>
      <p:sp>
        <p:nvSpPr>
          <p:cNvPr id="30" name="Text 142"/>
          <p:cNvSpPr/>
          <p:nvPr/>
        </p:nvSpPr>
        <p:spPr>
          <a:xfrm>
            <a:off x="6446520" y="497433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CityLink luxury coach</a:t>
            </a:r>
            <a:endParaRPr lang="en-US" sz="1250" dirty="0"/>
          </a:p>
        </p:txBody>
      </p:sp>
      <p:sp>
        <p:nvSpPr>
          <p:cNvPr id="31" name="Price bar 143"/>
          <p:cNvSpPr/>
          <p:nvPr/>
        </p:nvSpPr>
        <p:spPr>
          <a:xfrm>
            <a:off x="8778240" y="5093208"/>
            <a:ext cx="1768642" cy="310896"/>
          </a:xfrm>
          <a:prstGeom prst="rect">
            <a:avLst/>
          </a:prstGeom>
          <a:solidFill>
            <a:srgbClr val="C9CFDA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32" name="Text 144"/>
          <p:cNvSpPr/>
          <p:nvPr/>
        </p:nvSpPr>
        <p:spPr>
          <a:xfrm>
            <a:off x="10638322" y="49743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US$35</a:t>
            </a:r>
            <a:endParaRPr lang="en-US" sz="1300" dirty="0"/>
          </a:p>
        </p:txBody>
      </p:sp>
      <p:sp>
        <p:nvSpPr>
          <p:cNvPr id="33" name="Rates note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 seat per km: bike US$0.04 · auto US$0.045 · hatchback US$0.05 · sedan US$0.06 · minivan US$0.065 · bakkie US$0.07 · SUV US$0.075. Never below US$1 or outside US$0.02–US$0.20 a km. Off-peak examples from the pricing code; market fares September 2026.</a:t>
            </a:r>
            <a:endParaRPr lang="en-US" sz="1100" dirty="0"/>
          </a:p>
        </p:txBody>
      </p:sp>
      <p:pic>
        <p:nvPicPr>
          <p:cNvPr id="34" name="Mark 145" descr="/home/ghost/Desktop/Projects/Poolora/branding/poolo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9" grpId="0" animBg="1"/>
      <p:bldP spid="13" grpId="0" animBg="1"/>
      <p:bldP spid="14" grpId="0" animBg="1"/>
      <p:bldP spid="19" grpId="0" animBg="1"/>
      <p:bldP spid="20" grpId="0" animBg="1"/>
      <p:bldP spid="12" grpId="0" animBg="1"/>
      <p:bldP spid="16" grpId="0" animBg="1"/>
      <p:bldP spid="17" grpId="0" animBg="1"/>
      <p:bldP spid="15" grpId="0" animBg="1"/>
      <p:bldP spid="21" grpId="0" animBg="1"/>
      <p:bldP spid="22" grpId="0" animBg="1"/>
      <p:bldP spid="18" grpId="0" animBg="1"/>
      <p:bldP spid="24" grpId="0" animBg="1"/>
      <p:bldP spid="25" grpId="0" animBg="1"/>
      <p:bldP spid="23" grpId="0" animBg="1"/>
      <p:bldP spid="27" grpId="0" animBg="1"/>
      <p:bldP spid="28" grpId="0" animBg="1"/>
      <p:bldP spid="26" grpId="0" animBg="1"/>
      <p:bldP spid="30" grpId="0" animBg="1"/>
      <p:bldP spid="31" grpId="0" animBg="1"/>
      <p:bldP spid="29" grpId="0" animBg="1"/>
      <p:bldP spid="33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46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money works</a:t>
            </a:r>
            <a:endParaRPr lang="en-US" sz="3000" dirty="0"/>
          </a:p>
        </p:txBody>
      </p:sp>
      <p:sp>
        <p:nvSpPr>
          <p:cNvPr id="4" name="Subtitle 147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pay the seat price, no booking fee. Poolora keeps 15% of completed fares; drivers keep the rest.</a:t>
            </a:r>
            <a:endParaRPr lang="en-US" sz="1600" dirty="0"/>
          </a:p>
        </p:txBody>
      </p:sp>
      <p:sp>
        <p:nvSpPr>
          <p:cNvPr id="5" name="Card 148"/>
          <p:cNvSpPr/>
          <p:nvPr/>
        </p:nvSpPr>
        <p:spPr>
          <a:xfrm>
            <a:off x="548640" y="17830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149"/>
          <p:cNvSpPr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commute, 15 km</a:t>
            </a:r>
            <a:endParaRPr lang="en-US" sz="1800" dirty="0"/>
          </a:p>
        </p:txBody>
      </p:sp>
      <p:sp>
        <p:nvSpPr>
          <p:cNvPr id="7" name="Text 150"/>
          <p:cNvSpPr/>
          <p:nvPr/>
        </p:nvSpPr>
        <p:spPr>
          <a:xfrm>
            <a:off x="86868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seats × US$1</a:t>
            </a:r>
            <a:endParaRPr lang="en-US" sz="1500" dirty="0"/>
          </a:p>
        </p:txBody>
      </p:sp>
      <p:sp>
        <p:nvSpPr>
          <p:cNvPr id="8" name="Text 151"/>
          <p:cNvSpPr/>
          <p:nvPr/>
        </p:nvSpPr>
        <p:spPr>
          <a:xfrm>
            <a:off x="411480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US$3</a:t>
            </a:r>
            <a:endParaRPr lang="en-US" sz="1700" dirty="0"/>
          </a:p>
        </p:txBody>
      </p:sp>
      <p:sp>
        <p:nvSpPr>
          <p:cNvPr id="9" name="Text 152"/>
          <p:cNvSpPr/>
          <p:nvPr/>
        </p:nvSpPr>
        <p:spPr>
          <a:xfrm>
            <a:off x="86868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(15%)</a:t>
            </a:r>
            <a:endParaRPr lang="en-US" sz="1500" dirty="0"/>
          </a:p>
        </p:txBody>
      </p:sp>
      <p:sp>
        <p:nvSpPr>
          <p:cNvPr id="10" name="Text 153"/>
          <p:cNvSpPr/>
          <p:nvPr/>
        </p:nvSpPr>
        <p:spPr>
          <a:xfrm>
            <a:off x="411480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−US$0.45</a:t>
            </a:r>
            <a:endParaRPr lang="en-US" sz="1700" dirty="0"/>
          </a:p>
        </p:txBody>
      </p:sp>
      <p:sp>
        <p:nvSpPr>
          <p:cNvPr id="11" name="Text 154"/>
          <p:cNvSpPr/>
          <p:nvPr/>
        </p:nvSpPr>
        <p:spPr>
          <a:xfrm>
            <a:off x="86868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keeps</a:t>
            </a:r>
            <a:endParaRPr lang="en-US" sz="1500" dirty="0"/>
          </a:p>
        </p:txBody>
      </p:sp>
      <p:sp>
        <p:nvSpPr>
          <p:cNvPr id="12" name="Text 155"/>
          <p:cNvSpPr/>
          <p:nvPr/>
        </p:nvSpPr>
        <p:spPr>
          <a:xfrm>
            <a:off x="4114800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8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US$2.55</a:t>
            </a:r>
            <a:endParaRPr lang="en-US" sz="1700" dirty="0"/>
          </a:p>
        </p:txBody>
      </p:sp>
      <p:sp>
        <p:nvSpPr>
          <p:cNvPr id="13" name="Text 156"/>
          <p:cNvSpPr/>
          <p:nvPr/>
        </p:nvSpPr>
        <p:spPr>
          <a:xfrm>
            <a:off x="868680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15 km at 7 L/100 km</a:t>
            </a:r>
            <a:endParaRPr lang="en-US" sz="1500" dirty="0"/>
          </a:p>
        </p:txBody>
      </p:sp>
      <p:sp>
        <p:nvSpPr>
          <p:cNvPr id="14" name="Text 157"/>
          <p:cNvSpPr/>
          <p:nvPr/>
        </p:nvSpPr>
        <p:spPr>
          <a:xfrm>
            <a:off x="4114800" y="4480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94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US$2.16</a:t>
            </a:r>
            <a:endParaRPr lang="en-US" sz="1700" dirty="0"/>
          </a:p>
        </p:txBody>
      </p:sp>
      <p:sp>
        <p:nvSpPr>
          <p:cNvPr id="15" name="Card 158"/>
          <p:cNvSpPr/>
          <p:nvPr/>
        </p:nvSpPr>
        <p:spPr>
          <a:xfrm>
            <a:off x="6245352" y="17830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59"/>
          <p:cNvSpPr/>
          <p:nvPr/>
        </p:nvSpPr>
        <p:spPr>
          <a:xfrm>
            <a:off x="6565392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Harare to Bulawayo, 439 km</a:t>
            </a:r>
            <a:endParaRPr lang="en-US" sz="1800" dirty="0"/>
          </a:p>
        </p:txBody>
      </p:sp>
      <p:sp>
        <p:nvSpPr>
          <p:cNvPr id="17" name="Text 160"/>
          <p:cNvSpPr/>
          <p:nvPr/>
        </p:nvSpPr>
        <p:spPr>
          <a:xfrm>
            <a:off x="6565392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seats × US$26.50</a:t>
            </a:r>
            <a:endParaRPr lang="en-US" sz="1500" dirty="0"/>
          </a:p>
        </p:txBody>
      </p:sp>
      <p:sp>
        <p:nvSpPr>
          <p:cNvPr id="18" name="Text 161"/>
          <p:cNvSpPr/>
          <p:nvPr/>
        </p:nvSpPr>
        <p:spPr>
          <a:xfrm>
            <a:off x="9811512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US$79.50</a:t>
            </a:r>
            <a:endParaRPr lang="en-US" sz="1700" dirty="0"/>
          </a:p>
        </p:txBody>
      </p:sp>
      <p:sp>
        <p:nvSpPr>
          <p:cNvPr id="19" name="Text 162"/>
          <p:cNvSpPr/>
          <p:nvPr/>
        </p:nvSpPr>
        <p:spPr>
          <a:xfrm>
            <a:off x="6565392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(15%)</a:t>
            </a:r>
            <a:endParaRPr lang="en-US" sz="1500" dirty="0"/>
          </a:p>
        </p:txBody>
      </p:sp>
      <p:sp>
        <p:nvSpPr>
          <p:cNvPr id="20" name="Text 163"/>
          <p:cNvSpPr/>
          <p:nvPr/>
        </p:nvSpPr>
        <p:spPr>
          <a:xfrm>
            <a:off x="9811512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B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−US$11.93</a:t>
            </a:r>
            <a:endParaRPr lang="en-US" sz="1700" dirty="0"/>
          </a:p>
        </p:txBody>
      </p:sp>
      <p:sp>
        <p:nvSpPr>
          <p:cNvPr id="21" name="Text 164"/>
          <p:cNvSpPr/>
          <p:nvPr/>
        </p:nvSpPr>
        <p:spPr>
          <a:xfrm>
            <a:off x="6565392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keeps</a:t>
            </a:r>
            <a:endParaRPr lang="en-US" sz="1500" dirty="0"/>
          </a:p>
        </p:txBody>
      </p:sp>
      <p:sp>
        <p:nvSpPr>
          <p:cNvPr id="22" name="Text 165"/>
          <p:cNvSpPr/>
          <p:nvPr/>
        </p:nvSpPr>
        <p:spPr>
          <a:xfrm>
            <a:off x="9811512" y="3840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8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US$67.58</a:t>
            </a:r>
            <a:endParaRPr lang="en-US" sz="1700" dirty="0"/>
          </a:p>
        </p:txBody>
      </p:sp>
      <p:sp>
        <p:nvSpPr>
          <p:cNvPr id="23" name="Text 166"/>
          <p:cNvSpPr/>
          <p:nvPr/>
        </p:nvSpPr>
        <p:spPr>
          <a:xfrm>
            <a:off x="6565392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439 km at 7 L/100 km</a:t>
            </a:r>
            <a:endParaRPr lang="en-US" sz="1500" dirty="0"/>
          </a:p>
        </p:txBody>
      </p:sp>
      <p:sp>
        <p:nvSpPr>
          <p:cNvPr id="24" name="Text 167"/>
          <p:cNvSpPr/>
          <p:nvPr/>
        </p:nvSpPr>
        <p:spPr>
          <a:xfrm>
            <a:off x="9811512" y="4480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94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US$63.30</a:t>
            </a:r>
            <a:endParaRPr lang="en-US" sz="1700" dirty="0"/>
          </a:p>
        </p:txBody>
      </p:sp>
      <p:sp>
        <p:nvSpPr>
          <p:cNvPr id="25" name="Money note"/>
          <p:cNvSpPr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at US$2.06 a litre (ZERA, September 2026). For comparison, inDrive is reported to take about 12%; Kenya caps e-hailing commission at 18%.</a:t>
            </a:r>
            <a:endParaRPr lang="en-US" sz="1200" dirty="0"/>
          </a:p>
        </p:txBody>
      </p:sp>
      <p:pic>
        <p:nvPicPr>
          <p:cNvPr id="26" name="Mark 168" descr="/home/ghost/Desktop/Projects/Poolora/branding/poolo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1" grpId="0" animBg="1"/>
      <p:bldP spid="12" grpId="0" animBg="1"/>
      <p:bldP spid="17" grpId="0" animBg="1"/>
      <p:bldP spid="18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69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Cancellations and refunds</a:t>
            </a:r>
            <a:endParaRPr lang="en-US" sz="3000" dirty="0"/>
          </a:p>
        </p:txBody>
      </p:sp>
      <p:sp>
        <p:nvSpPr>
          <p:cNvPr id="4" name="Subtitle 170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rules shown before the rider confirms; refunds land in the wallet at once.</a:t>
            </a:r>
            <a:endParaRPr lang="en-US" sz="1600" dirty="0"/>
          </a:p>
        </p:txBody>
      </p:sp>
      <p:sp>
        <p:nvSpPr>
          <p:cNvPr id="5" name="Tier 171"/>
          <p:cNvSpPr/>
          <p:nvPr/>
        </p:nvSpPr>
        <p:spPr>
          <a:xfrm>
            <a:off x="822960" y="1920240"/>
            <a:ext cx="3796479" cy="685800"/>
          </a:xfrm>
          <a:prstGeom prst="rect">
            <a:avLst/>
          </a:prstGeom>
          <a:solidFill>
            <a:srgbClr val="0B7A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172"/>
          <p:cNvSpPr/>
          <p:nvPr/>
        </p:nvSpPr>
        <p:spPr>
          <a:xfrm>
            <a:off x="822960" y="1920240"/>
            <a:ext cx="37964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back</a:t>
            </a:r>
            <a:endParaRPr lang="en-US" sz="1800" dirty="0"/>
          </a:p>
        </p:txBody>
      </p:sp>
      <p:sp>
        <p:nvSpPr>
          <p:cNvPr id="7" name="Text 173"/>
          <p:cNvSpPr/>
          <p:nvPr/>
        </p:nvSpPr>
        <p:spPr>
          <a:xfrm>
            <a:off x="822960" y="2697480"/>
            <a:ext cx="3796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 or more before</a:t>
            </a:r>
            <a:endParaRPr lang="en-US" sz="1300" dirty="0"/>
          </a:p>
        </p:txBody>
      </p:sp>
      <p:sp>
        <p:nvSpPr>
          <p:cNvPr id="8" name="Tier 174"/>
          <p:cNvSpPr/>
          <p:nvPr/>
        </p:nvSpPr>
        <p:spPr>
          <a:xfrm>
            <a:off x="4619439" y="1920240"/>
            <a:ext cx="4640141" cy="68580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175"/>
          <p:cNvSpPr/>
          <p:nvPr/>
        </p:nvSpPr>
        <p:spPr>
          <a:xfrm>
            <a:off x="4619439" y="1920240"/>
            <a:ext cx="46401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back</a:t>
            </a:r>
            <a:endParaRPr lang="en-US" sz="1800" dirty="0"/>
          </a:p>
        </p:txBody>
      </p:sp>
      <p:sp>
        <p:nvSpPr>
          <p:cNvPr id="10" name="Text 176"/>
          <p:cNvSpPr/>
          <p:nvPr/>
        </p:nvSpPr>
        <p:spPr>
          <a:xfrm>
            <a:off x="4619439" y="2697480"/>
            <a:ext cx="46401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2–24 h before</a:t>
            </a:r>
            <a:endParaRPr lang="en-US" sz="1300" dirty="0"/>
          </a:p>
        </p:txBody>
      </p:sp>
      <p:sp>
        <p:nvSpPr>
          <p:cNvPr id="11" name="Tier 177"/>
          <p:cNvSpPr/>
          <p:nvPr/>
        </p:nvSpPr>
        <p:spPr>
          <a:xfrm>
            <a:off x="9259580" y="1920240"/>
            <a:ext cx="2109155" cy="685800"/>
          </a:xfrm>
          <a:prstGeom prst="rect">
            <a:avLst/>
          </a:prstGeom>
          <a:solidFill>
            <a:srgbClr val="D946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78"/>
          <p:cNvSpPr/>
          <p:nvPr/>
        </p:nvSpPr>
        <p:spPr>
          <a:xfrm>
            <a:off x="9259580" y="1920240"/>
            <a:ext cx="21091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back</a:t>
            </a:r>
            <a:endParaRPr lang="en-US" sz="1800" dirty="0"/>
          </a:p>
        </p:txBody>
      </p:sp>
      <p:sp>
        <p:nvSpPr>
          <p:cNvPr id="13" name="Text 179"/>
          <p:cNvSpPr/>
          <p:nvPr/>
        </p:nvSpPr>
        <p:spPr>
          <a:xfrm>
            <a:off x="9259580" y="2697480"/>
            <a:ext cx="21091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h</a:t>
            </a:r>
            <a:endParaRPr lang="en-US" sz="1300" dirty="0"/>
          </a:p>
        </p:txBody>
      </p:sp>
      <p:sp>
        <p:nvSpPr>
          <p:cNvPr id="14" name="Timeline end"/>
          <p:cNvSpPr/>
          <p:nvPr/>
        </p:nvSpPr>
        <p:spPr>
          <a:xfrm>
            <a:off x="9997135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→</a:t>
            </a:r>
            <a:endParaRPr lang="en-US" sz="1200" dirty="0"/>
          </a:p>
        </p:txBody>
      </p:sp>
      <p:pic>
        <p:nvPicPr>
          <p:cNvPr id="15" name="Rule icon 18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474720"/>
            <a:ext cx="329184" cy="329184"/>
          </a:xfrm>
          <a:prstGeom prst="rect">
            <a:avLst/>
          </a:prstGeom>
        </p:spPr>
      </p:pic>
      <p:sp>
        <p:nvSpPr>
          <p:cNvPr id="16" name="Text 181"/>
          <p:cNvSpPr/>
          <p:nvPr/>
        </p:nvSpPr>
        <p:spPr>
          <a:xfrm>
            <a:off x="1325880" y="3429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30 minutes after the driver accepts, while the ride is 1 hour or more away</a:t>
            </a:r>
            <a:endParaRPr lang="en-US" sz="1500" dirty="0"/>
          </a:p>
        </p:txBody>
      </p:sp>
      <p:pic>
        <p:nvPicPr>
          <p:cNvPr id="17" name="Rule icon 18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78224"/>
            <a:ext cx="329184" cy="329184"/>
          </a:xfrm>
          <a:prstGeom prst="rect">
            <a:avLst/>
          </a:prstGeom>
        </p:spPr>
      </p:pic>
      <p:sp>
        <p:nvSpPr>
          <p:cNvPr id="18" name="Text 183"/>
          <p:cNvSpPr/>
          <p:nvPr/>
        </p:nvSpPr>
        <p:spPr>
          <a:xfrm>
            <a:off x="1325880" y="40325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back before the driver accepts, if the driver cancels, or if the driver moves the time</a:t>
            </a:r>
            <a:endParaRPr lang="en-US" sz="1500" dirty="0"/>
          </a:p>
        </p:txBody>
      </p:sp>
      <p:pic>
        <p:nvPicPr>
          <p:cNvPr id="19" name="Rule icon 18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681728"/>
            <a:ext cx="329184" cy="329184"/>
          </a:xfrm>
          <a:prstGeom prst="rect">
            <a:avLst/>
          </a:prstGeom>
        </p:spPr>
      </p:pic>
      <p:sp>
        <p:nvSpPr>
          <p:cNvPr id="20" name="Text 185"/>
          <p:cNvSpPr/>
          <p:nvPr/>
        </p:nvSpPr>
        <p:spPr>
          <a:xfrm>
            <a:off x="1325880" y="46360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No-show: the driver waits 10 minutes at the pickup; then the fare goes to the driver, less the fee</a:t>
            </a:r>
            <a:endParaRPr lang="en-US" sz="1500" dirty="0"/>
          </a:p>
        </p:txBody>
      </p:sp>
      <p:pic>
        <p:nvPicPr>
          <p:cNvPr id="21" name="Rule icon 18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85232"/>
            <a:ext cx="329184" cy="329184"/>
          </a:xfrm>
          <a:prstGeom prst="rect">
            <a:avLst/>
          </a:prstGeom>
        </p:spPr>
      </p:pic>
      <p:sp>
        <p:nvSpPr>
          <p:cNvPr id="22" name="Text 187"/>
          <p:cNvSpPr/>
          <p:nvPr/>
        </p:nvSpPr>
        <p:spPr>
          <a:xfrm>
            <a:off x="1325880" y="52395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go to the Poolora wallet at once and can be withdrawn to EcoCash, OneMoney or InnBucks</a:t>
            </a:r>
            <a:endParaRPr lang="en-US" sz="1500" dirty="0"/>
          </a:p>
        </p:txBody>
      </p:sp>
      <p:sp>
        <p:nvSpPr>
          <p:cNvPr id="23" name="Card 188"/>
          <p:cNvSpPr/>
          <p:nvPr/>
        </p:nvSpPr>
        <p:spPr>
          <a:xfrm>
            <a:off x="7360920" y="3337560"/>
            <a:ext cx="4297680" cy="2606040"/>
          </a:xfrm>
          <a:prstGeom prst="roundRect">
            <a:avLst>
              <a:gd name="adj" fmla="val 4211"/>
            </a:avLst>
          </a:prstGeom>
          <a:solidFill>
            <a:srgbClr val="1B1446"/>
          </a:solidFill>
          <a:ln w="9525">
            <a:solidFill>
              <a:srgbClr val="1B14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189"/>
          <p:cNvSpPr/>
          <p:nvPr/>
        </p:nvSpPr>
        <p:spPr>
          <a:xfrm>
            <a:off x="763524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built in</a:t>
            </a:r>
            <a:endParaRPr lang="en-US" sz="1700" dirty="0"/>
          </a:p>
        </p:txBody>
      </p:sp>
      <p:sp>
        <p:nvSpPr>
          <p:cNvPr id="25" name="Text 190"/>
          <p:cNvSpPr/>
          <p:nvPr/>
        </p:nvSpPr>
        <p:spPr>
          <a:xfrm>
            <a:off x="7635240" y="397764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drivers: licence, registration book, insurance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to our safety desk and your contacts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trip link, route-deviation alerts, check-ins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only (18+), masked phone numbers</a:t>
            </a:r>
            <a:endParaRPr lang="en-US" sz="1300" dirty="0"/>
          </a:p>
        </p:txBody>
      </p:sp>
      <p:pic>
        <p:nvPicPr>
          <p:cNvPr id="26" name="Mark 191" descr="/home/ghost/Desktop/Projects/Poolora/branding/poolora-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6" grpId="0" animBg="1"/>
      <p:bldP spid="7" grpId="0" animBg="1"/>
      <p:bldP spid="11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92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Zimbabwe first</a:t>
            </a:r>
            <a:endParaRPr lang="en-US" sz="3000" dirty="0"/>
          </a:p>
        </p:txBody>
      </p:sp>
      <p:sp>
        <p:nvSpPr>
          <p:cNvPr id="4" name="Subtitle 193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country-specific lives in one market registry; a new country is an entry, not a rewrite.</a:t>
            </a:r>
            <a:endParaRPr lang="en-US" sz="1600" dirty="0"/>
          </a:p>
        </p:txBody>
      </p:sp>
      <p:pic>
        <p:nvPicPr>
          <p:cNvPr id="5" name="Map clip" descr="/home/ghost/Desktop/Projects/Poolora/Doc/presentation/media/map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00200"/>
            <a:ext cx="6766560" cy="3806190"/>
          </a:xfrm>
          <a:prstGeom prst="rect">
            <a:avLst/>
          </a:prstGeom>
        </p:spPr>
      </p:pic>
      <p:pic>
        <p:nvPicPr>
          <p:cNvPr id="6" name="Zw icon 19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00784"/>
            <a:ext cx="384048" cy="384048"/>
          </a:xfrm>
          <a:prstGeom prst="rect">
            <a:avLst/>
          </a:prstGeom>
        </p:spPr>
      </p:pic>
      <p:sp>
        <p:nvSpPr>
          <p:cNvPr id="7" name="Text 195"/>
          <p:cNvSpPr/>
          <p:nvPr/>
        </p:nvSpPr>
        <p:spPr>
          <a:xfrm>
            <a:off x="7955280" y="1645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dollars, ZiG when enabled; EcoCash, OneMoney, InnBucks and cards through Paynow</a:t>
            </a:r>
            <a:endParaRPr lang="en-US" sz="1350" dirty="0"/>
          </a:p>
        </p:txBody>
      </p:sp>
      <p:pic>
        <p:nvPicPr>
          <p:cNvPr id="8" name="Zw icon 19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414016"/>
            <a:ext cx="384048" cy="384048"/>
          </a:xfrm>
          <a:prstGeom prst="rect">
            <a:avLst/>
          </a:prstGeom>
        </p:spPr>
      </p:pic>
      <p:sp>
        <p:nvSpPr>
          <p:cNvPr id="9" name="Text 197"/>
          <p:cNvSpPr/>
          <p:nvPr/>
        </p:nvSpPr>
        <p:spPr>
          <a:xfrm>
            <a:off x="7955280" y="23591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+263 numbers (Econet, NetOne, Telecel), shown as +263 77 123 4567</a:t>
            </a:r>
            <a:endParaRPr lang="en-US" sz="1350" dirty="0"/>
          </a:p>
        </p:txBody>
      </p:sp>
      <p:pic>
        <p:nvPicPr>
          <p:cNvPr id="10" name="Zw icon 19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127248"/>
            <a:ext cx="384048" cy="384048"/>
          </a:xfrm>
          <a:prstGeom prst="rect">
            <a:avLst/>
          </a:prstGeom>
        </p:spPr>
      </p:pic>
      <p:sp>
        <p:nvSpPr>
          <p:cNvPr id="11" name="Text 199"/>
          <p:cNvSpPr/>
          <p:nvPr/>
        </p:nvSpPr>
        <p:spPr>
          <a:xfrm>
            <a:off x="7955280" y="307238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public holidays, Easter and Heroes' Day included, feed the demand forecast</a:t>
            </a:r>
            <a:endParaRPr lang="en-US" sz="1350" dirty="0"/>
          </a:p>
        </p:txBody>
      </p:sp>
      <p:pic>
        <p:nvPicPr>
          <p:cNvPr id="12" name="Zw icon 20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840480"/>
            <a:ext cx="384048" cy="384048"/>
          </a:xfrm>
          <a:prstGeom prst="rect">
            <a:avLst/>
          </a:prstGeom>
        </p:spPr>
      </p:pic>
      <p:sp>
        <p:nvSpPr>
          <p:cNvPr id="13" name="Text 201"/>
          <p:cNvSpPr/>
          <p:nvPr/>
        </p:nvSpPr>
        <p:spPr>
          <a:xfrm>
            <a:off x="7955280" y="37856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Harare time (CAT) everywhere, 24-hour clock</a:t>
            </a:r>
            <a:endParaRPr lang="en-US" sz="1350" dirty="0"/>
          </a:p>
        </p:txBody>
      </p:sp>
      <p:pic>
        <p:nvPicPr>
          <p:cNvPr id="14" name="Zw icon 20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4553712"/>
            <a:ext cx="384048" cy="384048"/>
          </a:xfrm>
          <a:prstGeom prst="rect">
            <a:avLst/>
          </a:prstGeom>
        </p:spPr>
      </p:pic>
      <p:sp>
        <p:nvSpPr>
          <p:cNvPr id="15" name="Text 203"/>
          <p:cNvSpPr/>
          <p:nvPr/>
        </p:nvSpPr>
        <p:spPr>
          <a:xfrm>
            <a:off x="7955280" y="44988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999, police 995, ambulance 994</a:t>
            </a:r>
            <a:endParaRPr lang="en-US" sz="1350" dirty="0"/>
          </a:p>
        </p:txBody>
      </p:sp>
      <p:pic>
        <p:nvPicPr>
          <p:cNvPr id="16" name="Zw icon 20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5266944"/>
            <a:ext cx="384048" cy="384048"/>
          </a:xfrm>
          <a:prstGeom prst="rect">
            <a:avLst/>
          </a:prstGeom>
        </p:spPr>
      </p:pic>
      <p:sp>
        <p:nvSpPr>
          <p:cNvPr id="17" name="Text 205"/>
          <p:cNvSpPr/>
          <p:nvPr/>
        </p:nvSpPr>
        <p:spPr>
          <a:xfrm>
            <a:off x="7955280" y="5212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SUV and bakkie, minivan, auto (tuk-tuk), bike; Zimbabwe number plates</a:t>
            </a:r>
            <a:endParaRPr lang="en-US" sz="1350" dirty="0"/>
          </a:p>
        </p:txBody>
      </p:sp>
      <p:pic>
        <p:nvPicPr>
          <p:cNvPr id="18" name="Mark 206" descr="/home/ghost/Desktop/Projects/Poolora/branding/poolora-ico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20" name="Text 9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07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service</a:t>
            </a:r>
            <a:endParaRPr lang="en-US" sz="3000" dirty="0"/>
          </a:p>
        </p:txBody>
      </p:sp>
      <p:sp>
        <p:nvSpPr>
          <p:cNvPr id="4" name="Subtitle 208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figures, SOS desk, driver checks, disputes, payouts and settings; every change is logged.</a:t>
            </a:r>
            <a:endParaRPr lang="en-US" sz="1600" dirty="0"/>
          </a:p>
        </p:txBody>
      </p:sp>
      <p:pic>
        <p:nvPicPr>
          <p:cNvPr id="5" name="Admin 1" descr="/home/ghost/Desktop/Projects/Poolora/Doc/presentation/screens/frames/admi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6949440" cy="4711179"/>
          </a:xfrm>
          <a:prstGeom prst="rect">
            <a:avLst/>
          </a:prstGeom>
        </p:spPr>
      </p:pic>
      <p:pic>
        <p:nvPicPr>
          <p:cNvPr id="6" name="Admin 2" descr="/home/ghost/Desktop/Projects/Poolora/Doc/presentation/screens/frames/admin_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063240"/>
            <a:ext cx="4754880" cy="3223438"/>
          </a:xfrm>
          <a:prstGeom prst="rect">
            <a:avLst/>
          </a:prstGeom>
        </p:spPr>
      </p:pic>
      <p:sp>
        <p:nvSpPr>
          <p:cNvPr id="7" name="Text 209"/>
          <p:cNvSpPr/>
          <p:nvPr/>
        </p:nvSpPr>
        <p:spPr>
          <a:xfrm>
            <a:off x="7498080" y="15544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such as fees and refund tiers need a second admin's approval and can be reverted for 24 hours.</a:t>
            </a:r>
            <a:endParaRPr lang="en-US" sz="1400" dirty="0"/>
          </a:p>
        </p:txBody>
      </p:sp>
      <p:pic>
        <p:nvPicPr>
          <p:cNvPr id="8" name="Mark 210" descr="/home/ghost/Desktop/Projects/Poolora/branding/poolora-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11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3000" dirty="0"/>
          </a:p>
        </p:txBody>
      </p:sp>
      <p:sp>
        <p:nvSpPr>
          <p:cNvPr id="4" name="Subtitle 212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built and tested; launch depends on licences, live payments and the new e-hailing rules.</a:t>
            </a:r>
            <a:endParaRPr lang="en-US" sz="1600" dirty="0"/>
          </a:p>
        </p:txBody>
      </p:sp>
      <p:sp>
        <p:nvSpPr>
          <p:cNvPr id="5" name="Card 213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214"/>
          <p:cNvSpPr/>
          <p:nvPr/>
        </p:nvSpPr>
        <p:spPr>
          <a:xfrm>
            <a:off x="8686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A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800" dirty="0"/>
          </a:p>
        </p:txBody>
      </p:sp>
      <p:pic>
        <p:nvPicPr>
          <p:cNvPr id="7" name="Status icon 2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78024"/>
            <a:ext cx="292608" cy="292608"/>
          </a:xfrm>
          <a:prstGeom prst="rect">
            <a:avLst/>
          </a:prstGeom>
        </p:spPr>
      </p:pic>
      <p:sp>
        <p:nvSpPr>
          <p:cNvPr id="8" name="Text 216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and driver app, admin web, website</a:t>
            </a:r>
            <a:endParaRPr lang="en-US" sz="1400" dirty="0"/>
          </a:p>
        </p:txBody>
      </p:sp>
      <p:pic>
        <p:nvPicPr>
          <p:cNvPr id="9" name="Status icon 2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26664"/>
            <a:ext cx="292608" cy="292608"/>
          </a:xfrm>
          <a:prstGeom prst="rect">
            <a:avLst/>
          </a:prstGeom>
        </p:spPr>
      </p:pic>
      <p:sp>
        <p:nvSpPr>
          <p:cNvPr id="10" name="Text 218"/>
          <p:cNvSpPr/>
          <p:nvPr/>
        </p:nvSpPr>
        <p:spPr>
          <a:xfrm>
            <a:off x="132588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payments (test mode), wallet and withdrawals</a:t>
            </a:r>
            <a:endParaRPr lang="en-US" sz="1400" dirty="0"/>
          </a:p>
        </p:txBody>
      </p:sp>
      <p:pic>
        <p:nvPicPr>
          <p:cNvPr id="11" name="Status icon 2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75304"/>
            <a:ext cx="292608" cy="292608"/>
          </a:xfrm>
          <a:prstGeom prst="rect">
            <a:avLst/>
          </a:prstGeom>
        </p:spPr>
      </p:pic>
      <p:sp>
        <p:nvSpPr>
          <p:cNvPr id="12" name="Text 220"/>
          <p:cNvSpPr/>
          <p:nvPr/>
        </p:nvSpPr>
        <p:spPr>
          <a:xfrm>
            <a:off x="1325880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tracking, SOS, check-ins, trip sharing</a:t>
            </a:r>
            <a:endParaRPr lang="en-US" sz="1400" dirty="0"/>
          </a:p>
        </p:txBody>
      </p:sp>
      <p:pic>
        <p:nvPicPr>
          <p:cNvPr id="13" name="Status icon 2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23944"/>
            <a:ext cx="292608" cy="292608"/>
          </a:xfrm>
          <a:prstGeom prst="rect">
            <a:avLst/>
          </a:prstGeom>
        </p:spPr>
      </p:pic>
      <p:sp>
        <p:nvSpPr>
          <p:cNvPr id="14" name="Text 222"/>
          <p:cNvSpPr/>
          <p:nvPr/>
        </p:nvSpPr>
        <p:spPr>
          <a:xfrm>
            <a:off x="1325880" y="4069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Parcels and group trips</a:t>
            </a:r>
            <a:endParaRPr lang="en-US" sz="1400" dirty="0"/>
          </a:p>
        </p:txBody>
      </p:sp>
      <p:pic>
        <p:nvPicPr>
          <p:cNvPr id="15" name="Status icon 2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672584"/>
            <a:ext cx="292608" cy="292608"/>
          </a:xfrm>
          <a:prstGeom prst="rect">
            <a:avLst/>
          </a:prstGeom>
        </p:spPr>
      </p:pic>
      <p:sp>
        <p:nvSpPr>
          <p:cNvPr id="16" name="Text 224"/>
          <p:cNvSpPr/>
          <p:nvPr/>
        </p:nvSpPr>
        <p:spPr>
          <a:xfrm>
            <a:off x="1325880" y="4617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support assistant (Claude)</a:t>
            </a:r>
            <a:endParaRPr lang="en-US" sz="1400" dirty="0"/>
          </a:p>
        </p:txBody>
      </p:sp>
      <p:pic>
        <p:nvPicPr>
          <p:cNvPr id="17" name="Status icon 22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221224"/>
            <a:ext cx="292608" cy="292608"/>
          </a:xfrm>
          <a:prstGeom prst="rect">
            <a:avLst/>
          </a:prstGeom>
        </p:spPr>
      </p:pic>
      <p:sp>
        <p:nvSpPr>
          <p:cNvPr id="18" name="Text 226"/>
          <p:cNvSpPr/>
          <p:nvPr/>
        </p:nvSpPr>
        <p:spPr>
          <a:xfrm>
            <a:off x="1325880" y="5166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closure, 18+, per-user rate limits</a:t>
            </a:r>
            <a:endParaRPr lang="en-US" sz="1400" dirty="0"/>
          </a:p>
        </p:txBody>
      </p:sp>
      <p:sp>
        <p:nvSpPr>
          <p:cNvPr id="19" name="Card 227"/>
          <p:cNvSpPr/>
          <p:nvPr/>
        </p:nvSpPr>
        <p:spPr>
          <a:xfrm>
            <a:off x="6245352" y="16916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228"/>
          <p:cNvSpPr/>
          <p:nvPr/>
        </p:nvSpPr>
        <p:spPr>
          <a:xfrm>
            <a:off x="6565392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4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launch</a:t>
            </a:r>
            <a:endParaRPr lang="en-US" sz="1800" dirty="0"/>
          </a:p>
        </p:txBody>
      </p:sp>
      <p:pic>
        <p:nvPicPr>
          <p:cNvPr id="21" name="Status icon 229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2478024"/>
            <a:ext cx="292608" cy="292608"/>
          </a:xfrm>
          <a:prstGeom prst="rect">
            <a:avLst/>
          </a:prstGeom>
        </p:spPr>
      </p:pic>
      <p:sp>
        <p:nvSpPr>
          <p:cNvPr id="22" name="Text 230"/>
          <p:cNvSpPr/>
          <p:nvPr/>
        </p:nvSpPr>
        <p:spPr>
          <a:xfrm>
            <a:off x="7022592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POTRAZ data controller licence and a Data Protection Officer</a:t>
            </a:r>
            <a:endParaRPr lang="en-US" sz="1400" dirty="0"/>
          </a:p>
        </p:txBody>
      </p:sp>
      <p:pic>
        <p:nvPicPr>
          <p:cNvPr id="23" name="Status icon 231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392" y="3026664"/>
            <a:ext cx="292608" cy="292608"/>
          </a:xfrm>
          <a:prstGeom prst="rect">
            <a:avLst/>
          </a:prstGeom>
        </p:spPr>
      </p:pic>
      <p:sp>
        <p:nvSpPr>
          <p:cNvPr id="24" name="Text 232"/>
          <p:cNvSpPr/>
          <p:nvPr/>
        </p:nvSpPr>
        <p:spPr>
          <a:xfrm>
            <a:off x="7022592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Lawyer's review of the terms and privacy policy</a:t>
            </a:r>
            <a:endParaRPr lang="en-US" sz="1400" dirty="0"/>
          </a:p>
        </p:txBody>
      </p:sp>
      <p:pic>
        <p:nvPicPr>
          <p:cNvPr id="25" name="Status icon 23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392" y="3575304"/>
            <a:ext cx="292608" cy="292608"/>
          </a:xfrm>
          <a:prstGeom prst="rect">
            <a:avLst/>
          </a:prstGeom>
        </p:spPr>
      </p:pic>
      <p:sp>
        <p:nvSpPr>
          <p:cNvPr id="26" name="Text 234"/>
          <p:cNvSpPr/>
          <p:nvPr/>
        </p:nvSpPr>
        <p:spPr>
          <a:xfrm>
            <a:off x="7022592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Paynow live mode and a business mobile money account</a:t>
            </a:r>
            <a:endParaRPr lang="en-US" sz="1400" dirty="0"/>
          </a:p>
        </p:txBody>
      </p:sp>
      <p:pic>
        <p:nvPicPr>
          <p:cNvPr id="27" name="Status icon 23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5392" y="4123944"/>
            <a:ext cx="292608" cy="292608"/>
          </a:xfrm>
          <a:prstGeom prst="rect">
            <a:avLst/>
          </a:prstGeom>
        </p:spPr>
      </p:pic>
      <p:sp>
        <p:nvSpPr>
          <p:cNvPr id="28" name="Text 236"/>
          <p:cNvSpPr/>
          <p:nvPr/>
        </p:nvSpPr>
        <p:spPr>
          <a:xfrm>
            <a:off x="7022592" y="4069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Zimbabwe support number (today +91)</a:t>
            </a:r>
            <a:endParaRPr lang="en-US" sz="1400" dirty="0"/>
          </a:p>
        </p:txBody>
      </p:sp>
      <p:pic>
        <p:nvPicPr>
          <p:cNvPr id="29" name="Status icon 23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392" y="4672584"/>
            <a:ext cx="292608" cy="292608"/>
          </a:xfrm>
          <a:prstGeom prst="rect">
            <a:avLst/>
          </a:prstGeom>
        </p:spPr>
      </p:pic>
      <p:sp>
        <p:nvSpPr>
          <p:cNvPr id="30" name="Text 238"/>
          <p:cNvSpPr/>
          <p:nvPr/>
        </p:nvSpPr>
        <p:spPr>
          <a:xfrm>
            <a:off x="7022592" y="4617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the e-hailing regulations (transition ends about February 2027)</a:t>
            </a:r>
            <a:endParaRPr lang="en-US" sz="1400" dirty="0"/>
          </a:p>
        </p:txBody>
      </p:sp>
      <p:pic>
        <p:nvPicPr>
          <p:cNvPr id="31" name="Status icon 23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5392" y="5221224"/>
            <a:ext cx="292608" cy="292608"/>
          </a:xfrm>
          <a:prstGeom prst="rect">
            <a:avLst/>
          </a:prstGeom>
        </p:spPr>
      </p:pic>
      <p:sp>
        <p:nvSpPr>
          <p:cNvPr id="32" name="Text 240"/>
          <p:cNvSpPr/>
          <p:nvPr/>
        </p:nvSpPr>
        <p:spPr>
          <a:xfrm>
            <a:off x="7022592" y="5166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markets through the market registry</a:t>
            </a:r>
            <a:endParaRPr lang="en-US" sz="1400" dirty="0"/>
          </a:p>
        </p:txBody>
      </p:sp>
      <p:pic>
        <p:nvPicPr>
          <p:cNvPr id="33" name="Mark 241" descr="/home/ghost/Desktop/Projects/Poolora/branding/poolora-icon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5" name="Text 19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9" grpId="0" animBg="1"/>
      <p:bldP spid="20" grpId="0" animBg="1"/>
      <p:bldP spid="18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lose clip" descr="/home/ghost/Desktop/Projects/Poolora/Doc/presentation/media/hero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97280"/>
            <a:ext cx="6309360" cy="3549015"/>
          </a:xfrm>
          <a:prstGeom prst="rect">
            <a:avLst/>
          </a:prstGeom>
        </p:spPr>
      </p:pic>
      <p:sp>
        <p:nvSpPr>
          <p:cNvPr id="4" name="Title 242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move Harare together</a:t>
            </a:r>
            <a:endParaRPr lang="en-US" sz="3000" dirty="0"/>
          </a:p>
        </p:txBody>
      </p:sp>
      <p:sp>
        <p:nvSpPr>
          <p:cNvPr id="5" name="Text 243"/>
          <p:cNvSpPr/>
          <p:nvPr/>
        </p:nvSpPr>
        <p:spPr>
          <a:xfrm>
            <a:off x="548640" y="1463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Partners: fleet owners, employers and campuses with commute routes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mobile money: live Paynow and payout accounts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Advisers on POTRAZ and the e-hailing regulations</a:t>
            </a:r>
            <a:endParaRPr lang="en-US" sz="1700" dirty="0"/>
          </a:p>
        </p:txBody>
      </p:sp>
      <p:sp>
        <p:nvSpPr>
          <p:cNvPr id="6" name="Contact"/>
          <p:cNvSpPr/>
          <p:nvPr/>
        </p:nvSpPr>
        <p:spPr>
          <a:xfrm>
            <a:off x="548640" y="4206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M. Sibanda, founder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nathimike102@icloud.com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+91 90322 32881</a:t>
            </a:r>
            <a:endParaRPr lang="en-US" sz="1700" dirty="0"/>
          </a:p>
        </p:txBody>
      </p:sp>
      <p:pic>
        <p:nvPicPr>
          <p:cNvPr id="7" name="Mark 244" descr="/home/ghost/Desktop/Projects/Poolora/branding/poolora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45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3000" dirty="0"/>
          </a:p>
        </p:txBody>
      </p:sp>
      <p:sp>
        <p:nvSpPr>
          <p:cNvPr id="4" name="Subtitle 246"/>
          <p:cNvSpPr/>
          <p:nvPr/>
        </p:nvSpPr>
        <p:spPr>
          <a:xfrm>
            <a:off x="548640" y="10058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figures checked in September 2026. Poolora figures are read from the code when the deck is built.</a:t>
            </a:r>
            <a:endParaRPr lang="en-US" sz="1600" dirty="0"/>
          </a:p>
        </p:txBody>
      </p:sp>
      <p:sp>
        <p:nvSpPr>
          <p:cNvPr id="5" name="Text 247"/>
          <p:cNvSpPr/>
          <p:nvPr/>
        </p:nvSpPr>
        <p:spPr>
          <a:xfrm>
            <a:off x="548640" y="160020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Zimpricecheck, "Urban ZUPCO, intercity bus fare and transport costs", 29 Sept 2026 · zimpricecheck.com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CityLink Luxury Coaches, routes and fares · citylinkcoaches.co.zw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 fuel prices via GlobalPetrolPrices, 17 Sept 2026 · globalpetrolprices.com/Zimbabwe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NewsDay, "Adjust to our ride fares or walk, inDrive drivers tell Zimboz" · newsday.co.zw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Axis, "Zimbabwe gives inDrive, Tap &amp; Go and Bolt five months…", Sept 2026 · equityaxis.net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Do in Zimbabwe, "Taxis &amp; rideshare in Zimbabwe (2026)" · thingstodoinzimbabwe.com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NewZimbabwe, "Kombis now demanding fares in US dollars" · newzimbabwe.com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inDrive help, "How to cancel a ride" · indrive.com; BlaBlaCar carpool cancellation policy · blablacar.com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Zimbabwe outline: Natural Earth via johan/world.geo.json (public domain)</a:t>
            </a:r>
            <a:endParaRPr lang="en-US" sz="1400" dirty="0"/>
          </a:p>
        </p:txBody>
      </p:sp>
      <p:pic>
        <p:nvPicPr>
          <p:cNvPr id="6" name="Mark 248" descr="/home/ghost/Desktop/Projects/Poolora/branding/poolora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8735" y="6355080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0058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Poolora · Zimbabwe launch · 2026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Poolora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Poolora: carpooling for Zimbabwe</dc:title>
  <dc:subject>PptxGenJS Presentation</dc:subject>
  <dc:creator>Nkosinathi Michael Sibanda</dc:creator>
  <cp:lastModifiedBy>Nkosinathi Michael Sibanda</cp:lastModifiedBy>
  <cp:revision>1</cp:revision>
  <dcterms:created xsi:type="dcterms:W3CDTF">2026-09-30T06:29:50Z</dcterms:created>
  <dcterms:modified xsi:type="dcterms:W3CDTF">2026-09-30T06:29:50Z</dcterms:modified>
</cp:coreProperties>
</file>